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3" r:id="rId5"/>
  </p:sldMasterIdLst>
  <p:notesMasterIdLst>
    <p:notesMasterId r:id="rId21"/>
  </p:notesMasterIdLst>
  <p:handoutMasterIdLst>
    <p:handoutMasterId r:id="rId22"/>
  </p:handoutMasterIdLst>
  <p:sldIdLst>
    <p:sldId id="5828" r:id="rId6"/>
    <p:sldId id="5827" r:id="rId7"/>
    <p:sldId id="301" r:id="rId8"/>
    <p:sldId id="5791" r:id="rId9"/>
    <p:sldId id="5792" r:id="rId10"/>
    <p:sldId id="5822" r:id="rId11"/>
    <p:sldId id="5793" r:id="rId12"/>
    <p:sldId id="5794" r:id="rId13"/>
    <p:sldId id="5823" r:id="rId14"/>
    <p:sldId id="5824" r:id="rId15"/>
    <p:sldId id="5831" r:id="rId16"/>
    <p:sldId id="5826" r:id="rId17"/>
    <p:sldId id="5829" r:id="rId18"/>
    <p:sldId id="5536" r:id="rId19"/>
    <p:sldId id="5830" r:id="rId20"/>
  </p:sldIdLst>
  <p:sldSz cx="9144000" cy="6858000" type="screen4x3"/>
  <p:notesSz cx="6669088" cy="9926638"/>
  <p:defaultTextStyle>
    <a:defPPr>
      <a:defRPr lang="ja-JP"/>
    </a:defPPr>
    <a:lvl1pPr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85D025-160D-4CE4-BFB4-CF26B5D42A8A}">
          <p14:sldIdLst>
            <p14:sldId id="5828"/>
            <p14:sldId id="5827"/>
            <p14:sldId id="301"/>
            <p14:sldId id="5791"/>
            <p14:sldId id="5792"/>
            <p14:sldId id="5822"/>
            <p14:sldId id="5793"/>
            <p14:sldId id="5794"/>
            <p14:sldId id="5823"/>
            <p14:sldId id="5824"/>
            <p14:sldId id="5831"/>
            <p14:sldId id="5826"/>
            <p14:sldId id="5829"/>
            <p14:sldId id="5536"/>
            <p14:sldId id="58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0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shal Kinha" initials="VK" lastIdx="1" clrIdx="0">
    <p:extLst/>
  </p:cmAuthor>
  <p:cmAuthor id="2" name="Deepender Yadav" initials="DY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0BDF"/>
    <a:srgbClr val="FFE79B"/>
    <a:srgbClr val="C9E7A7"/>
    <a:srgbClr val="DF9B41"/>
    <a:srgbClr val="0066FF"/>
    <a:srgbClr val="F35C2D"/>
    <a:srgbClr val="FFE07D"/>
    <a:srgbClr val="004821"/>
    <a:srgbClr val="9900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2262" autoAdjust="0"/>
  </p:normalViewPr>
  <p:slideViewPr>
    <p:cSldViewPr>
      <p:cViewPr varScale="1">
        <p:scale>
          <a:sx n="77" d="100"/>
          <a:sy n="77" d="100"/>
        </p:scale>
        <p:origin x="1004" y="72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80" d="100"/>
          <a:sy n="80" d="100"/>
        </p:scale>
        <p:origin x="-2352" y="-72"/>
      </p:cViewPr>
      <p:guideLst>
        <p:guide orient="horz" pos="3126"/>
        <p:guide pos="21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/>
            </a:lvl1pPr>
          </a:lstStyle>
          <a:p>
            <a:endParaRPr lang="en-US" altLang="ja-JP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2286" y="0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200"/>
            </a:lvl1pPr>
          </a:lstStyle>
          <a:p>
            <a:endParaRPr lang="en-US" altLang="ja-JP" dirty="0"/>
          </a:p>
        </p:txBody>
      </p:sp>
      <p:sp>
        <p:nvSpPr>
          <p:cNvPr id="1146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907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50000"/>
              </a:spcBef>
              <a:defRPr sz="1200"/>
            </a:lvl1pPr>
          </a:lstStyle>
          <a:p>
            <a:endParaRPr lang="en-US" altLang="ja-JP" dirty="0"/>
          </a:p>
        </p:txBody>
      </p:sp>
      <p:sp>
        <p:nvSpPr>
          <p:cNvPr id="1146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2286" y="9429907"/>
            <a:ext cx="2866937" cy="459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200"/>
            </a:lvl1pPr>
          </a:lstStyle>
          <a:p>
            <a:fld id="{092CF6AF-2ABC-45BB-86AD-CD651C38652D}" type="slidenum">
              <a:rPr lang="en-US" altLang="ja-JP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2727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515" cy="496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002" y="0"/>
            <a:ext cx="2890514" cy="496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40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437" y="4714953"/>
            <a:ext cx="5336214" cy="4467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309"/>
            <a:ext cx="2890515" cy="49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</a:defRPr>
            </a:lvl1pPr>
          </a:lstStyle>
          <a:p>
            <a:endParaRPr lang="en-US" altLang="ja-JP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002" y="9428309"/>
            <a:ext cx="2890514" cy="496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6CEB0035-A28B-4582-95C1-F76F12C4421F}" type="slidenum">
              <a:rPr lang="en-US" altLang="ja-JP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2927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980580-D440-42B6-AC7B-67CFB85BC5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95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62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2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65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86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9F6F9C-5A93-4966-A2DC-2E571DE37E9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8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24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46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14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23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29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95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65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7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86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268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129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65770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977161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88707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45406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866426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90852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46738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18310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altLang="ja-JP" dirty="0"/>
              <a:t>Click icon to add picture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ja-JP"/>
              <a:t>Edit Master text styles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550114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18587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altLang="ja-JP"/>
              <a:t>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400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TEKT 2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4458" y="76200"/>
            <a:ext cx="7159342" cy="468288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7916863" y="6248400"/>
            <a:ext cx="1227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>
            <a:defPPr>
              <a:defRPr lang="en-US"/>
            </a:defPPr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prstClr val="black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9pPr>
          </a:lstStyle>
          <a:p>
            <a:pPr>
              <a:defRPr/>
            </a:pPr>
            <a:fld id="{0841A69B-AFFC-47C8-A3CE-EBB619C0662C}" type="slidenum">
              <a:rPr lang="en-US" sz="1200" b="0" smtClean="0">
                <a:solidFill>
                  <a:schemeClr val="bg1">
                    <a:lumMod val="65000"/>
                  </a:schemeClr>
                </a:solidFill>
              </a:rPr>
              <a:pPr>
                <a:defRPr/>
              </a:pPr>
              <a:t>‹#›</a:t>
            </a:fld>
            <a:r>
              <a:rPr lang="en-US" sz="1200" b="0" dirty="0">
                <a:solidFill>
                  <a:schemeClr val="bg1">
                    <a:lumMod val="65000"/>
                  </a:schemeClr>
                </a:solidFill>
              </a:rPr>
              <a:t>/7</a:t>
            </a:r>
          </a:p>
        </p:txBody>
      </p:sp>
    </p:spTree>
    <p:extLst>
      <p:ext uri="{BB962C8B-B14F-4D97-AF65-F5344CB8AC3E}">
        <p14:creationId xmlns:p14="http://schemas.microsoft.com/office/powerpoint/2010/main" val="183806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1583F-3227-4232-A5F4-69F8802B208D}" type="datetimeFigureOut">
              <a:rPr lang="en-IN" smtClean="0"/>
              <a:t>25-09-2026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EB51F-D199-4F74-BEEA-DB695BCA13E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89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3" name="Base" hidden="1"/>
          <p:cNvSpPr>
            <a:spLocks noChangeArrowheads="1"/>
          </p:cNvSpPr>
          <p:nvPr/>
        </p:nvSpPr>
        <p:spPr bwMode="auto"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sz="1200"/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white">
          <a:xfrm>
            <a:off x="6553200" y="6669089"/>
            <a:ext cx="2362200" cy="14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8411" tIns="34215" rIns="68411" bIns="0"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altLang="ja-JP" sz="750" dirty="0">
                <a:solidFill>
                  <a:schemeClr val="bg1"/>
                </a:solidFill>
              </a:rPr>
              <a:t>JTEKT</a:t>
            </a:r>
            <a:r>
              <a:rPr lang="ja-JP" altLang="en-US" sz="750">
                <a:solidFill>
                  <a:schemeClr val="bg1"/>
                </a:solidFill>
              </a:rPr>
              <a:t>　</a:t>
            </a:r>
            <a:r>
              <a:rPr lang="en-US" altLang="ja-JP" sz="750" dirty="0">
                <a:solidFill>
                  <a:schemeClr val="bg1"/>
                </a:solidFill>
              </a:rPr>
              <a:t>CORPORATION</a:t>
            </a:r>
          </a:p>
        </p:txBody>
      </p:sp>
      <p:sp>
        <p:nvSpPr>
          <p:cNvPr id="121871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64400" y="63515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05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DB51F427-BD09-4AA9-9D82-A288582C30B4}" type="slidenum">
              <a:rPr lang="en-US" altLang="ja-JP" smtClean="0"/>
              <a:pPr/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93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microsoft.com/office/2007/relationships/hdphoto" Target="../media/hdphoto5.wdp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67D0B-9474-4C0D-93AB-15DD82DFC595}"/>
              </a:ext>
            </a:extLst>
          </p:cNvPr>
          <p:cNvSpPr/>
          <p:nvPr/>
        </p:nvSpPr>
        <p:spPr>
          <a:xfrm>
            <a:off x="395536" y="2276872"/>
            <a:ext cx="7883091" cy="1134912"/>
          </a:xfrm>
          <a:prstGeom prst="rect">
            <a:avLst/>
          </a:prstGeom>
        </p:spPr>
        <p:txBody>
          <a:bodyPr wrap="square" lIns="0" tIns="0" rIns="0">
            <a:noAutofit/>
          </a:bodyPr>
          <a:lstStyle/>
          <a:p>
            <a:pPr algn="ctr"/>
            <a:r>
              <a:rPr lang="en-US" sz="3600" b="1" dirty="0">
                <a:solidFill>
                  <a:srgbClr val="290BDF"/>
                </a:solidFill>
                <a:cs typeface="Times New Roman" pitchFamily="18" charset="0"/>
              </a:rPr>
              <a:t>In House Quality Concern </a:t>
            </a:r>
          </a:p>
          <a:p>
            <a:pPr algn="ctr"/>
            <a:r>
              <a:rPr lang="en-US" sz="3600" b="1" dirty="0">
                <a:solidFill>
                  <a:srgbClr val="290BDF"/>
                </a:solidFill>
                <a:cs typeface="Times New Roman" pitchFamily="18" charset="0"/>
              </a:rPr>
              <a:t>Crack in </a:t>
            </a:r>
            <a:r>
              <a:rPr lang="en-US" sz="3600" dirty="0">
                <a:solidFill>
                  <a:srgbClr val="290BDF"/>
                </a:solidFill>
                <a:cs typeface="Times New Roman" pitchFamily="18" charset="0"/>
              </a:rPr>
              <a:t>Worm</a:t>
            </a:r>
            <a:r>
              <a:rPr lang="en-US" sz="3600" b="1" dirty="0">
                <a:solidFill>
                  <a:srgbClr val="290BDF"/>
                </a:solidFill>
                <a:cs typeface="Times New Roman" pitchFamily="18" charset="0"/>
              </a:rPr>
              <a:t> Shaft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968848"/>
              </p:ext>
            </p:extLst>
          </p:nvPr>
        </p:nvGraphicFramePr>
        <p:xfrm>
          <a:off x="5771438" y="5520713"/>
          <a:ext cx="3312368" cy="1076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479">
                <a:tc>
                  <a:txBody>
                    <a:bodyPr/>
                    <a:lstStyle/>
                    <a:p>
                      <a:pPr algn="ctr"/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749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Reni</a:t>
                      </a:r>
                      <a:r>
                        <a:rPr lang="en-US" sz="11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Cherian 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Naresh Gauba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Yogesh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838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By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By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Prepared</a:t>
                      </a:r>
                      <a:r>
                        <a:rPr lang="en-US" sz="11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87808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Table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813369"/>
              </p:ext>
            </p:extLst>
          </p:nvPr>
        </p:nvGraphicFramePr>
        <p:xfrm>
          <a:off x="107504" y="808961"/>
          <a:ext cx="4267444" cy="4403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55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+mj-lt"/>
                        </a:rPr>
                        <a:t>Defect  Detail</a:t>
                      </a:r>
                      <a:endParaRPr lang="en-US" sz="18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Part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Worm Shaft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9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Model effected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Y17,</a:t>
                      </a:r>
                      <a:r>
                        <a:rPr lang="en-US" sz="1600" b="0" i="0" u="none" strike="noStrike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YHB 25MC, YXA 26MC &amp; YTA (part is common)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012682"/>
                  </a:ext>
                </a:extLst>
              </a:tr>
              <a:tr h="42819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Qty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N=6 part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25765"/>
                  </a:ext>
                </a:extLst>
              </a:tr>
              <a:tr h="42819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Defect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Crack observed 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7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Detected at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After Whirling process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(100% visual inspection)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258129"/>
                  </a:ext>
                </a:extLst>
              </a:tr>
              <a:tr h="54270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Detected by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Line Operator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434896"/>
                  </a:ext>
                </a:extLst>
              </a:tr>
              <a:tr h="4225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Occurrence Date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08.09.26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55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Material grade</a:t>
                      </a: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SCM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435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91424" marR="91424" marT="45687" marB="45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728738"/>
                  </a:ext>
                </a:extLst>
              </a:tr>
            </a:tbl>
          </a:graphicData>
        </a:graphic>
      </p:graphicFrame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9370" t="1483" r="14489"/>
          <a:stretch/>
        </p:blipFill>
        <p:spPr>
          <a:xfrm>
            <a:off x="4499992" y="806131"/>
            <a:ext cx="1083733" cy="453298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4703853" y="1201242"/>
            <a:ext cx="587022" cy="316088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4374948" y="5368542"/>
            <a:ext cx="803714" cy="317048"/>
          </a:xfrm>
          <a:prstGeom prst="wedgeRoundRectCallout">
            <a:avLst>
              <a:gd name="adj1" fmla="val 12135"/>
              <a:gd name="adj2" fmla="val -196028"/>
              <a:gd name="adj3" fmla="val 16667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dirty="0">
                <a:solidFill>
                  <a:srgbClr val="FF0000"/>
                </a:solidFill>
                <a:latin typeface="Times New Roman" pitchFamily="18" charset="0"/>
                <a:ea typeface="ＭＳ Ｐゴシック" charset="-128"/>
              </a:rPr>
              <a:t>NG</a:t>
            </a:r>
            <a:r>
              <a:rPr kumimoji="1" lang="en-US" sz="120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ＭＳ Ｐゴシック" charset="-128"/>
              </a:rPr>
              <a:t> Part</a:t>
            </a:r>
            <a:endParaRPr kumimoji="1" lang="en-IN" sz="12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93126" y="844175"/>
            <a:ext cx="1249598" cy="4254178"/>
          </a:xfrm>
          <a:prstGeom prst="rect">
            <a:avLst/>
          </a:prstGeom>
        </p:spPr>
      </p:pic>
      <p:sp>
        <p:nvSpPr>
          <p:cNvPr id="18" name="Rounded Rectangular Callout 17"/>
          <p:cNvSpPr/>
          <p:nvPr/>
        </p:nvSpPr>
        <p:spPr bwMode="auto">
          <a:xfrm>
            <a:off x="6872021" y="5271073"/>
            <a:ext cx="924519" cy="414517"/>
          </a:xfrm>
          <a:prstGeom prst="wedgeRoundRectCallout">
            <a:avLst>
              <a:gd name="adj1" fmla="val -8438"/>
              <a:gd name="adj2" fmla="val -24741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5AE739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itchFamily="18" charset="0"/>
                <a:ea typeface="ＭＳ Ｐゴシック" charset="-128"/>
              </a:rPr>
              <a:t>OK</a:t>
            </a:r>
            <a:r>
              <a:rPr kumimoji="1" lang="en-US" sz="1400" i="0" u="none" strike="noStrike" cap="none" normalizeH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itchFamily="18" charset="0"/>
                <a:ea typeface="ＭＳ Ｐゴシック" charset="-128"/>
              </a:rPr>
              <a:t> Part</a:t>
            </a:r>
            <a:endParaRPr kumimoji="1" lang="en-IN" sz="140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6903114" y="1617758"/>
            <a:ext cx="587022" cy="3160889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19370" t="33386" r="14489" b="41438"/>
          <a:stretch/>
        </p:blipFill>
        <p:spPr>
          <a:xfrm>
            <a:off x="5503451" y="3669436"/>
            <a:ext cx="1296144" cy="13853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21" name="Straight Arrow Connector 20"/>
          <p:cNvCxnSpPr>
            <a:endCxn id="20" idx="0"/>
          </p:cNvCxnSpPr>
          <p:nvPr/>
        </p:nvCxnSpPr>
        <p:spPr bwMode="auto">
          <a:xfrm>
            <a:off x="5290875" y="3281868"/>
            <a:ext cx="860648" cy="3875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" name="Rectangle 40"/>
          <p:cNvSpPr>
            <a:spLocks noChangeArrowheads="1"/>
          </p:cNvSpPr>
          <p:nvPr/>
        </p:nvSpPr>
        <p:spPr bwMode="auto">
          <a:xfrm>
            <a:off x="35496" y="209484"/>
            <a:ext cx="525463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sz="1600" b="1" dirty="0">
                <a:solidFill>
                  <a:schemeClr val="bg1"/>
                </a:solidFill>
                <a:latin typeface="Arial Narrow" pitchFamily="34" charset="0"/>
                <a:ea typeface="HY견고딕" pitchFamily="18" charset="-127"/>
                <a:cs typeface="Arial" charset="0"/>
              </a:rPr>
              <a:t>1</a:t>
            </a: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535559" y="209484"/>
            <a:ext cx="2305116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Arial" charset="0"/>
              </a:rPr>
              <a:t>PROBLEM DETAIL</a:t>
            </a:r>
          </a:p>
        </p:txBody>
      </p:sp>
      <p:sp>
        <p:nvSpPr>
          <p:cNvPr id="3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460432" y="6360531"/>
            <a:ext cx="564952" cy="246277"/>
          </a:xfrm>
        </p:spPr>
        <p:txBody>
          <a:bodyPr/>
          <a:lstStyle/>
          <a:p>
            <a:pPr algn="ctr">
              <a:defRPr/>
            </a:pPr>
            <a:fld id="{502979E4-186A-4299-BF7F-5CD384D58096}" type="slidenum">
              <a:rPr lang="en-US" altLang="ja-JP" smtClean="0"/>
              <a:pPr algn="ctr">
                <a:defRPr/>
              </a:pPr>
              <a:t>2</a:t>
            </a:fld>
            <a:endParaRPr lang="en-US" altLang="ja-JP" dirty="0"/>
          </a:p>
        </p:txBody>
      </p:sp>
      <p:sp>
        <p:nvSpPr>
          <p:cNvPr id="33" name="TextBox 32"/>
          <p:cNvSpPr txBox="1"/>
          <p:nvPr/>
        </p:nvSpPr>
        <p:spPr>
          <a:xfrm>
            <a:off x="251519" y="5417151"/>
            <a:ext cx="2016225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520" y="5883506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 Supplier)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9667" y="5881715"/>
            <a:ext cx="1617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	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(Heat Treatment 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2284" y="5881715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(Machining)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5445" y="5862365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(Machining)</a:t>
            </a:r>
          </a:p>
        </p:txBody>
      </p:sp>
      <p:sp>
        <p:nvSpPr>
          <p:cNvPr id="38" name="Right Arrow 37"/>
          <p:cNvSpPr/>
          <p:nvPr/>
        </p:nvSpPr>
        <p:spPr bwMode="auto">
          <a:xfrm>
            <a:off x="1477574" y="6117016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9" name="Right Arrow 38"/>
          <p:cNvSpPr/>
          <p:nvPr/>
        </p:nvSpPr>
        <p:spPr bwMode="auto">
          <a:xfrm>
            <a:off x="3203486" y="6117016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40" name="Right Arrow 39"/>
          <p:cNvSpPr/>
          <p:nvPr/>
        </p:nvSpPr>
        <p:spPr bwMode="auto">
          <a:xfrm>
            <a:off x="4516037" y="6092189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93717" y="5926731"/>
            <a:ext cx="1296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XXXX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(CEPS ASSY)</a:t>
            </a:r>
          </a:p>
        </p:txBody>
      </p:sp>
      <p:sp>
        <p:nvSpPr>
          <p:cNvPr id="43" name="Right Arrow 42"/>
          <p:cNvSpPr/>
          <p:nvPr/>
        </p:nvSpPr>
        <p:spPr bwMode="auto">
          <a:xfrm>
            <a:off x="5897636" y="6098949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38381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84334"/>
              </p:ext>
            </p:extLst>
          </p:nvPr>
        </p:nvGraphicFramePr>
        <p:xfrm>
          <a:off x="359437" y="827400"/>
          <a:ext cx="8475074" cy="5864190"/>
        </p:xfrm>
        <a:graphic>
          <a:graphicData uri="http://schemas.openxmlformats.org/drawingml/2006/table">
            <a:tbl>
              <a:tblPr firstRow="1" firstCol="1" bandRow="1"/>
              <a:tblGrid>
                <a:gridCol w="2207793">
                  <a:extLst>
                    <a:ext uri="{9D8B030D-6E8A-4147-A177-3AD203B41FA5}">
                      <a16:colId xmlns:a16="http://schemas.microsoft.com/office/drawing/2014/main" val="4156975112"/>
                    </a:ext>
                  </a:extLst>
                </a:gridCol>
                <a:gridCol w="6267281">
                  <a:extLst>
                    <a:ext uri="{9D8B030D-6E8A-4147-A177-3AD203B41FA5}">
                      <a16:colId xmlns:a16="http://schemas.microsoft.com/office/drawing/2014/main" val="2267227461"/>
                    </a:ext>
                  </a:extLst>
                </a:gridCol>
              </a:tblGrid>
              <a:tr h="141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411792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Problem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Worm shaft crack detected during visual inspection at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JIN Bawal .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Total 6 NG parts identified (2 machining level + 4 child parts).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283130"/>
                  </a:ext>
                </a:extLst>
              </a:tr>
              <a:tr h="42479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100% magnifying glass inspection at JIN receiving &amp; machining.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200% MPI implemented at Dynamic.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Suspected stock segregated and under control.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8788805"/>
                  </a:ext>
                </a:extLst>
              </a:tr>
              <a:tr h="4298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 Impact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performance difference observed between OK &amp; NG parts in C-EPS evaluation.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Reliability impact under validation.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086235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Traceability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Suspected heat identified </a:t>
                      </a:r>
                      <a:r>
                        <a:rPr lang="en-US" sz="11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 M215871.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 supply chain traced: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Mukand  → 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Omega → Dynamic → JIN.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182299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XXXX Findings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SEM, microstructure and joint analysis did not confirm RM abnormality.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 evidence points towards heat-treatment related crack generation.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47449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 Position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Mukand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/Omega have not confirmed raw material responsibility.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Investigation and FTA validation are continuing.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056131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XXXX Concern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Actual crack generation mechanism remains unproven.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Occurrence root cause and permanent countermeasure not yet validated.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398846"/>
                  </a:ext>
                </a:extLst>
              </a:tr>
              <a:tr h="42479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Outflow Root Cause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MPI visual inspection weakness identified.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 non-adherence, operator fatigue, inspection guideline gaps and inadequate monitoring suspected.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9948990"/>
                  </a:ext>
                </a:extLst>
              </a:tr>
              <a:tr h="71218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Current Status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Containment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Traceability completed. 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Joint supplier analysis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 review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Durability test and FTA validation in progress.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977131"/>
                  </a:ext>
                </a:extLst>
              </a:tr>
              <a:tr h="8066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Open Points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 occurrence root cause pending.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Heat-treatment mechanism not validated.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Durability test not completed.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 final report pending.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Permanent countermeasure pending.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305615"/>
                  </a:ext>
                </a:extLst>
              </a:tr>
              <a:tr h="2819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Supplier Commitment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 investigation report </a:t>
                      </a: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 Mukand /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Omega.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FTA validation and technical conclusion submission.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984714"/>
                  </a:ext>
                </a:extLst>
              </a:tr>
              <a:tr h="42479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Management Support Required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Continue escalation with </a:t>
                      </a:r>
                      <a:r>
                        <a:rPr lang="en-US" sz="1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Mukand</a:t>
                      </a: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/Omega management. </a:t>
                      </a:r>
                    </a:p>
                    <a:p>
                      <a:pPr marL="171450" marR="0" indent="-1714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Obtain technically validated root cause, countermeasure and closure evidence before concern closure.</a:t>
                      </a:r>
                    </a:p>
                  </a:txBody>
                  <a:tcPr marL="48927" marR="4892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321210"/>
                  </a:ext>
                </a:extLst>
              </a:tr>
            </a:tbl>
          </a:graphicData>
        </a:graphic>
      </p:graphicFrame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166621" y="152400"/>
            <a:ext cx="525463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sz="1600" b="1" dirty="0">
                <a:solidFill>
                  <a:schemeClr val="bg1"/>
                </a:solidFill>
                <a:latin typeface="Arial Narrow" pitchFamily="34" charset="0"/>
                <a:ea typeface="HY견고딕" pitchFamily="18" charset="-127"/>
                <a:cs typeface="Arial" charset="0"/>
              </a:rPr>
              <a:t>2</a:t>
            </a:r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666683" y="152400"/>
            <a:ext cx="5410559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Arial" charset="0"/>
              </a:rPr>
              <a:t>Current Status, Key Findings &amp; Open Issues</a:t>
            </a:r>
          </a:p>
        </p:txBody>
      </p:sp>
    </p:spTree>
    <p:extLst>
      <p:ext uri="{BB962C8B-B14F-4D97-AF65-F5344CB8AC3E}">
        <p14:creationId xmlns:p14="http://schemas.microsoft.com/office/powerpoint/2010/main" val="3855871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3"/>
          <p:cNvSpPr>
            <a:spLocks noChangeArrowheads="1"/>
          </p:cNvSpPr>
          <p:nvPr/>
        </p:nvSpPr>
        <p:spPr bwMode="auto">
          <a:xfrm>
            <a:off x="71348" y="171969"/>
            <a:ext cx="342900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3</a:t>
            </a:r>
            <a:endParaRPr kumimoji="1" lang="en-US" altLang="ko-KR" sz="1600" b="1" dirty="0">
              <a:solidFill>
                <a:schemeClr val="bg1"/>
              </a:solidFill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14248" y="171969"/>
            <a:ext cx="2141528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Times New Roman" panose="02020603050405020304" pitchFamily="18" charset="0"/>
              </a:rPr>
              <a:t>Containment Action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852167"/>
            <a:ext cx="7524328" cy="348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62" u="sng" dirty="0">
                <a:cs typeface="Times New Roman" panose="02020603050405020304" pitchFamily="18" charset="0"/>
              </a:rPr>
              <a:t>Temporary Action:-  Segregation at JIN BWL &amp; Dynamic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75" y="6203524"/>
            <a:ext cx="8941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pPr algn="l"/>
            <a:r>
              <a:rPr lang="en-US" sz="1600" dirty="0">
                <a:solidFill>
                  <a:schemeClr val="accent2">
                    <a:lumMod val="75000"/>
                  </a:schemeClr>
                </a:solidFill>
                <a:cs typeface="Times New Roman" panose="02020603050405020304" pitchFamily="18" charset="0"/>
              </a:rPr>
              <a:t>Refer next slide for </a:t>
            </a:r>
            <a:r>
              <a:rPr lang="en-US" sz="1600" b="0" dirty="0">
                <a:cs typeface="Times New Roman" panose="02020603050405020304" pitchFamily="18" charset="0"/>
              </a:rPr>
              <a:t>Segregation Detail and Method </a:t>
            </a:r>
            <a:endParaRPr lang="en-IN" sz="1600" b="0" dirty="0">
              <a:solidFill>
                <a:schemeClr val="accent2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410569"/>
              </p:ext>
            </p:extLst>
          </p:nvPr>
        </p:nvGraphicFramePr>
        <p:xfrm>
          <a:off x="0" y="1405404"/>
          <a:ext cx="8829194" cy="4578385"/>
        </p:xfrm>
        <a:graphic>
          <a:graphicData uri="http://schemas.openxmlformats.org/drawingml/2006/table">
            <a:tbl>
              <a:tblPr firstRow="1" bandRow="1"/>
              <a:tblGrid>
                <a:gridCol w="900252">
                  <a:extLst>
                    <a:ext uri="{9D8B030D-6E8A-4147-A177-3AD203B41FA5}">
                      <a16:colId xmlns:a16="http://schemas.microsoft.com/office/drawing/2014/main" val="3781397564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094541897"/>
                    </a:ext>
                  </a:extLst>
                </a:gridCol>
                <a:gridCol w="746720">
                  <a:extLst>
                    <a:ext uri="{9D8B030D-6E8A-4147-A177-3AD203B41FA5}">
                      <a16:colId xmlns:a16="http://schemas.microsoft.com/office/drawing/2014/main" val="151121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6933297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13707944"/>
                    </a:ext>
                  </a:extLst>
                </a:gridCol>
                <a:gridCol w="609457">
                  <a:extLst>
                    <a:ext uri="{9D8B030D-6E8A-4147-A177-3AD203B41FA5}">
                      <a16:colId xmlns:a16="http://schemas.microsoft.com/office/drawing/2014/main" val="2635943718"/>
                    </a:ext>
                  </a:extLst>
                </a:gridCol>
                <a:gridCol w="762143">
                  <a:extLst>
                    <a:ext uri="{9D8B030D-6E8A-4147-A177-3AD203B41FA5}">
                      <a16:colId xmlns:a16="http://schemas.microsoft.com/office/drawing/2014/main" val="1966806412"/>
                    </a:ext>
                  </a:extLst>
                </a:gridCol>
                <a:gridCol w="1833820">
                  <a:extLst>
                    <a:ext uri="{9D8B030D-6E8A-4147-A177-3AD203B41FA5}">
                      <a16:colId xmlns:a16="http://schemas.microsoft.com/office/drawing/2014/main" val="996642663"/>
                    </a:ext>
                  </a:extLst>
                </a:gridCol>
                <a:gridCol w="1880930">
                  <a:extLst>
                    <a:ext uri="{9D8B030D-6E8A-4147-A177-3AD203B41FA5}">
                      <a16:colId xmlns:a16="http://schemas.microsoft.com/office/drawing/2014/main" val="2786834799"/>
                    </a:ext>
                  </a:extLst>
                </a:gridCol>
              </a:tblGrid>
              <a:tr h="73042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</a:t>
                      </a:r>
                    </a:p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Segg. Method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Picture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21326"/>
                  </a:ext>
                </a:extLst>
              </a:tr>
              <a:tr h="105385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BWL Line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Machining</a:t>
                      </a:r>
                      <a:r>
                        <a:rPr lang="en-IN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4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parts checking with 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Magnifying Glass 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-at Receipt stage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after whirling process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- 08.09.26</a:t>
                      </a: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400" b="1" i="0" u="none" strike="noStrike" baseline="0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1" lang="en-US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200% MPI started  at Dynamic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- 08.09.26</a:t>
                      </a: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879163"/>
                  </a:ext>
                </a:extLst>
              </a:tr>
              <a:tr h="10011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BWL (Receipt.)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part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4904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11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(Child Parts)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part 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IN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03346"/>
                  </a:ext>
                </a:extLst>
              </a:tr>
              <a:tr h="63231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77823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7414993" y="2312441"/>
            <a:ext cx="757407" cy="2304241"/>
          </a:xfrm>
          <a:prstGeom prst="rect">
            <a:avLst/>
          </a:prstGeom>
        </p:spPr>
      </p:pic>
      <p:sp>
        <p:nvSpPr>
          <p:cNvPr id="16" name="Rounded Rectangular Callout 15"/>
          <p:cNvSpPr>
            <a:spLocks noChangeArrowheads="1"/>
          </p:cNvSpPr>
          <p:nvPr/>
        </p:nvSpPr>
        <p:spPr bwMode="auto">
          <a:xfrm>
            <a:off x="6840189" y="5106583"/>
            <a:ext cx="1967691" cy="834271"/>
          </a:xfrm>
          <a:prstGeom prst="wedgeRoundRectCallout">
            <a:avLst>
              <a:gd name="adj1" fmla="val 2846"/>
              <a:gd name="adj2" fmla="val -110725"/>
              <a:gd name="adj3" fmla="val 16667"/>
            </a:avLst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square" lIns="0" tIns="0" rIns="0" bIns="0" anchor="ctr" anchorCtr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Confirmation Marking on Worm Shaft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(Receiving Stage-JIN)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7414992" y="4077072"/>
            <a:ext cx="757408" cy="216024"/>
          </a:xfrm>
          <a:prstGeom prst="rect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9737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 bwMode="auto">
          <a:xfrm>
            <a:off x="151789" y="6390374"/>
            <a:ext cx="2241455" cy="231923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200% parts inspection by MPI</a:t>
            </a:r>
          </a:p>
        </p:txBody>
      </p:sp>
      <p:sp>
        <p:nvSpPr>
          <p:cNvPr id="26" name="Right Arrow 25"/>
          <p:cNvSpPr/>
          <p:nvPr/>
        </p:nvSpPr>
        <p:spPr bwMode="auto">
          <a:xfrm>
            <a:off x="2352324" y="4879387"/>
            <a:ext cx="4572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12075" y="3372451"/>
            <a:ext cx="2968976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parts checking by 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Magnifying  Glass     </a:t>
            </a:r>
            <a:r>
              <a:rPr lang="en-US" sz="12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(JIN RECEIVING STAGE)</a:t>
            </a:r>
            <a:endParaRPr lang="en-IN" sz="1200" b="0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2585155" y="6367795"/>
            <a:ext cx="4222045" cy="231923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parts checking by 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Magnifying Glass </a:t>
            </a:r>
            <a:endParaRPr lang="en-I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022316" y="6275461"/>
            <a:ext cx="2079811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containment-Identification Tag</a:t>
            </a:r>
          </a:p>
        </p:txBody>
      </p:sp>
      <p:sp>
        <p:nvSpPr>
          <p:cNvPr id="25" name="Right Arrow 24"/>
          <p:cNvSpPr/>
          <p:nvPr/>
        </p:nvSpPr>
        <p:spPr bwMode="auto">
          <a:xfrm>
            <a:off x="6749344" y="4885032"/>
            <a:ext cx="457200" cy="4572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24888" y="4188178"/>
            <a:ext cx="1665534" cy="2034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auto">
          <a:xfrm>
            <a:off x="7597423" y="5407376"/>
            <a:ext cx="1004711" cy="248356"/>
          </a:xfrm>
          <a:prstGeom prst="rect">
            <a:avLst/>
          </a:prstGeom>
          <a:noFill/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3566395" y="3372451"/>
            <a:ext cx="2632321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AFTER CONTAINMENT ACTIONS</a:t>
            </a:r>
          </a:p>
        </p:txBody>
      </p:sp>
      <p:sp>
        <p:nvSpPr>
          <p:cNvPr id="28" name="Right Arrow 27"/>
          <p:cNvSpPr/>
          <p:nvPr/>
        </p:nvSpPr>
        <p:spPr bwMode="auto">
          <a:xfrm>
            <a:off x="2740858" y="1915447"/>
            <a:ext cx="457200" cy="457200"/>
          </a:xfrm>
          <a:prstGeom prst="rightArrow">
            <a:avLst>
              <a:gd name="adj1" fmla="val 50000"/>
              <a:gd name="adj2" fmla="val 5246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5" y="970552"/>
            <a:ext cx="2499151" cy="2346991"/>
          </a:xfrm>
          <a:prstGeom prst="rect">
            <a:avLst/>
          </a:prstGeom>
        </p:spPr>
      </p:pic>
      <p:cxnSp>
        <p:nvCxnSpPr>
          <p:cNvPr id="13" name="Straight Connector 12"/>
          <p:cNvCxnSpPr>
            <a:endCxn id="33" idx="0"/>
          </p:cNvCxnSpPr>
          <p:nvPr/>
        </p:nvCxnSpPr>
        <p:spPr bwMode="auto">
          <a:xfrm>
            <a:off x="1252025" y="2868638"/>
            <a:ext cx="444538" cy="5038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66" y="4210508"/>
            <a:ext cx="1919112" cy="21672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797" y="4167862"/>
            <a:ext cx="1840089" cy="201844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954" y="4191789"/>
            <a:ext cx="1762109" cy="2005811"/>
          </a:xfrm>
          <a:prstGeom prst="rect">
            <a:avLst/>
          </a:prstGeom>
        </p:spPr>
      </p:pic>
      <p:cxnSp>
        <p:nvCxnSpPr>
          <p:cNvPr id="37" name="Straight Connector 36"/>
          <p:cNvCxnSpPr/>
          <p:nvPr/>
        </p:nvCxnSpPr>
        <p:spPr bwMode="auto">
          <a:xfrm>
            <a:off x="3832578" y="5243689"/>
            <a:ext cx="1778000" cy="1862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39" name="Picture 38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57547" y="1001345"/>
            <a:ext cx="1625009" cy="2241932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 rotWithShape="1">
          <a:blip r:embed="rId9">
            <a:extLst/>
          </a:blip>
          <a:srcRect b="47500"/>
          <a:stretch/>
        </p:blipFill>
        <p:spPr>
          <a:xfrm>
            <a:off x="5345083" y="1604989"/>
            <a:ext cx="829935" cy="1512711"/>
          </a:xfrm>
          <a:prstGeom prst="rect">
            <a:avLst/>
          </a:prstGeom>
        </p:spPr>
      </p:pic>
      <p:cxnSp>
        <p:nvCxnSpPr>
          <p:cNvPr id="42" name="Straight Arrow Connector 41"/>
          <p:cNvCxnSpPr/>
          <p:nvPr/>
        </p:nvCxnSpPr>
        <p:spPr bwMode="auto">
          <a:xfrm>
            <a:off x="4730042" y="1763034"/>
            <a:ext cx="925689" cy="3160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ys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" name="Oval 42"/>
          <p:cNvSpPr/>
          <p:nvPr/>
        </p:nvSpPr>
        <p:spPr bwMode="auto">
          <a:xfrm>
            <a:off x="5497597" y="1955506"/>
            <a:ext cx="428978" cy="293511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2" name="Rounded Rectangular Callout 1"/>
          <p:cNvSpPr/>
          <p:nvPr/>
        </p:nvSpPr>
        <p:spPr>
          <a:xfrm>
            <a:off x="4921954" y="707523"/>
            <a:ext cx="1227018" cy="680893"/>
          </a:xfrm>
          <a:prstGeom prst="wedgeRoundRectCallout">
            <a:avLst>
              <a:gd name="adj1" fmla="val 20441"/>
              <a:gd name="adj2" fmla="val 11002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Line Marking</a:t>
            </a:r>
          </a:p>
        </p:txBody>
      </p:sp>
      <p:sp>
        <p:nvSpPr>
          <p:cNvPr id="7" name="Down Arrow 6"/>
          <p:cNvSpPr/>
          <p:nvPr/>
        </p:nvSpPr>
        <p:spPr>
          <a:xfrm>
            <a:off x="4749839" y="4224864"/>
            <a:ext cx="427931" cy="28870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43"/>
          <p:cNvSpPr>
            <a:spLocks noChangeArrowheads="1"/>
          </p:cNvSpPr>
          <p:nvPr/>
        </p:nvSpPr>
        <p:spPr bwMode="auto">
          <a:xfrm>
            <a:off x="107504" y="171969"/>
            <a:ext cx="461555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3</a:t>
            </a:r>
            <a:r>
              <a:rPr kumimoji="1" lang="en-US" altLang="ko-KR" sz="1600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.1</a:t>
            </a:r>
          </a:p>
        </p:txBody>
      </p:sp>
      <p:sp>
        <p:nvSpPr>
          <p:cNvPr id="32" name="Rectangle 32"/>
          <p:cNvSpPr>
            <a:spLocks noChangeArrowheads="1"/>
          </p:cNvSpPr>
          <p:nvPr/>
        </p:nvSpPr>
        <p:spPr bwMode="auto">
          <a:xfrm>
            <a:off x="575709" y="171969"/>
            <a:ext cx="2141528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r>
              <a:rPr lang="en-US" altLang="ko-KR" sz="1600" b="1" dirty="0">
                <a:ea typeface="HY견고딕" pitchFamily="18" charset="-127"/>
                <a:cs typeface="Times New Roman" panose="02020603050405020304" pitchFamily="18" charset="0"/>
              </a:rPr>
              <a:t>Containment Action 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7267" r="4729"/>
          <a:stretch/>
        </p:blipFill>
        <p:spPr>
          <a:xfrm>
            <a:off x="6663696" y="968414"/>
            <a:ext cx="1938438" cy="2267343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 bwMode="auto">
          <a:xfrm>
            <a:off x="6464899" y="3356992"/>
            <a:ext cx="2632321" cy="416589"/>
          </a:xfrm>
          <a:prstGeom prst="rect">
            <a:avLst/>
          </a:prstGeom>
          <a:ln w="952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WHIRLING-INSPECTION -JIN </a:t>
            </a:r>
            <a:r>
              <a:rPr lang="en-IN" sz="1200" b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LINE</a:t>
            </a:r>
          </a:p>
        </p:txBody>
      </p:sp>
      <p:sp>
        <p:nvSpPr>
          <p:cNvPr id="29" name="Rounded Rectangular Callout 28"/>
          <p:cNvSpPr/>
          <p:nvPr/>
        </p:nvSpPr>
        <p:spPr bwMode="auto">
          <a:xfrm>
            <a:off x="5655731" y="5899778"/>
            <a:ext cx="1151469" cy="286531"/>
          </a:xfrm>
          <a:prstGeom prst="wedgeRoundRectCallout">
            <a:avLst>
              <a:gd name="adj1" fmla="val 46771"/>
              <a:gd name="adj2" fmla="val 971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charset="-128"/>
              </a:rPr>
              <a:t>Zoom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319" y="3918167"/>
            <a:ext cx="1640393" cy="30777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cs typeface="Times New Roman" panose="02020603050405020304" pitchFamily="18" charset="0"/>
              </a:rPr>
              <a:t>Dynamic</a:t>
            </a:r>
          </a:p>
        </p:txBody>
      </p:sp>
      <p:sp>
        <p:nvSpPr>
          <p:cNvPr id="41" name="Right Arrow 40"/>
          <p:cNvSpPr/>
          <p:nvPr/>
        </p:nvSpPr>
        <p:spPr bwMode="auto">
          <a:xfrm>
            <a:off x="1979712" y="3933056"/>
            <a:ext cx="900000" cy="324000"/>
          </a:xfrm>
          <a:prstGeom prst="rightArrow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10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ＭＳ Ｐゴシック" pitchFamily="34" charset="-128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8025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7943" y="208331"/>
            <a:ext cx="2043938" cy="339196"/>
            <a:chOff x="107943" y="208331"/>
            <a:chExt cx="2043938" cy="339196"/>
          </a:xfrm>
        </p:grpSpPr>
        <p:sp>
          <p:nvSpPr>
            <p:cNvPr id="3" name="Rectangle 40"/>
            <p:cNvSpPr>
              <a:spLocks noChangeArrowheads="1"/>
            </p:cNvSpPr>
            <p:nvPr/>
          </p:nvSpPr>
          <p:spPr bwMode="auto">
            <a:xfrm>
              <a:off x="107943" y="208331"/>
              <a:ext cx="371475" cy="339196"/>
            </a:xfrm>
            <a:prstGeom prst="rect">
              <a:avLst/>
            </a:prstGeom>
            <a:gradFill rotWithShape="0">
              <a:gsLst>
                <a:gs pos="0">
                  <a:srgbClr val="3366CC">
                    <a:gamma/>
                    <a:shade val="9020"/>
                    <a:invGamma/>
                  </a:srgbClr>
                </a:gs>
                <a:gs pos="50000">
                  <a:srgbClr val="3366CC"/>
                </a:gs>
                <a:gs pos="100000">
                  <a:srgbClr val="3366CC">
                    <a:gamma/>
                    <a:shade val="902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92075" tIns="46038" rIns="92075" bIns="46038">
              <a:spAutoFit/>
            </a:bodyPr>
            <a:lstStyle/>
            <a:p>
              <a:pPr algn="ctr" eaLnBrk="1" hangingPunct="1"/>
              <a:r>
                <a:rPr kumimoji="1" lang="en-US" altLang="ko-KR" b="1" dirty="0">
                  <a:solidFill>
                    <a:schemeClr val="bg1"/>
                  </a:solidFill>
                  <a:ea typeface="HY견고딕" pitchFamily="18" charset="-127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" name="Rectangle 32"/>
            <p:cNvSpPr>
              <a:spLocks noChangeArrowheads="1"/>
            </p:cNvSpPr>
            <p:nvPr/>
          </p:nvSpPr>
          <p:spPr bwMode="auto">
            <a:xfrm>
              <a:off x="467544" y="208331"/>
              <a:ext cx="1684337" cy="339196"/>
            </a:xfrm>
            <a:prstGeom prst="rect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tint val="12157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square" lIns="92075" tIns="46038" rIns="92075" bIns="46038">
              <a:spAutoFit/>
            </a:bodyPr>
            <a:lstStyle/>
            <a:p>
              <a:pPr algn="l" eaLnBrk="1" hangingPunct="1"/>
              <a:r>
                <a:rPr kumimoji="1" lang="en-US" altLang="ko-KR" b="1" dirty="0">
                  <a:ea typeface="HY견고딕" pitchFamily="18" charset="-127"/>
                  <a:cs typeface="Times New Roman" panose="02020603050405020304" pitchFamily="18" charset="0"/>
                </a:rPr>
                <a:t>4M CHANGE</a:t>
              </a:r>
            </a:p>
          </p:txBody>
        </p:sp>
      </p:grp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981149"/>
              </p:ext>
            </p:extLst>
          </p:nvPr>
        </p:nvGraphicFramePr>
        <p:xfrm>
          <a:off x="149338" y="3019368"/>
          <a:ext cx="4956061" cy="1478542"/>
        </p:xfrm>
        <a:graphic>
          <a:graphicData uri="http://schemas.openxmlformats.org/drawingml/2006/table">
            <a:tbl>
              <a:tblPr/>
              <a:tblGrid>
                <a:gridCol w="1405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1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4M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Skilled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Material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7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per work Instruction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71864"/>
              </p:ext>
            </p:extLst>
          </p:nvPr>
        </p:nvGraphicFramePr>
        <p:xfrm>
          <a:off x="147948" y="1133501"/>
          <a:ext cx="4957452" cy="1439696"/>
        </p:xfrm>
        <a:graphic>
          <a:graphicData uri="http://schemas.openxmlformats.org/drawingml/2006/table">
            <a:tbl>
              <a:tblPr/>
              <a:tblGrid>
                <a:gridCol w="1405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6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4M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Skilled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5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kumimoji="1"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29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Material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per work Instruction 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11" marR="9211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496" y="739655"/>
            <a:ext cx="192853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MUKAND 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517278"/>
              </p:ext>
            </p:extLst>
          </p:nvPr>
        </p:nvGraphicFramePr>
        <p:xfrm>
          <a:off x="162401" y="4859315"/>
          <a:ext cx="4942997" cy="1478542"/>
        </p:xfrm>
        <a:graphic>
          <a:graphicData uri="http://schemas.openxmlformats.org/drawingml/2006/table">
            <a:tbl>
              <a:tblPr/>
              <a:tblGrid>
                <a:gridCol w="140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6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1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4M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Observation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Man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Skilled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Material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 change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71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Method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per work Instruction 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OK</a:t>
                      </a:r>
                    </a:p>
                  </a:txBody>
                  <a:tcPr marL="9208" marR="9208" marT="92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2"/>
          <p:cNvSpPr txBox="1">
            <a:spLocks noChangeArrowheads="1"/>
          </p:cNvSpPr>
          <p:nvPr/>
        </p:nvSpPr>
        <p:spPr bwMode="auto">
          <a:xfrm>
            <a:off x="5292080" y="5444297"/>
            <a:ext cx="3715216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</a:p>
          <a:p>
            <a:pPr algn="l"/>
            <a:r>
              <a:rPr lang="en-US" altLang="en-US" sz="16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  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per 4M change record </a:t>
            </a:r>
          </a:p>
          <a:p>
            <a:pPr algn="l"/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no abnormality observed 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5496" y="2584622"/>
            <a:ext cx="192853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OMEGA 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22" y="4509335"/>
            <a:ext cx="192853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92807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83597" y="155413"/>
            <a:ext cx="532983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611560" y="157862"/>
            <a:ext cx="5040560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PROCESS FLOW WITH DEFECTIVE  PROCESS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60521" y="2167447"/>
            <a:ext cx="1174045" cy="338666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IN" sz="1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 Blast Furnace</a:t>
            </a:r>
            <a:endParaRPr kumimoji="1" lang="en-I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Arrow: Right 28">
            <a:extLst>
              <a:ext uri="{FF2B5EF4-FFF2-40B4-BE49-F238E27FC236}">
                <a16:creationId xmlns:a16="http://schemas.microsoft.com/office/drawing/2014/main" id="{801D9E2B-A732-4BF7-B8C0-BA4A5CAB64E0}"/>
              </a:ext>
            </a:extLst>
          </p:cNvPr>
          <p:cNvSpPr/>
          <p:nvPr/>
        </p:nvSpPr>
        <p:spPr>
          <a:xfrm>
            <a:off x="1404840" y="2223044"/>
            <a:ext cx="198120" cy="2218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1611143" y="2167447"/>
            <a:ext cx="1337734" cy="34995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IN" sz="1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Optimizing Furnace</a:t>
            </a:r>
            <a:endParaRPr kumimoji="1" lang="en-I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Arrow: Right 28">
            <a:extLst>
              <a:ext uri="{FF2B5EF4-FFF2-40B4-BE49-F238E27FC236}">
                <a16:creationId xmlns:a16="http://schemas.microsoft.com/office/drawing/2014/main" id="{801D9E2B-A732-4BF7-B8C0-BA4A5CAB64E0}"/>
              </a:ext>
            </a:extLst>
          </p:cNvPr>
          <p:cNvSpPr/>
          <p:nvPr/>
        </p:nvSpPr>
        <p:spPr>
          <a:xfrm>
            <a:off x="2968351" y="2228688"/>
            <a:ext cx="198120" cy="2218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Arrow: Right 28">
            <a:extLst>
              <a:ext uri="{FF2B5EF4-FFF2-40B4-BE49-F238E27FC236}">
                <a16:creationId xmlns:a16="http://schemas.microsoft.com/office/drawing/2014/main" id="{801D9E2B-A732-4BF7-B8C0-BA4A5CAB64E0}"/>
              </a:ext>
            </a:extLst>
          </p:cNvPr>
          <p:cNvSpPr/>
          <p:nvPr/>
        </p:nvSpPr>
        <p:spPr>
          <a:xfrm>
            <a:off x="4597053" y="2257759"/>
            <a:ext cx="203201" cy="181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Rectangle 92"/>
          <p:cNvSpPr/>
          <p:nvPr/>
        </p:nvSpPr>
        <p:spPr bwMode="auto">
          <a:xfrm>
            <a:off x="3174655" y="2161803"/>
            <a:ext cx="1337734" cy="349955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IN" sz="1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Ladle Refining Furnace</a:t>
            </a:r>
            <a:endParaRPr kumimoji="1" lang="en-I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21627"/>
              </p:ext>
            </p:extLst>
          </p:nvPr>
        </p:nvGraphicFramePr>
        <p:xfrm>
          <a:off x="4811543" y="2133580"/>
          <a:ext cx="1264356" cy="417689"/>
        </p:xfrm>
        <a:graphic>
          <a:graphicData uri="http://schemas.openxmlformats.org/drawingml/2006/table">
            <a:tbl>
              <a:tblPr/>
              <a:tblGrid>
                <a:gridCol w="1264356">
                  <a:extLst>
                    <a:ext uri="{9D8B030D-6E8A-4147-A177-3AD203B41FA5}">
                      <a16:colId xmlns:a16="http://schemas.microsoft.com/office/drawing/2014/main" val="3011103488"/>
                    </a:ext>
                  </a:extLst>
                </a:gridCol>
              </a:tblGrid>
              <a:tr h="41768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Vacuum Degassing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311938"/>
                  </a:ext>
                </a:extLst>
              </a:tr>
            </a:tbl>
          </a:graphicData>
        </a:graphic>
      </p:graphicFrame>
      <p:sp>
        <p:nvSpPr>
          <p:cNvPr id="96" name="Arrow: Right 4">
            <a:extLst>
              <a:ext uri="{FF2B5EF4-FFF2-40B4-BE49-F238E27FC236}">
                <a16:creationId xmlns:a16="http://schemas.microsoft.com/office/drawing/2014/main" id="{DD79F997-6885-4558-A6EF-89C1F19AC261}"/>
              </a:ext>
            </a:extLst>
          </p:cNvPr>
          <p:cNvSpPr/>
          <p:nvPr/>
        </p:nvSpPr>
        <p:spPr>
          <a:xfrm>
            <a:off x="6112306" y="2265378"/>
            <a:ext cx="198120" cy="137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92978"/>
              </p:ext>
            </p:extLst>
          </p:nvPr>
        </p:nvGraphicFramePr>
        <p:xfrm>
          <a:off x="6346832" y="2122291"/>
          <a:ext cx="1264356" cy="440267"/>
        </p:xfrm>
        <a:graphic>
          <a:graphicData uri="http://schemas.openxmlformats.org/drawingml/2006/table">
            <a:tbl>
              <a:tblPr/>
              <a:tblGrid>
                <a:gridCol w="1264356">
                  <a:extLst>
                    <a:ext uri="{9D8B030D-6E8A-4147-A177-3AD203B41FA5}">
                      <a16:colId xmlns:a16="http://schemas.microsoft.com/office/drawing/2014/main" val="1969909930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Continues Casting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505687"/>
                  </a:ext>
                </a:extLst>
              </a:tr>
            </a:tbl>
          </a:graphicData>
        </a:graphic>
      </p:graphicFrame>
      <p:sp>
        <p:nvSpPr>
          <p:cNvPr id="97" name="Arrow: Right 5">
            <a:extLst>
              <a:ext uri="{FF2B5EF4-FFF2-40B4-BE49-F238E27FC236}">
                <a16:creationId xmlns:a16="http://schemas.microsoft.com/office/drawing/2014/main" id="{CB109260-7012-4658-BF02-06417FC1AB45}"/>
              </a:ext>
            </a:extLst>
          </p:cNvPr>
          <p:cNvSpPr/>
          <p:nvPr/>
        </p:nvSpPr>
        <p:spPr>
          <a:xfrm>
            <a:off x="7647594" y="2265378"/>
            <a:ext cx="198120" cy="137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71323"/>
              </p:ext>
            </p:extLst>
          </p:nvPr>
        </p:nvGraphicFramePr>
        <p:xfrm>
          <a:off x="7870833" y="2099713"/>
          <a:ext cx="1143000" cy="45155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578520999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Billet Dressing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029547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26169"/>
              </p:ext>
            </p:extLst>
          </p:nvPr>
        </p:nvGraphicFramePr>
        <p:xfrm>
          <a:off x="7694444" y="2969968"/>
          <a:ext cx="1361722" cy="361244"/>
        </p:xfrm>
        <a:graphic>
          <a:graphicData uri="http://schemas.openxmlformats.org/drawingml/2006/table">
            <a:tbl>
              <a:tblPr/>
              <a:tblGrid>
                <a:gridCol w="1361722">
                  <a:extLst>
                    <a:ext uri="{9D8B030D-6E8A-4147-A177-3AD203B41FA5}">
                      <a16:colId xmlns:a16="http://schemas.microsoft.com/office/drawing/2014/main" val="3285383920"/>
                    </a:ext>
                  </a:extLst>
                </a:gridCol>
              </a:tblGrid>
              <a:tr h="361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Hot Rolling to Desired Size &amp; Shape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873294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89756"/>
              </p:ext>
            </p:extLst>
          </p:nvPr>
        </p:nvGraphicFramePr>
        <p:xfrm>
          <a:off x="6294621" y="2981256"/>
          <a:ext cx="1143000" cy="34995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020010155"/>
                    </a:ext>
                  </a:extLst>
                </a:gridCol>
              </a:tblGrid>
              <a:tr h="34995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Bar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63525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4036"/>
              </p:ext>
            </p:extLst>
          </p:nvPr>
        </p:nvGraphicFramePr>
        <p:xfrm>
          <a:off x="4804488" y="2958677"/>
          <a:ext cx="1143000" cy="383823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161373203"/>
                    </a:ext>
                  </a:extLst>
                </a:gridCol>
              </a:tblGrid>
              <a:tr h="3838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Dispatch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666515"/>
                  </a:ext>
                </a:extLst>
              </a:tr>
            </a:tbl>
          </a:graphicData>
        </a:graphic>
      </p:graphicFrame>
      <p:sp>
        <p:nvSpPr>
          <p:cNvPr id="2" name="Down Arrow 1"/>
          <p:cNvSpPr/>
          <p:nvPr/>
        </p:nvSpPr>
        <p:spPr bwMode="auto">
          <a:xfrm>
            <a:off x="8333676" y="2620949"/>
            <a:ext cx="248356" cy="2596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Left Arrow 5"/>
          <p:cNvSpPr/>
          <p:nvPr/>
        </p:nvSpPr>
        <p:spPr bwMode="auto">
          <a:xfrm>
            <a:off x="5996877" y="3094144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Left Arrow 6"/>
          <p:cNvSpPr/>
          <p:nvPr/>
        </p:nvSpPr>
        <p:spPr bwMode="auto">
          <a:xfrm>
            <a:off x="7464432" y="3105432"/>
            <a:ext cx="180622" cy="15804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7014" y="2740823"/>
            <a:ext cx="2078722" cy="317544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ea typeface="Calibri" panose="020F0502020204030204" pitchFamily="34" charset="0"/>
                <a:cs typeface="Times New Roman" panose="02020603050405020304" pitchFamily="18" charset="0"/>
              </a:rPr>
              <a:t>Mukand Process Flow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95" y="4516790"/>
            <a:ext cx="1958625" cy="30777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00B0F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Omega Process Flow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40191"/>
              </p:ext>
            </p:extLst>
          </p:nvPr>
        </p:nvGraphicFramePr>
        <p:xfrm>
          <a:off x="107504" y="4012165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308721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Receiving inspection of RM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522436"/>
                  </a:ext>
                </a:extLst>
              </a:tr>
            </a:tbl>
          </a:graphicData>
        </a:graphic>
      </p:graphicFrame>
      <p:sp>
        <p:nvSpPr>
          <p:cNvPr id="2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370160" y="4029664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341045"/>
              </p:ext>
            </p:extLst>
          </p:nvPr>
        </p:nvGraphicFramePr>
        <p:xfrm>
          <a:off x="1631504" y="4000876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7459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Straightening @ Ø19</a:t>
                      </a:r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41505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042684"/>
              </p:ext>
            </p:extLst>
          </p:nvPr>
        </p:nvGraphicFramePr>
        <p:xfrm>
          <a:off x="3049670" y="3994525"/>
          <a:ext cx="1241777" cy="361245"/>
        </p:xfrm>
        <a:graphic>
          <a:graphicData uri="http://schemas.openxmlformats.org/drawingml/2006/table">
            <a:tbl>
              <a:tblPr/>
              <a:tblGrid>
                <a:gridCol w="1241777">
                  <a:extLst>
                    <a:ext uri="{9D8B030D-6E8A-4147-A177-3AD203B41FA5}">
                      <a16:colId xmlns:a16="http://schemas.microsoft.com/office/drawing/2014/main" val="123894968"/>
                    </a:ext>
                  </a:extLst>
                </a:gridCol>
              </a:tblGrid>
              <a:tr h="3612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Peeling @ Ø18mm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834429"/>
                  </a:ext>
                </a:extLst>
              </a:tr>
            </a:tbl>
          </a:graphicData>
        </a:graphic>
      </p:graphicFrame>
      <p:sp>
        <p:nvSpPr>
          <p:cNvPr id="28" name="Arrow: Right 19">
            <a:extLst>
              <a:ext uri="{FF2B5EF4-FFF2-40B4-BE49-F238E27FC236}">
                <a16:creationId xmlns:a16="http://schemas.microsoft.com/office/drawing/2014/main" id="{572369A2-0D18-4920-9B23-E7549E6378E4}"/>
              </a:ext>
            </a:extLst>
          </p:cNvPr>
          <p:cNvSpPr/>
          <p:nvPr/>
        </p:nvSpPr>
        <p:spPr>
          <a:xfrm>
            <a:off x="2826433" y="4063530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89312"/>
              </p:ext>
            </p:extLst>
          </p:nvPr>
        </p:nvGraphicFramePr>
        <p:xfrm>
          <a:off x="4679503" y="3989588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4654367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Straightening @ Ø18mm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634216"/>
                  </a:ext>
                </a:extLst>
              </a:tr>
            </a:tbl>
          </a:graphicData>
        </a:graphic>
      </p:graphicFrame>
      <p:sp>
        <p:nvSpPr>
          <p:cNvPr id="30" name="Arrow: Right 20">
            <a:extLst>
              <a:ext uri="{FF2B5EF4-FFF2-40B4-BE49-F238E27FC236}">
                <a16:creationId xmlns:a16="http://schemas.microsoft.com/office/drawing/2014/main" id="{98B7219E-9F70-4830-94BD-4C4EB68F65A4}"/>
              </a:ext>
            </a:extLst>
          </p:cNvPr>
          <p:cNvSpPr/>
          <p:nvPr/>
        </p:nvSpPr>
        <p:spPr>
          <a:xfrm>
            <a:off x="4395588" y="4007086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Arrow: Right 20">
            <a:extLst>
              <a:ext uri="{FF2B5EF4-FFF2-40B4-BE49-F238E27FC236}">
                <a16:creationId xmlns:a16="http://schemas.microsoft.com/office/drawing/2014/main" id="{98B7219E-9F70-4830-94BD-4C4EB68F65A4}"/>
              </a:ext>
            </a:extLst>
          </p:cNvPr>
          <p:cNvSpPr/>
          <p:nvPr/>
        </p:nvSpPr>
        <p:spPr>
          <a:xfrm>
            <a:off x="5885722" y="4018374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98907"/>
              </p:ext>
            </p:extLst>
          </p:nvPr>
        </p:nvGraphicFramePr>
        <p:xfrm>
          <a:off x="6101904" y="3989588"/>
          <a:ext cx="1143000" cy="38876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819205070"/>
                    </a:ext>
                  </a:extLst>
                </a:gridCol>
              </a:tblGrid>
              <a:tr h="38876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Hardening &amp; Tempering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68184"/>
                  </a:ext>
                </a:extLst>
              </a:tr>
            </a:tbl>
          </a:graphicData>
        </a:graphic>
      </p:graphicFrame>
      <p:sp>
        <p:nvSpPr>
          <p:cNvPr id="33" name="Arrow: Right 21">
            <a:extLst>
              <a:ext uri="{FF2B5EF4-FFF2-40B4-BE49-F238E27FC236}">
                <a16:creationId xmlns:a16="http://schemas.microsoft.com/office/drawing/2014/main" id="{76474C91-6D8F-4D54-99D2-2F786C7E9F6D}"/>
              </a:ext>
            </a:extLst>
          </p:cNvPr>
          <p:cNvSpPr/>
          <p:nvPr/>
        </p:nvSpPr>
        <p:spPr>
          <a:xfrm>
            <a:off x="7330706" y="4063531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281810"/>
              </p:ext>
            </p:extLst>
          </p:nvPr>
        </p:nvGraphicFramePr>
        <p:xfrm>
          <a:off x="7558170" y="3911625"/>
          <a:ext cx="1474612" cy="512445"/>
        </p:xfrm>
        <a:graphic>
          <a:graphicData uri="http://schemas.openxmlformats.org/drawingml/2006/table">
            <a:tbl>
              <a:tblPr/>
              <a:tblGrid>
                <a:gridCol w="1474612">
                  <a:extLst>
                    <a:ext uri="{9D8B030D-6E8A-4147-A177-3AD203B41FA5}">
                      <a16:colId xmlns:a16="http://schemas.microsoft.com/office/drawing/2014/main" val="4174803446"/>
                    </a:ext>
                  </a:extLst>
                </a:gridCol>
              </a:tblGrid>
              <a:tr h="4780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Pickling / Pointing / Cold Draw/ Pointing cutting @ Ø17.30mm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335021"/>
                  </a:ext>
                </a:extLst>
              </a:tr>
            </a:tbl>
          </a:graphicData>
        </a:graphic>
      </p:graphicFrame>
      <p:sp>
        <p:nvSpPr>
          <p:cNvPr id="35" name="Down Arrow 34"/>
          <p:cNvSpPr/>
          <p:nvPr/>
        </p:nvSpPr>
        <p:spPr bwMode="auto">
          <a:xfrm>
            <a:off x="8268917" y="4496889"/>
            <a:ext cx="248356" cy="25964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74731"/>
              </p:ext>
            </p:extLst>
          </p:nvPr>
        </p:nvGraphicFramePr>
        <p:xfrm>
          <a:off x="7714354" y="4807503"/>
          <a:ext cx="1361722" cy="383645"/>
        </p:xfrm>
        <a:graphic>
          <a:graphicData uri="http://schemas.openxmlformats.org/drawingml/2006/table">
            <a:tbl>
              <a:tblPr/>
              <a:tblGrid>
                <a:gridCol w="1361722">
                  <a:extLst>
                    <a:ext uri="{9D8B030D-6E8A-4147-A177-3AD203B41FA5}">
                      <a16:colId xmlns:a16="http://schemas.microsoft.com/office/drawing/2014/main" val="2976826419"/>
                    </a:ext>
                  </a:extLst>
                </a:gridCol>
              </a:tblGrid>
              <a:tr h="3836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Straightening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6329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492336"/>
              </p:ext>
            </p:extLst>
          </p:nvPr>
        </p:nvGraphicFramePr>
        <p:xfrm>
          <a:off x="6269376" y="4791099"/>
          <a:ext cx="1143000" cy="411339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1823411150"/>
                    </a:ext>
                  </a:extLst>
                </a:gridCol>
              </a:tblGrid>
              <a:tr h="4113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Centre Less grinding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411686"/>
                  </a:ext>
                </a:extLst>
              </a:tr>
            </a:tbl>
          </a:graphicData>
        </a:graphic>
      </p:graphicFrame>
      <p:sp>
        <p:nvSpPr>
          <p:cNvPr id="38" name="Left Arrow 37"/>
          <p:cNvSpPr/>
          <p:nvPr/>
        </p:nvSpPr>
        <p:spPr bwMode="auto">
          <a:xfrm>
            <a:off x="7422254" y="4891992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Left Arrow 38"/>
          <p:cNvSpPr/>
          <p:nvPr/>
        </p:nvSpPr>
        <p:spPr bwMode="auto">
          <a:xfrm>
            <a:off x="5949054" y="4931503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035881"/>
              </p:ext>
            </p:extLst>
          </p:nvPr>
        </p:nvGraphicFramePr>
        <p:xfrm>
          <a:off x="4425054" y="4807327"/>
          <a:ext cx="1492955" cy="512445"/>
        </p:xfrm>
        <a:graphic>
          <a:graphicData uri="http://schemas.openxmlformats.org/drawingml/2006/table">
            <a:tbl>
              <a:tblPr/>
              <a:tblGrid>
                <a:gridCol w="1492955">
                  <a:extLst>
                    <a:ext uri="{9D8B030D-6E8A-4147-A177-3AD203B41FA5}">
                      <a16:colId xmlns:a16="http://schemas.microsoft.com/office/drawing/2014/main" val="1916112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Centre Less grinding 2 (Final Size Ø17.00-0.04mm)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481115"/>
                  </a:ext>
                </a:extLst>
              </a:tr>
            </a:tbl>
          </a:graphicData>
        </a:graphic>
      </p:graphicFrame>
      <p:sp>
        <p:nvSpPr>
          <p:cNvPr id="41" name="Left Arrow 40"/>
          <p:cNvSpPr/>
          <p:nvPr/>
        </p:nvSpPr>
        <p:spPr bwMode="auto">
          <a:xfrm>
            <a:off x="4114609" y="5016169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9102"/>
              </p:ext>
            </p:extLst>
          </p:nvPr>
        </p:nvGraphicFramePr>
        <p:xfrm>
          <a:off x="2844609" y="4802387"/>
          <a:ext cx="1248833" cy="524228"/>
        </p:xfrm>
        <a:graphic>
          <a:graphicData uri="http://schemas.openxmlformats.org/drawingml/2006/table">
            <a:tbl>
              <a:tblPr/>
              <a:tblGrid>
                <a:gridCol w="1248833">
                  <a:extLst>
                    <a:ext uri="{9D8B030D-6E8A-4147-A177-3AD203B41FA5}">
                      <a16:colId xmlns:a16="http://schemas.microsoft.com/office/drawing/2014/main" val="4180580159"/>
                    </a:ext>
                  </a:extLst>
                </a:gridCol>
              </a:tblGrid>
              <a:tr h="5242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Inspection, Packing &amp; Dispatch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64216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53424" y="5569495"/>
            <a:ext cx="2690384" cy="30777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DF9B4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Dynamic Process Flow 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769154"/>
              </p:ext>
            </p:extLst>
          </p:nvPr>
        </p:nvGraphicFramePr>
        <p:xfrm>
          <a:off x="195954" y="6021383"/>
          <a:ext cx="1143000" cy="3448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 Receiving &amp;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41677" y="6021949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799188" y="6100971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348566" y="6117904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50623"/>
              </p:ext>
            </p:extLst>
          </p:nvPr>
        </p:nvGraphicFramePr>
        <p:xfrm>
          <a:off x="1680442" y="6027028"/>
          <a:ext cx="1143000" cy="51244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Turning &amp; Cantering  at Sliding Head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926166" y="6072749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622688"/>
              </p:ext>
            </p:extLst>
          </p:nvPr>
        </p:nvGraphicFramePr>
        <p:xfrm>
          <a:off x="3142353" y="6043961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Dia. Turning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349525"/>
              </p:ext>
            </p:extLst>
          </p:nvPr>
        </p:nvGraphicFramePr>
        <p:xfrm>
          <a:off x="4581687" y="603831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Crack Detection at MPI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85909"/>
              </p:ext>
            </p:extLst>
          </p:nvPr>
        </p:nvGraphicFramePr>
        <p:xfrm>
          <a:off x="6043598" y="6055250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Inspection &amp; Gauging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5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244166" y="6112260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836710"/>
              </p:ext>
            </p:extLst>
          </p:nvPr>
        </p:nvGraphicFramePr>
        <p:xfrm>
          <a:off x="7482931" y="604960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Packing &amp; Dispatch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 bwMode="auto">
          <a:xfrm>
            <a:off x="4495327" y="5905295"/>
            <a:ext cx="1303861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Rectangle 55"/>
          <p:cNvSpPr/>
          <p:nvPr/>
        </p:nvSpPr>
        <p:spPr bwMode="auto">
          <a:xfrm>
            <a:off x="6038406" y="3882612"/>
            <a:ext cx="1303861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Rectangle 56"/>
          <p:cNvSpPr/>
          <p:nvPr/>
        </p:nvSpPr>
        <p:spPr bwMode="auto">
          <a:xfrm>
            <a:off x="7650246" y="2810120"/>
            <a:ext cx="1405920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5979815" y="5926545"/>
            <a:ext cx="1223706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763715" y="4730937"/>
            <a:ext cx="1405920" cy="63417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6163161" y="2850867"/>
            <a:ext cx="1405920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32428" y="2023557"/>
            <a:ext cx="9076076" cy="1529777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2429" y="5451784"/>
            <a:ext cx="9043648" cy="1289584"/>
          </a:xfrm>
          <a:prstGeom prst="rect">
            <a:avLst/>
          </a:prstGeom>
          <a:noFill/>
          <a:ln w="28575" cap="flat" cmpd="sng" algn="ctr">
            <a:solidFill>
              <a:srgbClr val="DF9B4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62" name="Rectangle 61"/>
          <p:cNvSpPr/>
          <p:nvPr/>
        </p:nvSpPr>
        <p:spPr bwMode="auto">
          <a:xfrm>
            <a:off x="32428" y="3602282"/>
            <a:ext cx="9076076" cy="1814037"/>
          </a:xfrm>
          <a:prstGeom prst="rect">
            <a:avLst/>
          </a:prstGeom>
          <a:noFill/>
          <a:ln w="2857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82000" y="3229476"/>
            <a:ext cx="936104" cy="251171"/>
          </a:xfrm>
          <a:prstGeom prst="rect">
            <a:avLst/>
          </a:prstGeom>
          <a:solidFill>
            <a:srgbClr val="FFE79B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charset="-128"/>
              </a:rPr>
              <a:t>Occurrence</a:t>
            </a:r>
            <a:endParaRPr kumimoji="1" lang="en-I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1072685" y="3229476"/>
            <a:ext cx="936104" cy="227758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charset="-128"/>
              </a:rPr>
              <a:t>Outflow</a:t>
            </a:r>
            <a:endParaRPr kumimoji="1" lang="en-IN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32428" y="785367"/>
            <a:ext cx="9023738" cy="114631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32788"/>
              </p:ext>
            </p:extLst>
          </p:nvPr>
        </p:nvGraphicFramePr>
        <p:xfrm>
          <a:off x="251519" y="839317"/>
          <a:ext cx="8374414" cy="979170"/>
        </p:xfrm>
        <a:graphic>
          <a:graphicData uri="http://schemas.openxmlformats.org/drawingml/2006/table">
            <a:tbl>
              <a:tblPr/>
              <a:tblGrid>
                <a:gridCol w="843521">
                  <a:extLst>
                    <a:ext uri="{9D8B030D-6E8A-4147-A177-3AD203B41FA5}">
                      <a16:colId xmlns:a16="http://schemas.microsoft.com/office/drawing/2014/main" val="887615572"/>
                    </a:ext>
                  </a:extLst>
                </a:gridCol>
                <a:gridCol w="949910">
                  <a:extLst>
                    <a:ext uri="{9D8B030D-6E8A-4147-A177-3AD203B41FA5}">
                      <a16:colId xmlns:a16="http://schemas.microsoft.com/office/drawing/2014/main" val="242475647"/>
                    </a:ext>
                  </a:extLst>
                </a:gridCol>
                <a:gridCol w="440759">
                  <a:extLst>
                    <a:ext uri="{9D8B030D-6E8A-4147-A177-3AD203B41FA5}">
                      <a16:colId xmlns:a16="http://schemas.microsoft.com/office/drawing/2014/main" val="927804053"/>
                    </a:ext>
                  </a:extLst>
                </a:gridCol>
                <a:gridCol w="1626247">
                  <a:extLst>
                    <a:ext uri="{9D8B030D-6E8A-4147-A177-3AD203B41FA5}">
                      <a16:colId xmlns:a16="http://schemas.microsoft.com/office/drawing/2014/main" val="1548931679"/>
                    </a:ext>
                  </a:extLst>
                </a:gridCol>
                <a:gridCol w="440759">
                  <a:extLst>
                    <a:ext uri="{9D8B030D-6E8A-4147-A177-3AD203B41FA5}">
                      <a16:colId xmlns:a16="http://schemas.microsoft.com/office/drawing/2014/main" val="2728032859"/>
                    </a:ext>
                  </a:extLst>
                </a:gridCol>
                <a:gridCol w="1109496">
                  <a:extLst>
                    <a:ext uri="{9D8B030D-6E8A-4147-A177-3AD203B41FA5}">
                      <a16:colId xmlns:a16="http://schemas.microsoft.com/office/drawing/2014/main" val="1945864226"/>
                    </a:ext>
                  </a:extLst>
                </a:gridCol>
                <a:gridCol w="440759">
                  <a:extLst>
                    <a:ext uri="{9D8B030D-6E8A-4147-A177-3AD203B41FA5}">
                      <a16:colId xmlns:a16="http://schemas.microsoft.com/office/drawing/2014/main" val="3539266833"/>
                    </a:ext>
                  </a:extLst>
                </a:gridCol>
                <a:gridCol w="1018305">
                  <a:extLst>
                    <a:ext uri="{9D8B030D-6E8A-4147-A177-3AD203B41FA5}">
                      <a16:colId xmlns:a16="http://schemas.microsoft.com/office/drawing/2014/main" val="564618439"/>
                    </a:ext>
                  </a:extLst>
                </a:gridCol>
                <a:gridCol w="1504658">
                  <a:extLst>
                    <a:ext uri="{9D8B030D-6E8A-4147-A177-3AD203B41FA5}">
                      <a16:colId xmlns:a16="http://schemas.microsoft.com/office/drawing/2014/main" val="320135453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Supplier Chain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1882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Supplier 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Mukand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 BWL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76481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Process  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Raw Material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Treatment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Machining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Whirling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CEPS Assembly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37573"/>
                  </a:ext>
                </a:extLst>
              </a:tr>
            </a:tbl>
          </a:graphicData>
        </a:graphic>
      </p:graphicFrame>
      <p:sp>
        <p:nvSpPr>
          <p:cNvPr id="82" name="Right Arrow 81"/>
          <p:cNvSpPr/>
          <p:nvPr/>
        </p:nvSpPr>
        <p:spPr bwMode="auto">
          <a:xfrm>
            <a:off x="2155124" y="1303351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83" name="Right Arrow 82"/>
          <p:cNvSpPr/>
          <p:nvPr/>
        </p:nvSpPr>
        <p:spPr bwMode="auto">
          <a:xfrm>
            <a:off x="4216209" y="1310196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84" name="Right Arrow 83"/>
          <p:cNvSpPr/>
          <p:nvPr/>
        </p:nvSpPr>
        <p:spPr bwMode="auto">
          <a:xfrm>
            <a:off x="5786180" y="1279099"/>
            <a:ext cx="193635" cy="19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40264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83597" y="157801"/>
            <a:ext cx="455955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ctr" eaLnBrk="1" hangingPunct="1"/>
            <a:r>
              <a:rPr kumimoji="1" lang="en-US" altLang="ko-KR" b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5.1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798533"/>
            <a:ext cx="2690384" cy="261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BAWAL-MACHINING PROCESS FLOW 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128411" y="1115431"/>
          <a:ext cx="1143000" cy="3143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 Receiving &amp;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374134" y="1115997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731645" y="1248685"/>
            <a:ext cx="183733" cy="1737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281023" y="1220462"/>
            <a:ext cx="223244" cy="156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1612899" y="1107008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Thread</a:t>
                      </a: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Cutting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4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858623" y="1152729"/>
            <a:ext cx="198120" cy="2853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0" name="Table 49"/>
          <p:cNvGraphicFramePr>
            <a:graphicFrameLocks noGrp="1"/>
          </p:cNvGraphicFramePr>
          <p:nvPr>
            <p:extLst/>
          </p:nvPr>
        </p:nvGraphicFramePr>
        <p:xfrm>
          <a:off x="3074810" y="1123941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Thread</a:t>
                      </a: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Grinding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4514144" y="111829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Thread</a:t>
                      </a:r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Grinding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/>
          </p:nvPr>
        </p:nvGraphicFramePr>
        <p:xfrm>
          <a:off x="5976055" y="1135230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OD Grinding 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5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176623" y="1237396"/>
            <a:ext cx="183733" cy="207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>
            <p:extLst/>
          </p:nvPr>
        </p:nvGraphicFramePr>
        <p:xfrm>
          <a:off x="7415388" y="1129586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Washing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>
            <p:extLst/>
          </p:nvPr>
        </p:nvGraphicFramePr>
        <p:xfrm>
          <a:off x="7500054" y="1699680"/>
          <a:ext cx="1143000" cy="39440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Space Runout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57" name="Down Arrow 56"/>
          <p:cNvSpPr/>
          <p:nvPr/>
        </p:nvSpPr>
        <p:spPr bwMode="auto">
          <a:xfrm>
            <a:off x="7896576" y="1507063"/>
            <a:ext cx="197557" cy="18627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Left Arrow 58"/>
          <p:cNvSpPr/>
          <p:nvPr/>
        </p:nvSpPr>
        <p:spPr bwMode="auto">
          <a:xfrm>
            <a:off x="7202311" y="1772350"/>
            <a:ext cx="203200" cy="20320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70135"/>
              </p:ext>
            </p:extLst>
          </p:nvPr>
        </p:nvGraphicFramePr>
        <p:xfrm>
          <a:off x="5817157" y="173354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Visual inspection with Magnifying glass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0313" y="246167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LOWER SHAFT WASHING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1642535" y="2478604"/>
          <a:ext cx="1288342" cy="37747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7747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R/G ANNEALING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/>
          </p:nvPr>
        </p:nvGraphicFramePr>
        <p:xfrm>
          <a:off x="3149601" y="2472960"/>
          <a:ext cx="1288342" cy="394411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1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MARKING(WORM HOUSING)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/>
          </p:nvPr>
        </p:nvGraphicFramePr>
        <p:xfrm>
          <a:off x="4667956" y="246731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W/H BEARING &amp; C- RING PRESS IN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/>
          </p:nvPr>
        </p:nvGraphicFramePr>
        <p:xfrm>
          <a:off x="6175025" y="2472960"/>
          <a:ext cx="1288342" cy="394411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1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 BEARING &amp; FLANGE BOSS PRESS-IN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2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13645" y="255254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954579" y="2535614"/>
            <a:ext cx="161154" cy="2075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472936" y="2552548"/>
            <a:ext cx="178086" cy="1793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980002" y="2558192"/>
            <a:ext cx="172443" cy="1850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12875"/>
              </p:ext>
            </p:extLst>
          </p:nvPr>
        </p:nvGraphicFramePr>
        <p:xfrm>
          <a:off x="7742769" y="2420889"/>
          <a:ext cx="1288342" cy="440832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4083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ABLS ASSY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3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520935" y="2575124"/>
            <a:ext cx="178087" cy="190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/>
          </p:nvPr>
        </p:nvGraphicFramePr>
        <p:xfrm>
          <a:off x="7731481" y="3093146"/>
          <a:ext cx="1288342" cy="417683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768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ASSY MEASUREMENT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36" name="Down Arrow 35"/>
          <p:cNvSpPr/>
          <p:nvPr/>
        </p:nvSpPr>
        <p:spPr bwMode="auto">
          <a:xfrm>
            <a:off x="8173156" y="2878667"/>
            <a:ext cx="237066" cy="2257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6297791" y="3054335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SQUARE RING ASSEMBLY &amp;  END COVER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/>
          </p:nvPr>
        </p:nvGraphicFramePr>
        <p:xfrm>
          <a:off x="4790724" y="310513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MARKING(LOWER SHAFT)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3317524" y="311078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R/G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/>
          </p:nvPr>
        </p:nvGraphicFramePr>
        <p:xfrm>
          <a:off x="1810457" y="3127713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RED.GEAR TEETH CUTTING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/>
          </p:nvPr>
        </p:nvGraphicFramePr>
        <p:xfrm>
          <a:off x="246946" y="3144646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REDUCTION GEAR DEBURRING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196146" y="3714733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L/S BUSH AND BEARING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4559303" y="444287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MAGNETIZING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/>
          </p:nvPr>
        </p:nvGraphicFramePr>
        <p:xfrm>
          <a:off x="3278014" y="3726022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'LOWER SHAFT ASSY INSTALLATION &amp; C-RING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62" name="Table 61"/>
          <p:cNvGraphicFramePr>
            <a:graphicFrameLocks noGrp="1"/>
          </p:cNvGraphicFramePr>
          <p:nvPr>
            <p:extLst/>
          </p:nvPr>
        </p:nvGraphicFramePr>
        <p:xfrm>
          <a:off x="4818947" y="3759189"/>
          <a:ext cx="1288342" cy="412039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TOOTH SURFACE  FORMING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63" name="Table 62"/>
          <p:cNvGraphicFramePr>
            <a:graphicFrameLocks noGrp="1"/>
          </p:cNvGraphicFramePr>
          <p:nvPr>
            <p:extLst/>
          </p:nvPr>
        </p:nvGraphicFramePr>
        <p:xfrm>
          <a:off x="1776590" y="3714733"/>
          <a:ext cx="1288342" cy="40570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057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RED.GEAR SPACE RUNOUT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64" name="Down Arrow 63"/>
          <p:cNvSpPr/>
          <p:nvPr/>
        </p:nvSpPr>
        <p:spPr bwMode="auto">
          <a:xfrm>
            <a:off x="699911" y="3556000"/>
            <a:ext cx="231422" cy="17496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Left Arrow 64"/>
          <p:cNvSpPr/>
          <p:nvPr/>
        </p:nvSpPr>
        <p:spPr bwMode="auto">
          <a:xfrm>
            <a:off x="7580488" y="3200390"/>
            <a:ext cx="129823" cy="118543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Left Arrow 65"/>
          <p:cNvSpPr/>
          <p:nvPr/>
        </p:nvSpPr>
        <p:spPr bwMode="auto">
          <a:xfrm>
            <a:off x="6107288" y="3251190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Left Arrow 66"/>
          <p:cNvSpPr/>
          <p:nvPr/>
        </p:nvSpPr>
        <p:spPr bwMode="auto">
          <a:xfrm>
            <a:off x="4611510" y="3301990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Left Arrow 67"/>
          <p:cNvSpPr/>
          <p:nvPr/>
        </p:nvSpPr>
        <p:spPr bwMode="auto">
          <a:xfrm>
            <a:off x="3104444" y="3273767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Left Arrow 68"/>
          <p:cNvSpPr/>
          <p:nvPr/>
        </p:nvSpPr>
        <p:spPr bwMode="auto">
          <a:xfrm>
            <a:off x="1597378" y="3290700"/>
            <a:ext cx="180623" cy="101609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532178" y="3777391"/>
            <a:ext cx="217600" cy="151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3061822" y="3862057"/>
            <a:ext cx="217600" cy="151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580178" y="3935434"/>
            <a:ext cx="217600" cy="151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0" y="2102400"/>
            <a:ext cx="2690384" cy="261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Bawal Worm Housing  Process Flow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0" y="4140044"/>
            <a:ext cx="2690384" cy="2616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Bawal Column   Process Flow </a:t>
            </a:r>
          </a:p>
        </p:txBody>
      </p:sp>
      <p:graphicFrame>
        <p:nvGraphicFramePr>
          <p:cNvPr id="75" name="Table 74"/>
          <p:cNvGraphicFramePr>
            <a:graphicFrameLocks noGrp="1"/>
          </p:cNvGraphicFramePr>
          <p:nvPr>
            <p:extLst/>
          </p:nvPr>
        </p:nvGraphicFramePr>
        <p:xfrm>
          <a:off x="117126" y="4419587"/>
          <a:ext cx="1288342" cy="412039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CODING (M/S)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6" name="Table 75"/>
          <p:cNvGraphicFramePr>
            <a:graphicFrameLocks noGrp="1"/>
          </p:cNvGraphicFramePr>
          <p:nvPr>
            <p:extLst/>
          </p:nvPr>
        </p:nvGraphicFramePr>
        <p:xfrm>
          <a:off x="1590325" y="4436520"/>
          <a:ext cx="1288342" cy="412039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DMC CODING (M/S)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7" name="Table 76"/>
          <p:cNvGraphicFramePr>
            <a:graphicFrameLocks noGrp="1"/>
          </p:cNvGraphicFramePr>
          <p:nvPr>
            <p:extLst/>
          </p:nvPr>
        </p:nvGraphicFramePr>
        <p:xfrm>
          <a:off x="3086103" y="4448515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TORSION BAR AND MIDDLE SHAFT PRESS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8" name="Table 77"/>
          <p:cNvGraphicFramePr>
            <a:graphicFrameLocks noGrp="1"/>
          </p:cNvGraphicFramePr>
          <p:nvPr>
            <p:extLst/>
          </p:nvPr>
        </p:nvGraphicFramePr>
        <p:xfrm>
          <a:off x="6066368" y="4448515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NEEDLE BEARING PRESS &amp; MCR ATTACHMENT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79" name="Table 78"/>
          <p:cNvGraphicFramePr>
            <a:graphicFrameLocks noGrp="1"/>
          </p:cNvGraphicFramePr>
          <p:nvPr>
            <p:extLst/>
          </p:nvPr>
        </p:nvGraphicFramePr>
        <p:xfrm>
          <a:off x="7607302" y="4409003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MAGNETIC YOKE PRESS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0" name="Table 79"/>
          <p:cNvGraphicFramePr>
            <a:graphicFrameLocks noGrp="1"/>
          </p:cNvGraphicFramePr>
          <p:nvPr>
            <p:extLst/>
          </p:nvPr>
        </p:nvGraphicFramePr>
        <p:xfrm>
          <a:off x="7612947" y="4990380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ASSEMBLY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1" name="Table 80"/>
          <p:cNvGraphicFramePr>
            <a:graphicFrameLocks noGrp="1"/>
          </p:cNvGraphicFramePr>
          <p:nvPr>
            <p:extLst/>
          </p:nvPr>
        </p:nvGraphicFramePr>
        <p:xfrm>
          <a:off x="112890" y="5029891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OUTER JACKET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>
            <p:extLst/>
          </p:nvPr>
        </p:nvGraphicFramePr>
        <p:xfrm>
          <a:off x="1550814" y="5023552"/>
          <a:ext cx="1288342" cy="42897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2897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JACKET/LOWER TUBE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3" name="Table 82"/>
          <p:cNvGraphicFramePr>
            <a:graphicFrameLocks noGrp="1"/>
          </p:cNvGraphicFramePr>
          <p:nvPr>
            <p:extLst/>
          </p:nvPr>
        </p:nvGraphicFramePr>
        <p:xfrm>
          <a:off x="3069169" y="5029891"/>
          <a:ext cx="1288342" cy="39440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BUSH &amp; COLLAR PRESS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4" name="Table 83"/>
          <p:cNvGraphicFramePr>
            <a:graphicFrameLocks noGrp="1"/>
          </p:cNvGraphicFramePr>
          <p:nvPr>
            <p:extLst/>
          </p:nvPr>
        </p:nvGraphicFramePr>
        <p:xfrm>
          <a:off x="4576236" y="5012958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9440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 REGULATION, BALANCING &amp; DEBURRING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5" name="Table 84"/>
          <p:cNvGraphicFramePr>
            <a:graphicFrameLocks noGrp="1"/>
          </p:cNvGraphicFramePr>
          <p:nvPr>
            <p:extLst/>
          </p:nvPr>
        </p:nvGraphicFramePr>
        <p:xfrm>
          <a:off x="6038147" y="5007313"/>
          <a:ext cx="1288342" cy="45650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565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N-MIN TORQUE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6" name="Table 85"/>
          <p:cNvGraphicFramePr>
            <a:graphicFrameLocks noGrp="1"/>
          </p:cNvGraphicFramePr>
          <p:nvPr>
            <p:extLst/>
          </p:nvPr>
        </p:nvGraphicFramePr>
        <p:xfrm>
          <a:off x="220134" y="5622556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GAIN OFFSET WRITING  &amp; FIXED LOAD INSPECTION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7" name="Table 86"/>
          <p:cNvGraphicFramePr>
            <a:graphicFrameLocks noGrp="1"/>
          </p:cNvGraphicFramePr>
          <p:nvPr>
            <p:extLst/>
          </p:nvPr>
        </p:nvGraphicFramePr>
        <p:xfrm>
          <a:off x="1761067" y="5616912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MCU INSTALLATION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8" name="Table 87"/>
          <p:cNvGraphicFramePr>
            <a:graphicFrameLocks noGrp="1"/>
          </p:cNvGraphicFramePr>
          <p:nvPr>
            <p:extLst/>
          </p:nvPr>
        </p:nvGraphicFramePr>
        <p:xfrm>
          <a:off x="3211689" y="5656423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PROPORTIONAL LOAD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>
            <p:extLst/>
          </p:nvPr>
        </p:nvGraphicFramePr>
        <p:xfrm>
          <a:off x="7699023" y="6220870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FEELING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>
            <p:extLst/>
          </p:nvPr>
        </p:nvGraphicFramePr>
        <p:xfrm>
          <a:off x="6203244" y="6276622"/>
          <a:ext cx="1288342" cy="387703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38770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TILT &amp; TELESCOPICE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1" name="Table 90"/>
          <p:cNvGraphicFramePr>
            <a:graphicFrameLocks noGrp="1"/>
          </p:cNvGraphicFramePr>
          <p:nvPr>
            <p:extLst/>
          </p:nvPr>
        </p:nvGraphicFramePr>
        <p:xfrm>
          <a:off x="7710312" y="5628201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HARNESS BRACKET ATTACHMENT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2" name="Table 91"/>
          <p:cNvGraphicFramePr>
            <a:graphicFrameLocks noGrp="1"/>
          </p:cNvGraphicFramePr>
          <p:nvPr>
            <p:extLst/>
          </p:nvPr>
        </p:nvGraphicFramePr>
        <p:xfrm>
          <a:off x="6158089" y="5645134"/>
          <a:ext cx="1288342" cy="433928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PEDAL BRACEKET ATTACHMENT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/>
          </p:nvPr>
        </p:nvGraphicFramePr>
        <p:xfrm>
          <a:off x="4718756" y="5662068"/>
          <a:ext cx="1288342" cy="466725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3392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 POINT CURRENT &amp; ROTATIONAL TORQUE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4" name="Table 93"/>
          <p:cNvGraphicFramePr>
            <a:graphicFrameLocks noGrp="1"/>
          </p:cNvGraphicFramePr>
          <p:nvPr>
            <p:extLst/>
          </p:nvPr>
        </p:nvGraphicFramePr>
        <p:xfrm>
          <a:off x="3194755" y="6293557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DIAG INSPECTION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5" name="Table 94"/>
          <p:cNvGraphicFramePr>
            <a:graphicFrameLocks noGrp="1"/>
          </p:cNvGraphicFramePr>
          <p:nvPr>
            <p:extLst/>
          </p:nvPr>
        </p:nvGraphicFramePr>
        <p:xfrm>
          <a:off x="4656667" y="6287912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IMS ATTACHEMENT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6" name="Table 95"/>
          <p:cNvGraphicFramePr>
            <a:graphicFrameLocks noGrp="1"/>
          </p:cNvGraphicFramePr>
          <p:nvPr>
            <p:extLst/>
          </p:nvPr>
        </p:nvGraphicFramePr>
        <p:xfrm>
          <a:off x="287866" y="6310491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INSPECTION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graphicFrame>
        <p:nvGraphicFramePr>
          <p:cNvPr id="97" name="Table 96"/>
          <p:cNvGraphicFramePr>
            <a:graphicFrameLocks noGrp="1"/>
          </p:cNvGraphicFramePr>
          <p:nvPr>
            <p:extLst/>
          </p:nvPr>
        </p:nvGraphicFramePr>
        <p:xfrm>
          <a:off x="1738489" y="6304846"/>
          <a:ext cx="1288342" cy="410280"/>
        </p:xfrm>
        <a:graphic>
          <a:graphicData uri="http://schemas.openxmlformats.org/drawingml/2006/table">
            <a:tbl>
              <a:tblPr/>
              <a:tblGrid>
                <a:gridCol w="1288342">
                  <a:extLst>
                    <a:ext uri="{9D8B030D-6E8A-4147-A177-3AD203B41FA5}">
                      <a16:colId xmlns:a16="http://schemas.microsoft.com/office/drawing/2014/main" val="595264474"/>
                    </a:ext>
                  </a:extLst>
                </a:gridCol>
              </a:tblGrid>
              <a:tr h="4102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CABLE TIE ATTACHMENT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267519"/>
                  </a:ext>
                </a:extLst>
              </a:tr>
            </a:tbl>
          </a:graphicData>
        </a:graphic>
      </p:graphicFrame>
      <p:sp>
        <p:nvSpPr>
          <p:cNvPr id="98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19289" y="4601480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903777" y="457325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867111" y="45789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371332" y="4595835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413688" y="45789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Down Arrow 105"/>
          <p:cNvSpPr/>
          <p:nvPr/>
        </p:nvSpPr>
        <p:spPr bwMode="auto">
          <a:xfrm>
            <a:off x="8212667" y="4803422"/>
            <a:ext cx="163688" cy="16368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Down Arrow 106"/>
          <p:cNvSpPr/>
          <p:nvPr/>
        </p:nvSpPr>
        <p:spPr bwMode="auto">
          <a:xfrm>
            <a:off x="666045" y="5452533"/>
            <a:ext cx="163688" cy="16368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436222" y="5148991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2864266" y="5154636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405199" y="5171569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5889688" y="5177213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351599" y="5103835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1577333" y="56965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3073111" y="5848902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4523734" y="575294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6030801" y="5803747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Arrow: Right 17">
            <a:extLst>
              <a:ext uri="{FF2B5EF4-FFF2-40B4-BE49-F238E27FC236}">
                <a16:creationId xmlns:a16="http://schemas.microsoft.com/office/drawing/2014/main" id="{E9DAE520-F00E-4190-8D2A-EE7F57B32AEA}"/>
              </a:ext>
            </a:extLst>
          </p:cNvPr>
          <p:cNvSpPr/>
          <p:nvPr/>
        </p:nvSpPr>
        <p:spPr>
          <a:xfrm>
            <a:off x="7515290" y="5764236"/>
            <a:ext cx="155511" cy="168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Down Arrow 117"/>
          <p:cNvSpPr/>
          <p:nvPr/>
        </p:nvSpPr>
        <p:spPr bwMode="auto">
          <a:xfrm>
            <a:off x="8218311" y="6050845"/>
            <a:ext cx="163688" cy="16368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Left Arrow 118"/>
          <p:cNvSpPr/>
          <p:nvPr/>
        </p:nvSpPr>
        <p:spPr bwMode="auto">
          <a:xfrm>
            <a:off x="7495822" y="6434657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Left Arrow 119"/>
          <p:cNvSpPr/>
          <p:nvPr/>
        </p:nvSpPr>
        <p:spPr bwMode="auto">
          <a:xfrm>
            <a:off x="6011330" y="6474167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Left Arrow 120"/>
          <p:cNvSpPr/>
          <p:nvPr/>
        </p:nvSpPr>
        <p:spPr bwMode="auto">
          <a:xfrm>
            <a:off x="4470395" y="6524966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Left Arrow 121"/>
          <p:cNvSpPr/>
          <p:nvPr/>
        </p:nvSpPr>
        <p:spPr bwMode="auto">
          <a:xfrm>
            <a:off x="3008485" y="6530609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Left Arrow 122"/>
          <p:cNvSpPr/>
          <p:nvPr/>
        </p:nvSpPr>
        <p:spPr bwMode="auto">
          <a:xfrm>
            <a:off x="1557859" y="6524963"/>
            <a:ext cx="169333" cy="90320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Rectangle 32"/>
          <p:cNvSpPr>
            <a:spLocks noChangeArrowheads="1"/>
          </p:cNvSpPr>
          <p:nvPr/>
        </p:nvSpPr>
        <p:spPr bwMode="auto">
          <a:xfrm>
            <a:off x="539552" y="157311"/>
            <a:ext cx="3604529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dirty="0">
                <a:ea typeface="Calibri" panose="020F0502020204030204" pitchFamily="34" charset="0"/>
                <a:cs typeface="Times New Roman" panose="02020603050405020304" pitchFamily="18" charset="0"/>
              </a:rPr>
              <a:t>BAWAL PROCESS FLOW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4111100" y="1631230"/>
            <a:ext cx="1373356" cy="422627"/>
          </a:xfrm>
          <a:prstGeom prst="wedgeRoundRectCallout">
            <a:avLst>
              <a:gd name="adj1" fmla="val 69308"/>
              <a:gd name="adj2" fmla="val 22557"/>
              <a:gd name="adj3" fmla="val 16667"/>
            </a:avLst>
          </a:prstGeom>
          <a:solidFill>
            <a:srgbClr val="92D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200" dirty="0">
                <a:latin typeface="Times New Roman" pitchFamily="18" charset="0"/>
                <a:ea typeface="ＭＳ Ｐゴシック" charset="-128"/>
              </a:rPr>
              <a:t>Detected at Process</a:t>
            </a:r>
            <a:endParaRPr kumimoji="1" lang="en-US" sz="1200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104" name="Rectangle 103"/>
          <p:cNvSpPr/>
          <p:nvPr/>
        </p:nvSpPr>
        <p:spPr bwMode="auto">
          <a:xfrm>
            <a:off x="5758368" y="1615989"/>
            <a:ext cx="1405920" cy="63417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600" b="1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63561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</a:t>
            </a:r>
            <a:endParaRPr kumimoji="1" lang="en-US" altLang="ko-KR" b="1" dirty="0">
              <a:solidFill>
                <a:schemeClr val="bg1"/>
              </a:solidFill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ANALYSIS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764704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1. </a:t>
            </a:r>
            <a:r>
              <a:rPr lang="en-US" b="0" dirty="0">
                <a:solidFill>
                  <a:srgbClr val="00B050"/>
                </a:solidFill>
              </a:rPr>
              <a:t>OK</a:t>
            </a:r>
            <a:r>
              <a:rPr lang="en-US" b="0" dirty="0"/>
              <a:t> &amp; </a:t>
            </a:r>
            <a:r>
              <a:rPr lang="en-US" b="0" dirty="0">
                <a:solidFill>
                  <a:srgbClr val="FF0000"/>
                </a:solidFill>
              </a:rPr>
              <a:t>NG</a:t>
            </a:r>
            <a:r>
              <a:rPr lang="en-US" b="0" dirty="0"/>
              <a:t> PART COMPARISON DONE FOR </a:t>
            </a:r>
            <a:r>
              <a:rPr lang="en-US" i="1" dirty="0"/>
              <a:t>MICROSTRUCTURE</a:t>
            </a:r>
            <a:r>
              <a:rPr lang="en-US" b="0" dirty="0"/>
              <a:t> </a:t>
            </a:r>
            <a:r>
              <a:rPr lang="en-US" b="0" dirty="0">
                <a:solidFill>
                  <a:srgbClr val="FF0000"/>
                </a:solidFill>
              </a:rPr>
              <a:t>AT OMEGA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50411"/>
          <a:stretch/>
        </p:blipFill>
        <p:spPr>
          <a:xfrm>
            <a:off x="293338" y="1276231"/>
            <a:ext cx="1869943" cy="12166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1258246"/>
            <a:ext cx="1800200" cy="12580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3338" y="2516295"/>
            <a:ext cx="1612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B050"/>
                </a:solidFill>
              </a:rPr>
              <a:t>OK</a:t>
            </a:r>
            <a:r>
              <a:rPr lang="en-US" sz="1050" dirty="0"/>
              <a:t> PART MICROSTRCTURE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5613" y="2497088"/>
            <a:ext cx="1612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NG</a:t>
            </a:r>
            <a:r>
              <a:rPr lang="en-US" sz="1050" dirty="0"/>
              <a:t> PART MICROSTRCTURE</a:t>
            </a:r>
          </a:p>
        </p:txBody>
      </p:sp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4517740" y="1559114"/>
            <a:ext cx="3715216" cy="86177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</a:p>
          <a:p>
            <a:pPr algn="l"/>
            <a:r>
              <a:rPr lang="en-US" altLang="en-US" sz="16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No Decarb observed at Crack Portion.</a:t>
            </a:r>
          </a:p>
          <a:p>
            <a:pPr algn="l"/>
            <a:r>
              <a:rPr lang="en-US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Tempered Martensite structure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50" y="2996952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2. </a:t>
            </a:r>
            <a:r>
              <a:rPr lang="en-US" b="0" dirty="0">
                <a:solidFill>
                  <a:srgbClr val="00B050"/>
                </a:solidFill>
              </a:rPr>
              <a:t>OK</a:t>
            </a:r>
            <a:r>
              <a:rPr lang="en-US" b="0" dirty="0"/>
              <a:t> &amp; </a:t>
            </a:r>
            <a:r>
              <a:rPr lang="en-US" b="0" dirty="0">
                <a:solidFill>
                  <a:srgbClr val="FF0000"/>
                </a:solidFill>
              </a:rPr>
              <a:t>NG</a:t>
            </a:r>
            <a:r>
              <a:rPr lang="en-US" b="0" dirty="0"/>
              <a:t> PART COMPARISON DONE FOR </a:t>
            </a:r>
            <a:r>
              <a:rPr lang="en-US" i="1" dirty="0"/>
              <a:t>MICROSTRUCTURE</a:t>
            </a:r>
            <a:r>
              <a:rPr lang="en-US" b="0" dirty="0"/>
              <a:t>  AT </a:t>
            </a:r>
            <a:r>
              <a:rPr lang="en-US" b="0" dirty="0">
                <a:solidFill>
                  <a:srgbClr val="FF0000"/>
                </a:solidFill>
              </a:rPr>
              <a:t>JBIN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4" b="308"/>
          <a:stretch/>
        </p:blipFill>
        <p:spPr>
          <a:xfrm>
            <a:off x="314771" y="3461769"/>
            <a:ext cx="1848510" cy="14419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l="2666"/>
          <a:stretch/>
        </p:blipFill>
        <p:spPr>
          <a:xfrm>
            <a:off x="2345613" y="3461770"/>
            <a:ext cx="1722331" cy="1441986"/>
          </a:xfrm>
          <a:prstGeom prst="rect">
            <a:avLst/>
          </a:prstGeom>
        </p:spPr>
      </p:pic>
      <p:sp>
        <p:nvSpPr>
          <p:cNvPr id="15" name="TextBox 2"/>
          <p:cNvSpPr txBox="1">
            <a:spLocks noChangeArrowheads="1"/>
          </p:cNvSpPr>
          <p:nvPr/>
        </p:nvSpPr>
        <p:spPr bwMode="auto">
          <a:xfrm>
            <a:off x="4517740" y="3863370"/>
            <a:ext cx="4086708" cy="861774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</a:p>
          <a:p>
            <a:pPr algn="l"/>
            <a:r>
              <a:rPr lang="en-US" altLang="en-US" sz="16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Tempered Martensite structure observed</a:t>
            </a:r>
          </a:p>
          <a:p>
            <a:pPr algn="l"/>
            <a:r>
              <a:rPr lang="en-US" alt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RM Level issue not suspected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50" y="5069257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3. SEM TESTING PROCEED AT NG PART LEVEL</a:t>
            </a:r>
            <a:endParaRPr lang="en-US" b="0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/>
          <a:srcRect l="6753" t="3942" r="6753"/>
          <a:stretch/>
        </p:blipFill>
        <p:spPr>
          <a:xfrm>
            <a:off x="314771" y="5428024"/>
            <a:ext cx="1021381" cy="7872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l="6807"/>
          <a:stretch/>
        </p:blipFill>
        <p:spPr>
          <a:xfrm>
            <a:off x="1475656" y="5453164"/>
            <a:ext cx="1008112" cy="7811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9"/>
          <a:srcRect l="9089" t="10356" r="9089" b="10356"/>
          <a:stretch/>
        </p:blipFill>
        <p:spPr>
          <a:xfrm>
            <a:off x="2654577" y="5457966"/>
            <a:ext cx="1060225" cy="7573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10"/>
          <a:srcRect l="5882" b="3002"/>
          <a:stretch/>
        </p:blipFill>
        <p:spPr>
          <a:xfrm>
            <a:off x="3885611" y="5453164"/>
            <a:ext cx="906008" cy="76210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527" y="5277104"/>
            <a:ext cx="2497222" cy="12446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35496" y="6309320"/>
            <a:ext cx="5688632" cy="307777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  <a:r>
              <a:rPr lang="en-US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per SEM Testing Conclusion,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abnormality Observed at RM Level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35496" y="764335"/>
            <a:ext cx="8977942" cy="220307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8768" y="2999220"/>
            <a:ext cx="8984669" cy="194272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5496" y="4941940"/>
            <a:ext cx="8977942" cy="1727420"/>
          </a:xfrm>
          <a:prstGeom prst="rect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IN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25586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6.1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ANALYSIS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836712"/>
            <a:ext cx="896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dirty="0"/>
              <a:t>FTA SHARED BY THE OMEGA CONSIDERING THE POSSIBLE CAUSES </a:t>
            </a:r>
            <a:endParaRPr lang="en-US" b="0" dirty="0">
              <a:solidFill>
                <a:srgbClr val="FF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1383737"/>
            <a:ext cx="8881332" cy="47095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"/>
          <p:cNvSpPr txBox="1">
            <a:spLocks noChangeArrowheads="1"/>
          </p:cNvSpPr>
          <p:nvPr/>
        </p:nvSpPr>
        <p:spPr bwMode="auto">
          <a:xfrm>
            <a:off x="35496" y="6165304"/>
            <a:ext cx="8881332" cy="492443"/>
          </a:xfrm>
          <a:prstGeom prst="rect">
            <a:avLst/>
          </a:prstGeom>
          <a:solidFill>
            <a:srgbClr val="FFE79B"/>
          </a:solidFill>
          <a:ln w="9525">
            <a:noFill/>
            <a:miter lim="800000"/>
            <a:headEnd/>
            <a:tailEnd/>
          </a:ln>
          <a:extLst/>
        </p:spPr>
        <p:txBody>
          <a:bodyPr wrap="square"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Inference:-</a:t>
            </a:r>
            <a:r>
              <a:rPr lang="en-US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Controls Verified by the Omega &amp; Dynamic jointly And No Abnormality Observed. </a:t>
            </a:r>
          </a:p>
          <a:p>
            <a:pPr algn="l"/>
            <a:r>
              <a:rPr lang="en-US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JIN CQA &amp; Plant QA will plan for the Validation Activities at Omega by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Sep’26</a:t>
            </a:r>
          </a:p>
        </p:txBody>
      </p:sp>
    </p:spTree>
    <p:extLst>
      <p:ext uri="{BB962C8B-B14F-4D97-AF65-F5344CB8AC3E}">
        <p14:creationId xmlns:p14="http://schemas.microsoft.com/office/powerpoint/2010/main" val="357212341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745B76-B9B4-49CF-B3A2-A5C3342E9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028185"/>
              </p:ext>
            </p:extLst>
          </p:nvPr>
        </p:nvGraphicFramePr>
        <p:xfrm>
          <a:off x="127284" y="721972"/>
          <a:ext cx="8804376" cy="47232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63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02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S.N.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Ideal</a:t>
                      </a:r>
                      <a:r>
                        <a:rPr lang="en-IN" sz="1400" b="1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Condition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Condition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of Machine 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626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Machine parameter setting 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 and PCS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7975"/>
                  </a:ext>
                </a:extLst>
              </a:tr>
              <a:tr h="3764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 Loading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45857"/>
                  </a:ext>
                </a:extLst>
              </a:tr>
              <a:tr h="41560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the process 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57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Part Unloading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01188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lvl="0" indent="0" algn="ctr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Visual Inspection at MPI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During inspection, hold the part at an angle of approximately 45 degrees and rotate it twice in both the forward and backward directions.  </a:t>
                      </a: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A2D44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011006"/>
                  </a:ext>
                </a:extLst>
              </a:tr>
              <a:tr h="4580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0" i="0" u="none" strike="noStrike" dirty="0">
                        <a:solidFill>
                          <a:srgbClr val="06060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Demagnetization and sent to 100% Gauging 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Follow as per</a:t>
                      </a:r>
                      <a:r>
                        <a:rPr lang="en-IN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Work Instruction and PCS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A2D44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649044"/>
                  </a:ext>
                </a:extLst>
              </a:tr>
              <a:tr h="7735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Operator Concentration and Attention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❶ </a:t>
                      </a: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Operator fatigue observed due to continues inspection under UV light for complete shift </a:t>
                      </a:r>
                    </a:p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(shift is of 11</a:t>
                      </a:r>
                      <a:r>
                        <a:rPr lang="en-IN" sz="1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working hours)</a:t>
                      </a:r>
                      <a:endParaRPr lang="en-IN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Significant</a:t>
                      </a: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840968"/>
                  </a:ext>
                </a:extLst>
              </a:tr>
              <a:tr h="6023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6060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0" i="0" u="none" strike="noStrike" dirty="0">
                        <a:solidFill>
                          <a:srgbClr val="060606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7"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Visual Inspection at Final Stage</a:t>
                      </a:r>
                      <a:endParaRPr lang="en-I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3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❷ 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Only general guidelines for inspection available. Part specific guidelines considering</a:t>
                      </a:r>
                      <a:r>
                        <a:rPr lang="en-US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sequential check points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inspection</a:t>
                      </a:r>
                      <a:r>
                        <a:rPr lang="en-US" sz="1200" b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at Final inspection stage.</a:t>
                      </a:r>
                      <a:endParaRPr lang="en-IN" sz="12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Significant</a:t>
                      </a:r>
                    </a:p>
                    <a:p>
                      <a:pPr marL="0" marR="0" lvl="0" indent="0" algn="l" defTabSz="34283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R="1377" marT="13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620849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0112524-1182-42A2-BE13-7F85D3725473}"/>
              </a:ext>
            </a:extLst>
          </p:cNvPr>
          <p:cNvSpPr txBox="1">
            <a:spLocks/>
          </p:cNvSpPr>
          <p:nvPr/>
        </p:nvSpPr>
        <p:spPr>
          <a:xfrm>
            <a:off x="2339752" y="109668"/>
            <a:ext cx="4896544" cy="612304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sz="1800" kern="0" dirty="0">
                <a:latin typeface="Calibri" panose="020F0502020204030204" pitchFamily="34" charset="0"/>
                <a:cs typeface="Calibri" panose="020F0502020204030204" pitchFamily="34" charset="0"/>
              </a:rPr>
              <a:t>Process verification of MPI  </a:t>
            </a:r>
          </a:p>
          <a:p>
            <a:r>
              <a:rPr lang="en-US" sz="1800" kern="0" dirty="0">
                <a:latin typeface="Calibri" panose="020F0502020204030204" pitchFamily="34" charset="0"/>
                <a:cs typeface="Calibri" panose="020F0502020204030204" pitchFamily="34" charset="0"/>
              </a:rPr>
              <a:t>- Why out flow from Dynamic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7284" y="5445224"/>
            <a:ext cx="88043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u="sng" dirty="0"/>
              <a:t>Action Planned.</a:t>
            </a:r>
          </a:p>
          <a:p>
            <a:pPr algn="l"/>
            <a:endParaRPr lang="en-US" u="sng" dirty="0"/>
          </a:p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❶ </a:t>
            </a:r>
            <a:r>
              <a:rPr lang="en-US" b="0" dirty="0"/>
              <a:t>MPI operator to be changed / rotated every 04 hours  -  10.09.26 (Started)</a:t>
            </a:r>
          </a:p>
          <a:p>
            <a:pPr algn="l"/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❷ </a:t>
            </a:r>
            <a:r>
              <a:rPr lang="en-US" b="0" dirty="0"/>
              <a:t>Final inspection guidelines to be changed for specific crack identification - 12.09.26  (Started)</a:t>
            </a:r>
            <a:endParaRPr lang="en-IN" b="0" dirty="0"/>
          </a:p>
        </p:txBody>
      </p:sp>
      <p:sp>
        <p:nvSpPr>
          <p:cNvPr id="5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</a:t>
            </a:r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.2</a:t>
            </a:r>
          </a:p>
        </p:txBody>
      </p:sp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406971" y="260648"/>
            <a:ext cx="1716757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ANALYSIS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3596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6</a:t>
            </a:r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.3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ACTIVITY PLAN &amp; STATUS 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60071"/>
              </p:ext>
            </p:extLst>
          </p:nvPr>
        </p:nvGraphicFramePr>
        <p:xfrm>
          <a:off x="112545" y="801853"/>
          <a:ext cx="8851943" cy="5363453"/>
        </p:xfrm>
        <a:graphic>
          <a:graphicData uri="http://schemas.openxmlformats.org/drawingml/2006/table">
            <a:tbl>
              <a:tblPr/>
              <a:tblGrid>
                <a:gridCol w="490497">
                  <a:extLst>
                    <a:ext uri="{9D8B030D-6E8A-4147-A177-3AD203B41FA5}">
                      <a16:colId xmlns:a16="http://schemas.microsoft.com/office/drawing/2014/main" val="664756471"/>
                    </a:ext>
                  </a:extLst>
                </a:gridCol>
                <a:gridCol w="2820359">
                  <a:extLst>
                    <a:ext uri="{9D8B030D-6E8A-4147-A177-3AD203B41FA5}">
                      <a16:colId xmlns:a16="http://schemas.microsoft.com/office/drawing/2014/main" val="3273885059"/>
                    </a:ext>
                  </a:extLst>
                </a:gridCol>
                <a:gridCol w="2069285">
                  <a:extLst>
                    <a:ext uri="{9D8B030D-6E8A-4147-A177-3AD203B41FA5}">
                      <a16:colId xmlns:a16="http://schemas.microsoft.com/office/drawing/2014/main" val="1707117975"/>
                    </a:ext>
                  </a:extLst>
                </a:gridCol>
                <a:gridCol w="843043">
                  <a:extLst>
                    <a:ext uri="{9D8B030D-6E8A-4147-A177-3AD203B41FA5}">
                      <a16:colId xmlns:a16="http://schemas.microsoft.com/office/drawing/2014/main" val="2514487004"/>
                    </a:ext>
                  </a:extLst>
                </a:gridCol>
                <a:gridCol w="843043">
                  <a:extLst>
                    <a:ext uri="{9D8B030D-6E8A-4147-A177-3AD203B41FA5}">
                      <a16:colId xmlns:a16="http://schemas.microsoft.com/office/drawing/2014/main" val="526842810"/>
                    </a:ext>
                  </a:extLst>
                </a:gridCol>
                <a:gridCol w="1785716">
                  <a:extLst>
                    <a:ext uri="{9D8B030D-6E8A-4147-A177-3AD203B41FA5}">
                      <a16:colId xmlns:a16="http://schemas.microsoft.com/office/drawing/2014/main" val="4035869691"/>
                    </a:ext>
                  </a:extLst>
                </a:gridCol>
              </a:tblGrid>
              <a:tr h="332954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</a:t>
                      </a:r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PLAN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14441"/>
                  </a:ext>
                </a:extLst>
              </a:tr>
              <a:tr h="2660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S.No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Activity Defined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T.Date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065987"/>
                  </a:ext>
                </a:extLst>
              </a:tr>
              <a:tr h="3325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is doing 200% MPI for crack detection 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Ravi Bajwa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Still no</a:t>
                      </a:r>
                      <a:r>
                        <a:rPr lang="en-US" sz="1100" b="0" i="0" u="none" strike="noStrike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 no NG observed</a:t>
                      </a: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091305"/>
                  </a:ext>
                </a:extLst>
              </a:tr>
              <a:tr h="3876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 JIN Bawal Receiving stage, 100% confirmation visually with magnifying glass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Naresh Gauba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Still no no NG observed</a:t>
                      </a:r>
                      <a:endParaRPr kumimoji="1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D2D8A">
                            <a:lumMod val="60000"/>
                            <a:lumOff val="40000"/>
                          </a:srgbClr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ＭＳ Ｐゴシック"/>
                        <a:cs typeface="+mn-cs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839174"/>
                  </a:ext>
                </a:extLst>
              </a:tr>
              <a:tr h="3655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After Whirling process, 100% visual confirmation with magnifying glass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Rakesh Nain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Still no </a:t>
                      </a:r>
                      <a:r>
                        <a:rPr kumimoji="1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no</a:t>
                      </a:r>
                      <a:r>
                        <a:rPr kumimoji="1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D2D8A">
                              <a:lumMod val="60000"/>
                              <a:lumOff val="40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ＭＳ Ｐゴシック"/>
                          <a:cs typeface="+mn-cs"/>
                        </a:rPr>
                        <a:t> NG observed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035168"/>
                  </a:ext>
                </a:extLst>
              </a:tr>
              <a:tr h="544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Assemble NG worm shaft in C-EPS and performance results to be confirmed(Comparison of Ok &amp; NG Assy)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Rakesh Nain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Performance results observed OK on production line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9137620"/>
                  </a:ext>
                </a:extLst>
              </a:tr>
              <a:tr h="36552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 of Micro-structure And Hardness Inspection of Ok &amp; NG Part at JIN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Naresh Gauba &amp; Yogesh San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 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kumimoji="1" lang="en-US" altLang="en-US" sz="1100" b="0" i="0" u="none" strike="noStrike" kern="1200" baseline="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Structure Observed-Tempered Martensite . - RM Level issue not suspected*</a:t>
                      </a: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716883"/>
                  </a:ext>
                </a:extLst>
              </a:tr>
              <a:tr h="4633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 of Micro-structure And Hardness Inspection of Ok &amp; NG Part at Omega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Omega+Dynamic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Done 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A7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282391"/>
                  </a:ext>
                </a:extLst>
              </a:tr>
              <a:tr h="544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CEPS assembly with one crack worm shaft send to JIN TC for reducer durability testing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Kamal San/Praveen San-JIN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GGN LAB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Oct’26</a:t>
                      </a:r>
                    </a:p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(4</a:t>
                      </a:r>
                      <a:r>
                        <a:rPr lang="en-US" sz="11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Week)</a:t>
                      </a:r>
                    </a:p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Started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604250"/>
                  </a:ext>
                </a:extLst>
              </a:tr>
              <a:tr h="7237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Investigation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Report to be Received from Mukand of the NG Part. </a:t>
                      </a:r>
                    </a:p>
                    <a:p>
                      <a:pPr algn="l" fontAlgn="ctr"/>
                      <a:r>
                        <a:rPr lang="en-US" sz="1100" b="0" i="0" u="none" strike="noStrike" baseline="0" dirty="0">
                          <a:solidFill>
                            <a:srgbClr val="290BDF"/>
                          </a:solidFill>
                          <a:effectLst/>
                          <a:latin typeface="Calibri" panose="020F0502020204030204" pitchFamily="34" charset="0"/>
                        </a:rPr>
                        <a:t>(As per Action plan, Mukand is proceeding for the testing)</a:t>
                      </a:r>
                      <a:endParaRPr lang="en-US" sz="1100" b="0" i="0" u="none" strike="noStrike" dirty="0">
                        <a:solidFill>
                          <a:srgbClr val="290BD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Omega/Dynamic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395492"/>
                  </a:ext>
                </a:extLst>
              </a:tr>
              <a:tr h="518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 activities to be done based on FTA at Omega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Yogesh-CQA/Naresh Gauba-QA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518006"/>
                  </a:ext>
                </a:extLst>
              </a:tr>
              <a:tr h="518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815" marR="6815" marT="681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Outflow</a:t>
                      </a:r>
                      <a:r>
                        <a:rPr 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Root Cause and Permanent Actions to be Shared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25.09.26</a:t>
                      </a: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baseline="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5" marR="6815" marT="68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303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41741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kumimoji="1" lang="en-US" altLang="ko-KR" b="1" dirty="0">
                <a:solidFill>
                  <a:schemeClr val="bg1"/>
                </a:solidFill>
                <a:ea typeface="HY견고딕" pitchFamily="18" charset="-127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4309045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Challenges being faced during analysis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1025441"/>
            <a:ext cx="8928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/>
              <a:t>1.  Both Raw material supplier XXXX &amp; Heat treatment supplier XXX</a:t>
            </a:r>
          </a:p>
          <a:p>
            <a:pPr algn="l"/>
            <a:r>
              <a:rPr lang="en-US" sz="1800" dirty="0"/>
              <a:t>     not ready to accept the defect occurrence at their end</a:t>
            </a:r>
          </a:p>
          <a:p>
            <a:pPr algn="l"/>
            <a:r>
              <a:rPr lang="en-US" sz="1800" dirty="0"/>
              <a:t>     (as per expert – this defect can be occurred during heat treatment (at XXX)</a:t>
            </a:r>
          </a:p>
          <a:p>
            <a:pPr algn="l"/>
            <a:endParaRPr lang="en-US" sz="1800" dirty="0"/>
          </a:p>
          <a:p>
            <a:pPr marL="342900" indent="-342900" algn="l">
              <a:buAutoNum type="arabicPeriod" startAt="2"/>
            </a:pPr>
            <a:r>
              <a:rPr lang="en-US" sz="1800" dirty="0"/>
              <a:t>Facing difficulty in coordinating with all the 03 suppliers for analysis.</a:t>
            </a:r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8226332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BEB51F-D199-4F74-BEEA-DB695BCA13E1}" type="slidenum">
              <a:rPr lang="en-IN" smtClean="0"/>
              <a:t>14</a:t>
            </a:fld>
            <a:endParaRPr lang="en-IN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1930303-5EDF-40F0-B797-EA42281FFD81}"/>
              </a:ext>
            </a:extLst>
          </p:cNvPr>
          <p:cNvSpPr/>
          <p:nvPr/>
        </p:nvSpPr>
        <p:spPr>
          <a:xfrm>
            <a:off x="9726216" y="8721329"/>
            <a:ext cx="89297" cy="84534"/>
          </a:xfrm>
          <a:prstGeom prst="triangle">
            <a:avLst/>
          </a:prstGeom>
          <a:noFill/>
          <a:ln w="1270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825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1930303-5EDF-40F0-B797-EA42281FFD81}"/>
              </a:ext>
            </a:extLst>
          </p:cNvPr>
          <p:cNvSpPr/>
          <p:nvPr/>
        </p:nvSpPr>
        <p:spPr>
          <a:xfrm>
            <a:off x="9734550" y="9654779"/>
            <a:ext cx="89297" cy="83344"/>
          </a:xfrm>
          <a:prstGeom prst="triangle">
            <a:avLst/>
          </a:prstGeom>
          <a:noFill/>
          <a:ln w="12700"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825"/>
          </a:p>
        </p:txBody>
      </p:sp>
      <p:sp>
        <p:nvSpPr>
          <p:cNvPr id="3" name="TextBox 2"/>
          <p:cNvSpPr txBox="1"/>
          <p:nvPr/>
        </p:nvSpPr>
        <p:spPr>
          <a:xfrm>
            <a:off x="2123728" y="2996952"/>
            <a:ext cx="43204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90BDF"/>
                </a:solidFill>
              </a:rPr>
              <a:t>Thank You</a:t>
            </a:r>
            <a:endParaRPr lang="en-IN" sz="4400" dirty="0">
              <a:solidFill>
                <a:srgbClr val="290BD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39960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/>
          <p:cNvSpPr>
            <a:spLocks noChangeArrowheads="1"/>
          </p:cNvSpPr>
          <p:nvPr/>
        </p:nvSpPr>
        <p:spPr bwMode="auto">
          <a:xfrm>
            <a:off x="35496" y="260648"/>
            <a:ext cx="515684" cy="339196"/>
          </a:xfrm>
          <a:prstGeom prst="rect">
            <a:avLst/>
          </a:prstGeom>
          <a:gradFill rotWithShape="0">
            <a:gsLst>
              <a:gs pos="0">
                <a:srgbClr val="3366CC">
                  <a:gamma/>
                  <a:shade val="9020"/>
                  <a:invGamma/>
                </a:srgbClr>
              </a:gs>
              <a:gs pos="50000">
                <a:srgbClr val="3366CC"/>
              </a:gs>
              <a:gs pos="100000">
                <a:srgbClr val="3366CC">
                  <a:gamma/>
                  <a:shade val="9020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endParaRPr kumimoji="1" lang="en-US" altLang="ko-KR" b="1" dirty="0">
              <a:solidFill>
                <a:schemeClr val="bg1"/>
              </a:solidFill>
              <a:ea typeface="HY견고딕" pitchFamily="18" charset="-127"/>
              <a:cs typeface="Times New Roman" panose="02020603050405020304" pitchFamily="18" charset="0"/>
            </a:endParaRPr>
          </a:p>
        </p:txBody>
      </p:sp>
      <p:sp>
        <p:nvSpPr>
          <p:cNvPr id="5" name="Rectangle 32"/>
          <p:cNvSpPr>
            <a:spLocks noChangeArrowheads="1"/>
          </p:cNvSpPr>
          <p:nvPr/>
        </p:nvSpPr>
        <p:spPr bwMode="auto">
          <a:xfrm>
            <a:off x="406971" y="260648"/>
            <a:ext cx="2972893" cy="339196"/>
          </a:xfrm>
          <a:prstGeom prst="rect">
            <a:avLst/>
          </a:prstGeom>
          <a:gradFill rotWithShape="0">
            <a:gsLst>
              <a:gs pos="0">
                <a:srgbClr val="99CCFF"/>
              </a:gs>
              <a:gs pos="100000">
                <a:srgbClr val="99CCFF">
                  <a:gamma/>
                  <a:tint val="12157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 lIns="92075" tIns="46038" rIns="92075" bIns="46038">
            <a:spAutoFit/>
          </a:bodyPr>
          <a:lstStyle/>
          <a:p>
            <a:pPr algn="l" eaLnBrk="1" hangingPunct="1"/>
            <a:r>
              <a:rPr lang="en-US" altLang="ko-KR" dirty="0">
                <a:ea typeface="HY견고딕" pitchFamily="18" charset="-127"/>
                <a:cs typeface="Times New Roman" panose="02020603050405020304" pitchFamily="18" charset="0"/>
              </a:rPr>
              <a:t>Suspected Quantity</a:t>
            </a:r>
            <a:endParaRPr kumimoji="1" lang="en-US" altLang="ko-KR" b="1" dirty="0">
              <a:ea typeface="HY견고딕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238886"/>
              </p:ext>
            </p:extLst>
          </p:nvPr>
        </p:nvGraphicFramePr>
        <p:xfrm>
          <a:off x="179512" y="836712"/>
          <a:ext cx="8784976" cy="5616628"/>
        </p:xfrm>
        <a:graphic>
          <a:graphicData uri="http://schemas.openxmlformats.org/drawingml/2006/table">
            <a:tbl>
              <a:tblPr/>
              <a:tblGrid>
                <a:gridCol w="429451">
                  <a:extLst>
                    <a:ext uri="{9D8B030D-6E8A-4147-A177-3AD203B41FA5}">
                      <a16:colId xmlns:a16="http://schemas.microsoft.com/office/drawing/2014/main" val="2928844828"/>
                    </a:ext>
                  </a:extLst>
                </a:gridCol>
                <a:gridCol w="370403">
                  <a:extLst>
                    <a:ext uri="{9D8B030D-6E8A-4147-A177-3AD203B41FA5}">
                      <a16:colId xmlns:a16="http://schemas.microsoft.com/office/drawing/2014/main" val="186501804"/>
                    </a:ext>
                  </a:extLst>
                </a:gridCol>
                <a:gridCol w="332826">
                  <a:extLst>
                    <a:ext uri="{9D8B030D-6E8A-4147-A177-3AD203B41FA5}">
                      <a16:colId xmlns:a16="http://schemas.microsoft.com/office/drawing/2014/main" val="2315277142"/>
                    </a:ext>
                  </a:extLst>
                </a:gridCol>
                <a:gridCol w="332826">
                  <a:extLst>
                    <a:ext uri="{9D8B030D-6E8A-4147-A177-3AD203B41FA5}">
                      <a16:colId xmlns:a16="http://schemas.microsoft.com/office/drawing/2014/main" val="248771155"/>
                    </a:ext>
                  </a:extLst>
                </a:gridCol>
                <a:gridCol w="445557">
                  <a:extLst>
                    <a:ext uri="{9D8B030D-6E8A-4147-A177-3AD203B41FA5}">
                      <a16:colId xmlns:a16="http://schemas.microsoft.com/office/drawing/2014/main" val="2032489529"/>
                    </a:ext>
                  </a:extLst>
                </a:gridCol>
                <a:gridCol w="445557">
                  <a:extLst>
                    <a:ext uri="{9D8B030D-6E8A-4147-A177-3AD203B41FA5}">
                      <a16:colId xmlns:a16="http://schemas.microsoft.com/office/drawing/2014/main" val="3874813850"/>
                    </a:ext>
                  </a:extLst>
                </a:gridCol>
                <a:gridCol w="381139">
                  <a:extLst>
                    <a:ext uri="{9D8B030D-6E8A-4147-A177-3AD203B41FA5}">
                      <a16:colId xmlns:a16="http://schemas.microsoft.com/office/drawing/2014/main" val="4255395763"/>
                    </a:ext>
                  </a:extLst>
                </a:gridCol>
                <a:gridCol w="332826">
                  <a:extLst>
                    <a:ext uri="{9D8B030D-6E8A-4147-A177-3AD203B41FA5}">
                      <a16:colId xmlns:a16="http://schemas.microsoft.com/office/drawing/2014/main" val="1422174686"/>
                    </a:ext>
                  </a:extLst>
                </a:gridCol>
                <a:gridCol w="386507">
                  <a:extLst>
                    <a:ext uri="{9D8B030D-6E8A-4147-A177-3AD203B41FA5}">
                      <a16:colId xmlns:a16="http://schemas.microsoft.com/office/drawing/2014/main" val="1396568076"/>
                    </a:ext>
                  </a:extLst>
                </a:gridCol>
                <a:gridCol w="386507">
                  <a:extLst>
                    <a:ext uri="{9D8B030D-6E8A-4147-A177-3AD203B41FA5}">
                      <a16:colId xmlns:a16="http://schemas.microsoft.com/office/drawing/2014/main" val="3286691939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1897712811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3288795315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3975940510"/>
                    </a:ext>
                  </a:extLst>
                </a:gridCol>
                <a:gridCol w="354297">
                  <a:extLst>
                    <a:ext uri="{9D8B030D-6E8A-4147-A177-3AD203B41FA5}">
                      <a16:colId xmlns:a16="http://schemas.microsoft.com/office/drawing/2014/main" val="3151045442"/>
                    </a:ext>
                  </a:extLst>
                </a:gridCol>
                <a:gridCol w="520711">
                  <a:extLst>
                    <a:ext uri="{9D8B030D-6E8A-4147-A177-3AD203B41FA5}">
                      <a16:colId xmlns:a16="http://schemas.microsoft.com/office/drawing/2014/main" val="2405626277"/>
                    </a:ext>
                  </a:extLst>
                </a:gridCol>
                <a:gridCol w="520711">
                  <a:extLst>
                    <a:ext uri="{9D8B030D-6E8A-4147-A177-3AD203B41FA5}">
                      <a16:colId xmlns:a16="http://schemas.microsoft.com/office/drawing/2014/main" val="2989307586"/>
                    </a:ext>
                  </a:extLst>
                </a:gridCol>
                <a:gridCol w="520711">
                  <a:extLst>
                    <a:ext uri="{9D8B030D-6E8A-4147-A177-3AD203B41FA5}">
                      <a16:colId xmlns:a16="http://schemas.microsoft.com/office/drawing/2014/main" val="2660074124"/>
                    </a:ext>
                  </a:extLst>
                </a:gridCol>
                <a:gridCol w="579760">
                  <a:extLst>
                    <a:ext uri="{9D8B030D-6E8A-4147-A177-3AD203B41FA5}">
                      <a16:colId xmlns:a16="http://schemas.microsoft.com/office/drawing/2014/main" val="2802234460"/>
                    </a:ext>
                  </a:extLst>
                </a:gridCol>
                <a:gridCol w="383822">
                  <a:extLst>
                    <a:ext uri="{9D8B030D-6E8A-4147-A177-3AD203B41FA5}">
                      <a16:colId xmlns:a16="http://schemas.microsoft.com/office/drawing/2014/main" val="2885311883"/>
                    </a:ext>
                  </a:extLst>
                </a:gridCol>
                <a:gridCol w="582443">
                  <a:extLst>
                    <a:ext uri="{9D8B030D-6E8A-4147-A177-3AD203B41FA5}">
                      <a16:colId xmlns:a16="http://schemas.microsoft.com/office/drawing/2014/main" val="3766463897"/>
                    </a:ext>
                  </a:extLst>
                </a:gridCol>
                <a:gridCol w="416031">
                  <a:extLst>
                    <a:ext uri="{9D8B030D-6E8A-4147-A177-3AD203B41FA5}">
                      <a16:colId xmlns:a16="http://schemas.microsoft.com/office/drawing/2014/main" val="849961341"/>
                    </a:ext>
                  </a:extLst>
                </a:gridCol>
              </a:tblGrid>
              <a:tr h="235052">
                <a:tc gridSpan="2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WORM SHAFT CRACK PART TRACEABILITY DETAIL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(SUSPECTED HEAT CODE-M215871)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582872"/>
                  </a:ext>
                </a:extLst>
              </a:tr>
              <a:tr h="13622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Mukund to Omega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OMEGA Process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6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 BAWAL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13698"/>
                  </a:ext>
                </a:extLst>
              </a:tr>
              <a:tr h="136227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IMT Faridabad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Sector 24 Plant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84433"/>
                  </a:ext>
                </a:extLst>
              </a:tr>
              <a:tr h="37178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b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 Treatment &amp; Peeling Date</a:t>
                      </a:r>
                      <a:b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(HT)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b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Peeling + HT Qty</a:t>
                      </a:r>
                      <a:b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(KG)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Scrap Qty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(KG)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Pickling + Drawing + Grinding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Pickling + Drawing + Grinding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Scrap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OK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Remaining</a:t>
                      </a:r>
                      <a:b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A-(B+C+D+E)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Recd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Production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Rej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Despatch to JIN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Opening Qty for next month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JIN Receiving Month/Date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CEPS Despatch Date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C-EPS Despatch QTY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56063"/>
                  </a:ext>
                </a:extLst>
              </a:tr>
              <a:tr h="1191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2F75B5"/>
                          </a:solidFill>
                          <a:effectLst/>
                          <a:latin typeface="Calibri" panose="020F0502020204030204" pitchFamily="34" charset="0"/>
                        </a:rPr>
                        <a:t>In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In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605138"/>
                  </a:ext>
                </a:extLst>
              </a:tr>
              <a:tr h="13197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Heat-M215871</a:t>
                      </a:r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First Receiving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6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14.05.2026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28.05.26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31908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318899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02.06.26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89655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04.06.26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04420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17.06.26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357415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30.05.2026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42811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257290"/>
                  </a:ext>
                </a:extLst>
              </a:tr>
              <a:tr h="13197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20.06.2026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27.06.2026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29.06.2026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722179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30.06.2026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962192"/>
                  </a:ext>
                </a:extLst>
              </a:tr>
              <a:tr h="13197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01.07.2026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93895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19209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088048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13.08.26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Aug'26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26232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17.07.2026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985575"/>
                  </a:ext>
                </a:extLst>
              </a:tr>
              <a:tr h="131970"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31.07.2026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18.08.26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13468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970954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05497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27.08.26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05.09.2026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9" gridSpan="2">
                  <a:txBody>
                    <a:bodyPr/>
                    <a:lstStyle/>
                    <a:p>
                      <a:pPr algn="l" fontAlgn="t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&gt; From 05th to 08th of Sep, Suspected lot despach to customer.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Total dispatch to customer - 4800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(out of 5649 nos, 849 is with other heat material)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9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629293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06.09.2026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855778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07.09.2026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049558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03-Sep-26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890864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03-Sep-26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132960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53911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709757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071497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08-Sep-26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411589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Consumed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67391"/>
                  </a:ext>
                </a:extLst>
              </a:tr>
              <a:tr h="13197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24.08.2026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765586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30990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27710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129644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281300"/>
                  </a:ext>
                </a:extLst>
              </a:tr>
              <a:tr h="13197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 at Dynamic-FG Qty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1005 Nos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Till 08th of Sep'26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046526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 Material at RM Stage(Dynamic)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1250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589720"/>
                  </a:ext>
                </a:extLst>
              </a:tr>
              <a:tr h="238397"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Pending at Omega End</a:t>
                      </a:r>
                      <a:br>
                        <a:rPr lang="en-IN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(Ok Qty at Omega-Total Received at Dynamic)</a:t>
                      </a: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1744 KG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21908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Receiving of Last Suspected lot at Omega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31.07.26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26389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at Dynamic End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27.08.26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890305"/>
                  </a:ext>
                </a:extLst>
              </a:tr>
              <a:tr h="131970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Received at JTEKT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289510"/>
                  </a:ext>
                </a:extLst>
              </a:tr>
              <a:tr h="156701"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IN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Dispatch to Customer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05.09.26 to 08.09.26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0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2495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デザインの設定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ＭＳ Ｐゴシック" charset="-128"/>
          </a:defRPr>
        </a:defPPr>
      </a:lstStyle>
    </a:lnDef>
  </a:objectDefaults>
  <a:extraClrSchemeLst>
    <a:extraClrScheme>
      <a:clrScheme name="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193D7C3170FA545941887B212AC306E" ma:contentTypeVersion="0" ma:contentTypeDescription="新しいドキュメントを作成します。" ma:contentTypeScope="" ma:versionID="afcf668949cdd8c0fbbf61c1facb1d16">
  <xsd:schema xmlns:xsd="http://www.w3.org/2001/XMLSchema" xmlns:p="http://schemas.microsoft.com/office/2006/metadata/properties" targetNamespace="http://schemas.microsoft.com/office/2006/metadata/properties" ma:root="true" ma:fieldsID="f4cff559f9a06213828a8956bc5bb22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 ma:readOnly="true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BB636D-F13E-47F2-9A4C-FC2B3C4C5F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168D26-3FBF-4A4A-9B89-611D11F32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8EACA5CC-29F5-442B-A406-DF53029F78C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128883</TotalTime>
  <Words>2164</Words>
  <Application>Microsoft Office PowerPoint</Application>
  <PresentationFormat>On-screen Show (4:3)</PresentationFormat>
  <Paragraphs>744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ＭＳ Ｐゴシック</vt:lpstr>
      <vt:lpstr>ＭＳ Ｐゴシック</vt:lpstr>
      <vt:lpstr>ＭＳ Ｐ明朝</vt:lpstr>
      <vt:lpstr>Arial</vt:lpstr>
      <vt:lpstr>Arial Narrow</vt:lpstr>
      <vt:lpstr>Calibri</vt:lpstr>
      <vt:lpstr>Calibri Light</vt:lpstr>
      <vt:lpstr>HY견고딕</vt:lpstr>
      <vt:lpstr>Times New Roman</vt:lpstr>
      <vt:lpstr>Wingdings</vt:lpstr>
      <vt:lpstr>Custom Design</vt:lpstr>
      <vt:lpstr>1_デザインの設定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株式会社ジェイテクト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PPTマスタ（統合ロゴ入り）</dc:title>
  <dc:creator>広報部</dc:creator>
  <cp:lastModifiedBy>Avishek Singh</cp:lastModifiedBy>
  <cp:revision>9947</cp:revision>
  <cp:lastPrinted>2009-05-12T04:23:46Z</cp:lastPrinted>
  <dcterms:created xsi:type="dcterms:W3CDTF">2005-01-07T08:52:57Z</dcterms:created>
  <dcterms:modified xsi:type="dcterms:W3CDTF">2026-09-25T11:25:53Z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0008003629000000000001023560</vt:lpwstr>
  </property>
  <property fmtid="{D5CDD505-2E9C-101B-9397-08002B2CF9AE}" pid="3" name="ContentTypeId">
    <vt:lpwstr>0x0101001193D7C3170FA545941887B212AC306E</vt:lpwstr>
  </property>
</Properties>
</file>