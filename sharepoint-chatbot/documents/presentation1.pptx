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4"/>
  </p:sldMasterIdLst>
  <p:notesMasterIdLst>
    <p:notesMasterId r:id="rId11"/>
  </p:notesMasterIdLst>
  <p:handoutMasterIdLst>
    <p:handoutMasterId r:id="rId12"/>
  </p:handoutMasterIdLst>
  <p:sldIdLst>
    <p:sldId id="1221" r:id="rId5"/>
    <p:sldId id="1239" r:id="rId6"/>
    <p:sldId id="1181" r:id="rId7"/>
    <p:sldId id="1245" r:id="rId8"/>
    <p:sldId id="1246" r:id="rId9"/>
    <p:sldId id="1247" r:id="rId10"/>
  </p:sldIdLst>
  <p:sldSz cx="9144000" cy="6858000" type="screen4x3"/>
  <p:notesSz cx="6735763" cy="9866313"/>
  <p:defaultTextStyle>
    <a:defPPr>
      <a:defRPr lang="ja-JP"/>
    </a:defPPr>
    <a:lvl1pPr algn="ctr" rtl="0" fontAlgn="base">
      <a:spcBef>
        <a:spcPct val="0"/>
      </a:spcBef>
      <a:spcAft>
        <a:spcPct val="0"/>
      </a:spcAft>
      <a:defRPr kumimoji="1" sz="1600" b="1" kern="1200">
        <a:solidFill>
          <a:schemeClr val="tx1"/>
        </a:solidFill>
        <a:latin typeface="Times New Roman" pitchFamily="18" charset="0"/>
        <a:ea typeface="ＭＳ Ｐゴシック" charset="-128"/>
        <a:cs typeface="+mn-cs"/>
      </a:defRPr>
    </a:lvl1pPr>
    <a:lvl2pPr marL="457200" algn="ctr" rtl="0" fontAlgn="base">
      <a:spcBef>
        <a:spcPct val="0"/>
      </a:spcBef>
      <a:spcAft>
        <a:spcPct val="0"/>
      </a:spcAft>
      <a:defRPr kumimoji="1" sz="1600" b="1" kern="1200">
        <a:solidFill>
          <a:schemeClr val="tx1"/>
        </a:solidFill>
        <a:latin typeface="Times New Roman" pitchFamily="18" charset="0"/>
        <a:ea typeface="ＭＳ Ｐゴシック" charset="-128"/>
        <a:cs typeface="+mn-cs"/>
      </a:defRPr>
    </a:lvl2pPr>
    <a:lvl3pPr marL="914400" algn="ctr" rtl="0" fontAlgn="base">
      <a:spcBef>
        <a:spcPct val="0"/>
      </a:spcBef>
      <a:spcAft>
        <a:spcPct val="0"/>
      </a:spcAft>
      <a:defRPr kumimoji="1" sz="1600" b="1" kern="1200">
        <a:solidFill>
          <a:schemeClr val="tx1"/>
        </a:solidFill>
        <a:latin typeface="Times New Roman" pitchFamily="18" charset="0"/>
        <a:ea typeface="ＭＳ Ｐゴシック" charset="-128"/>
        <a:cs typeface="+mn-cs"/>
      </a:defRPr>
    </a:lvl3pPr>
    <a:lvl4pPr marL="1371600" algn="ctr" rtl="0" fontAlgn="base">
      <a:spcBef>
        <a:spcPct val="0"/>
      </a:spcBef>
      <a:spcAft>
        <a:spcPct val="0"/>
      </a:spcAft>
      <a:defRPr kumimoji="1" sz="1600" b="1" kern="1200">
        <a:solidFill>
          <a:schemeClr val="tx1"/>
        </a:solidFill>
        <a:latin typeface="Times New Roman" pitchFamily="18" charset="0"/>
        <a:ea typeface="ＭＳ Ｐゴシック" charset="-128"/>
        <a:cs typeface="+mn-cs"/>
      </a:defRPr>
    </a:lvl4pPr>
    <a:lvl5pPr marL="1828800" algn="ctr" rtl="0" fontAlgn="base">
      <a:spcBef>
        <a:spcPct val="0"/>
      </a:spcBef>
      <a:spcAft>
        <a:spcPct val="0"/>
      </a:spcAft>
      <a:defRPr kumimoji="1" sz="16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6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6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6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600" b="1" kern="1200">
        <a:solidFill>
          <a:schemeClr val="tx1"/>
        </a:solidFill>
        <a:latin typeface="Times New Roman" pitchFamily="18" charset="0"/>
        <a:ea typeface="ＭＳ Ｐゴシック" charset="-128"/>
        <a:cs typeface="+mn-cs"/>
      </a:defRPr>
    </a:lvl9pPr>
  </p:defaultTextStyle>
  <p:extLst>
    <p:ext uri="{EFAFB233-063F-42B5-8137-9DF3F51BA10A}">
      <p15:sldGuideLst xmlns:p15="http://schemas.microsoft.com/office/powerpoint/2012/main">
        <p15:guide id="1" orient="horz" pos="2160">
          <p15:clr>
            <a:srgbClr val="A4A3A4"/>
          </p15:clr>
        </p15:guide>
        <p15:guide id="2" pos="2928">
          <p15:clr>
            <a:srgbClr val="A4A3A4"/>
          </p15:clr>
        </p15:guide>
      </p15:sldGuideLst>
    </p:ext>
    <p:ext uri="{2D200454-40CA-4A62-9FC3-DE9A4176ACB9}">
      <p15:notesGuideLst xmlns:p15="http://schemas.microsoft.com/office/powerpoint/2012/main">
        <p15:guide id="1" orient="horz" pos="3107">
          <p15:clr>
            <a:srgbClr val="A4A3A4"/>
          </p15:clr>
        </p15:guide>
        <p15:guide id="2" pos="212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3300"/>
    <a:srgbClr val="0000FF"/>
    <a:srgbClr val="F4CCA4"/>
    <a:srgbClr val="66FF33"/>
    <a:srgbClr val="FF9966"/>
    <a:srgbClr val="FFCCFF"/>
    <a:srgbClr val="FF6699"/>
    <a:srgbClr val="66FFFF"/>
    <a:srgbClr val="CCFFFF"/>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061" autoAdjust="0"/>
    <p:restoredTop sz="94343" autoAdjust="0"/>
  </p:normalViewPr>
  <p:slideViewPr>
    <p:cSldViewPr>
      <p:cViewPr varScale="1">
        <p:scale>
          <a:sx n="73" d="100"/>
          <a:sy n="73" d="100"/>
        </p:scale>
        <p:origin x="1444" y="48"/>
      </p:cViewPr>
      <p:guideLst>
        <p:guide orient="horz" pos="2160"/>
        <p:guide pos="292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5" d="100"/>
        <a:sy n="75" d="100"/>
      </p:scale>
      <p:origin x="0" y="0"/>
    </p:cViewPr>
  </p:sorterViewPr>
  <p:notesViewPr>
    <p:cSldViewPr>
      <p:cViewPr>
        <p:scale>
          <a:sx n="80" d="100"/>
          <a:sy n="80" d="100"/>
        </p:scale>
        <p:origin x="-1188" y="96"/>
      </p:cViewPr>
      <p:guideLst>
        <p:guide orient="horz" pos="3107"/>
        <p:guide pos="2121"/>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4690" name="Rectangle 2"/>
          <p:cNvSpPr>
            <a:spLocks noGrp="1" noChangeArrowheads="1"/>
          </p:cNvSpPr>
          <p:nvPr>
            <p:ph type="hdr" sz="quarter"/>
          </p:nvPr>
        </p:nvSpPr>
        <p:spPr bwMode="auto">
          <a:xfrm>
            <a:off x="0" y="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25" tIns="45713" rIns="91425" bIns="45713" numCol="1" anchor="t" anchorCtr="0" compatLnSpc="1">
            <a:prstTxWarp prst="textNoShape">
              <a:avLst/>
            </a:prstTxWarp>
          </a:bodyPr>
          <a:lstStyle>
            <a:lvl1pPr algn="l" eaLnBrk="0" hangingPunct="0">
              <a:spcBef>
                <a:spcPct val="50000"/>
              </a:spcBef>
              <a:defRPr sz="1200"/>
            </a:lvl1pPr>
          </a:lstStyle>
          <a:p>
            <a:endParaRPr lang="en-US" altLang="ja-JP" dirty="0"/>
          </a:p>
        </p:txBody>
      </p:sp>
      <p:sp>
        <p:nvSpPr>
          <p:cNvPr id="114691" name="Rectangle 3"/>
          <p:cNvSpPr>
            <a:spLocks noGrp="1" noChangeArrowheads="1"/>
          </p:cNvSpPr>
          <p:nvPr>
            <p:ph type="dt" sz="quarter" idx="1"/>
          </p:nvPr>
        </p:nvSpPr>
        <p:spPr bwMode="auto">
          <a:xfrm>
            <a:off x="3810000" y="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25" tIns="45713" rIns="91425" bIns="45713" numCol="1" anchor="t" anchorCtr="0" compatLnSpc="1">
            <a:prstTxWarp prst="textNoShape">
              <a:avLst/>
            </a:prstTxWarp>
          </a:bodyPr>
          <a:lstStyle>
            <a:lvl1pPr algn="r" eaLnBrk="0" hangingPunct="0">
              <a:spcBef>
                <a:spcPct val="50000"/>
              </a:spcBef>
              <a:defRPr sz="1200"/>
            </a:lvl1pPr>
          </a:lstStyle>
          <a:p>
            <a:endParaRPr lang="en-US" altLang="ja-JP" dirty="0"/>
          </a:p>
        </p:txBody>
      </p:sp>
      <p:sp>
        <p:nvSpPr>
          <p:cNvPr id="114692" name="Rectangle 4"/>
          <p:cNvSpPr>
            <a:spLocks noGrp="1" noChangeArrowheads="1"/>
          </p:cNvSpPr>
          <p:nvPr>
            <p:ph type="ftr" sz="quarter" idx="2"/>
          </p:nvPr>
        </p:nvSpPr>
        <p:spPr bwMode="auto">
          <a:xfrm>
            <a:off x="0" y="93726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25" tIns="45713" rIns="91425" bIns="45713" numCol="1" anchor="b" anchorCtr="0" compatLnSpc="1">
            <a:prstTxWarp prst="textNoShape">
              <a:avLst/>
            </a:prstTxWarp>
          </a:bodyPr>
          <a:lstStyle>
            <a:lvl1pPr algn="l" eaLnBrk="0" hangingPunct="0">
              <a:spcBef>
                <a:spcPct val="50000"/>
              </a:spcBef>
              <a:defRPr sz="1200"/>
            </a:lvl1pPr>
          </a:lstStyle>
          <a:p>
            <a:endParaRPr lang="en-US" altLang="ja-JP" dirty="0"/>
          </a:p>
        </p:txBody>
      </p:sp>
      <p:sp>
        <p:nvSpPr>
          <p:cNvPr id="114693" name="Rectangle 5"/>
          <p:cNvSpPr>
            <a:spLocks noGrp="1" noChangeArrowheads="1"/>
          </p:cNvSpPr>
          <p:nvPr>
            <p:ph type="sldNum" sz="quarter" idx="3"/>
          </p:nvPr>
        </p:nvSpPr>
        <p:spPr bwMode="auto">
          <a:xfrm>
            <a:off x="3810000" y="93726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25" tIns="45713" rIns="91425" bIns="45713" numCol="1" anchor="b" anchorCtr="0" compatLnSpc="1">
            <a:prstTxWarp prst="textNoShape">
              <a:avLst/>
            </a:prstTxWarp>
          </a:bodyPr>
          <a:lstStyle>
            <a:lvl1pPr algn="r" eaLnBrk="0" hangingPunct="0">
              <a:spcBef>
                <a:spcPct val="50000"/>
              </a:spcBef>
              <a:defRPr sz="1200"/>
            </a:lvl1pPr>
          </a:lstStyle>
          <a:p>
            <a:fld id="{092CF6AF-2ABC-45BB-86AD-CD651C38652D}" type="slidenum">
              <a:rPr lang="en-US" altLang="ja-JP"/>
              <a:pPr/>
              <a:t>‹#›</a:t>
            </a:fld>
            <a:endParaRPr lang="en-US" altLang="ja-JP" dirty="0"/>
          </a:p>
        </p:txBody>
      </p:sp>
    </p:spTree>
    <p:extLst>
      <p:ext uri="{BB962C8B-B14F-4D97-AF65-F5344CB8AC3E}">
        <p14:creationId xmlns:p14="http://schemas.microsoft.com/office/powerpoint/2010/main" val="28272727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19413" cy="493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25" tIns="45713" rIns="91425" bIns="45713" numCol="1" anchor="t" anchorCtr="0" compatLnSpc="1">
            <a:prstTxWarp prst="textNoShape">
              <a:avLst/>
            </a:prstTxWarp>
          </a:bodyPr>
          <a:lstStyle>
            <a:lvl1pPr algn="l">
              <a:defRPr sz="1200" b="0">
                <a:latin typeface="Arial" charset="0"/>
              </a:defRPr>
            </a:lvl1pPr>
          </a:lstStyle>
          <a:p>
            <a:endParaRPr lang="en-US" altLang="ja-JP" dirty="0"/>
          </a:p>
        </p:txBody>
      </p:sp>
      <p:sp>
        <p:nvSpPr>
          <p:cNvPr id="4099" name="Rectangle 3"/>
          <p:cNvSpPr>
            <a:spLocks noGrp="1" noChangeArrowheads="1"/>
          </p:cNvSpPr>
          <p:nvPr>
            <p:ph type="dt" idx="1"/>
          </p:nvPr>
        </p:nvSpPr>
        <p:spPr bwMode="auto">
          <a:xfrm>
            <a:off x="3814763" y="0"/>
            <a:ext cx="2919412" cy="493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25" tIns="45713" rIns="91425" bIns="45713" numCol="1" anchor="t" anchorCtr="0" compatLnSpc="1">
            <a:prstTxWarp prst="textNoShape">
              <a:avLst/>
            </a:prstTxWarp>
          </a:bodyPr>
          <a:lstStyle>
            <a:lvl1pPr algn="r">
              <a:defRPr sz="1200" b="0">
                <a:latin typeface="Arial" charset="0"/>
              </a:defRPr>
            </a:lvl1pPr>
          </a:lstStyle>
          <a:p>
            <a:endParaRPr lang="en-US" altLang="ja-JP" dirty="0"/>
          </a:p>
        </p:txBody>
      </p:sp>
      <p:sp>
        <p:nvSpPr>
          <p:cNvPr id="4100" name="Rectangle 4"/>
          <p:cNvSpPr>
            <a:spLocks noGrp="1" noRot="1" noChangeAspect="1" noChangeArrowheads="1" noTextEdit="1"/>
          </p:cNvSpPr>
          <p:nvPr>
            <p:ph type="sldImg" idx="2"/>
          </p:nvPr>
        </p:nvSpPr>
        <p:spPr bwMode="auto">
          <a:xfrm>
            <a:off x="901700" y="739775"/>
            <a:ext cx="4933950" cy="3700463"/>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101" name="Rectangle 5"/>
          <p:cNvSpPr>
            <a:spLocks noGrp="1" noChangeArrowheads="1"/>
          </p:cNvSpPr>
          <p:nvPr>
            <p:ph type="body" sz="quarter" idx="3"/>
          </p:nvPr>
        </p:nvSpPr>
        <p:spPr bwMode="auto">
          <a:xfrm>
            <a:off x="673100" y="4686300"/>
            <a:ext cx="5389563" cy="4440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25" tIns="45713" rIns="91425" bIns="45713"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102" name="Rectangle 6"/>
          <p:cNvSpPr>
            <a:spLocks noGrp="1" noChangeArrowheads="1"/>
          </p:cNvSpPr>
          <p:nvPr>
            <p:ph type="ftr" sz="quarter" idx="4"/>
          </p:nvPr>
        </p:nvSpPr>
        <p:spPr bwMode="auto">
          <a:xfrm>
            <a:off x="0" y="9371013"/>
            <a:ext cx="2919413" cy="493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25" tIns="45713" rIns="91425" bIns="45713" numCol="1" anchor="b" anchorCtr="0" compatLnSpc="1">
            <a:prstTxWarp prst="textNoShape">
              <a:avLst/>
            </a:prstTxWarp>
          </a:bodyPr>
          <a:lstStyle>
            <a:lvl1pPr algn="l">
              <a:defRPr sz="1200" b="0">
                <a:latin typeface="Arial" charset="0"/>
              </a:defRPr>
            </a:lvl1pPr>
          </a:lstStyle>
          <a:p>
            <a:endParaRPr lang="en-US" altLang="ja-JP" dirty="0"/>
          </a:p>
        </p:txBody>
      </p:sp>
      <p:sp>
        <p:nvSpPr>
          <p:cNvPr id="4103" name="Rectangle 7"/>
          <p:cNvSpPr>
            <a:spLocks noGrp="1" noChangeArrowheads="1"/>
          </p:cNvSpPr>
          <p:nvPr>
            <p:ph type="sldNum" sz="quarter" idx="5"/>
          </p:nvPr>
        </p:nvSpPr>
        <p:spPr bwMode="auto">
          <a:xfrm>
            <a:off x="3814763" y="9371013"/>
            <a:ext cx="2919412" cy="493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25" tIns="45713" rIns="91425" bIns="45713" numCol="1" anchor="b" anchorCtr="0" compatLnSpc="1">
            <a:prstTxWarp prst="textNoShape">
              <a:avLst/>
            </a:prstTxWarp>
          </a:bodyPr>
          <a:lstStyle>
            <a:lvl1pPr algn="r">
              <a:defRPr sz="1200" b="0">
                <a:latin typeface="Arial" charset="0"/>
              </a:defRPr>
            </a:lvl1pPr>
          </a:lstStyle>
          <a:p>
            <a:fld id="{6CEB0035-A28B-4582-95C1-F76F12C4421F}" type="slidenum">
              <a:rPr lang="en-US" altLang="ja-JP"/>
              <a:pPr/>
              <a:t>‹#›</a:t>
            </a:fld>
            <a:endParaRPr lang="en-US" altLang="ja-JP" dirty="0"/>
          </a:p>
        </p:txBody>
      </p:sp>
    </p:spTree>
    <p:extLst>
      <p:ext uri="{BB962C8B-B14F-4D97-AF65-F5344CB8AC3E}">
        <p14:creationId xmlns:p14="http://schemas.microsoft.com/office/powerpoint/2010/main" val="1729276757"/>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kumimoji="1" sz="1200" kern="1200">
        <a:solidFill>
          <a:schemeClr val="tx1"/>
        </a:solidFill>
        <a:latin typeface="Arial" charset="0"/>
        <a:ea typeface="ＭＳ Ｐ明朝" pitchFamily="18" charset="-128"/>
        <a:cs typeface="+mn-cs"/>
      </a:defRPr>
    </a:lvl1pPr>
    <a:lvl2pPr marL="457200" algn="l" rtl="0" fontAlgn="base">
      <a:spcBef>
        <a:spcPct val="30000"/>
      </a:spcBef>
      <a:spcAft>
        <a:spcPct val="0"/>
      </a:spcAft>
      <a:defRPr kumimoji="1" sz="1200" kern="1200">
        <a:solidFill>
          <a:schemeClr val="tx1"/>
        </a:solidFill>
        <a:latin typeface="Arial" charset="0"/>
        <a:ea typeface="ＭＳ Ｐ明朝" pitchFamily="18" charset="-128"/>
        <a:cs typeface="+mn-cs"/>
      </a:defRPr>
    </a:lvl2pPr>
    <a:lvl3pPr marL="914400" algn="l" rtl="0" fontAlgn="base">
      <a:spcBef>
        <a:spcPct val="30000"/>
      </a:spcBef>
      <a:spcAft>
        <a:spcPct val="0"/>
      </a:spcAft>
      <a:defRPr kumimoji="1" sz="1200" kern="1200">
        <a:solidFill>
          <a:schemeClr val="tx1"/>
        </a:solidFill>
        <a:latin typeface="Arial" charset="0"/>
        <a:ea typeface="ＭＳ Ｐ明朝" pitchFamily="18" charset="-128"/>
        <a:cs typeface="+mn-cs"/>
      </a:defRPr>
    </a:lvl3pPr>
    <a:lvl4pPr marL="1371600" algn="l" rtl="0" fontAlgn="base">
      <a:spcBef>
        <a:spcPct val="30000"/>
      </a:spcBef>
      <a:spcAft>
        <a:spcPct val="0"/>
      </a:spcAft>
      <a:defRPr kumimoji="1" sz="1200" kern="1200">
        <a:solidFill>
          <a:schemeClr val="tx1"/>
        </a:solidFill>
        <a:latin typeface="Arial" charset="0"/>
        <a:ea typeface="ＭＳ Ｐ明朝" pitchFamily="18" charset="-128"/>
        <a:cs typeface="+mn-cs"/>
      </a:defRPr>
    </a:lvl4pPr>
    <a:lvl5pPr marL="1828800" algn="l" rtl="0" fontAlgn="base">
      <a:spcBef>
        <a:spcPct val="30000"/>
      </a:spcBef>
      <a:spcAft>
        <a:spcPct val="0"/>
      </a:spcAft>
      <a:defRPr kumimoji="1" sz="1200" kern="1200">
        <a:solidFill>
          <a:schemeClr val="tx1"/>
        </a:solidFill>
        <a:latin typeface="Arial" charset="0"/>
        <a:ea typeface="ＭＳ Ｐ明朝" pitchFamily="18"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49263A1E-A16F-4C22-8A8D-A8145752415D}" type="slidenum">
              <a:rPr lang="en-US" smtClean="0"/>
              <a:pPr/>
              <a:t>3</a:t>
            </a:fld>
            <a:endParaRPr lang="en-US" dirty="0"/>
          </a:p>
        </p:txBody>
      </p:sp>
    </p:spTree>
    <p:extLst>
      <p:ext uri="{BB962C8B-B14F-4D97-AF65-F5344CB8AC3E}">
        <p14:creationId xmlns:p14="http://schemas.microsoft.com/office/powerpoint/2010/main" val="14426455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49263A1E-A16F-4C22-8A8D-A8145752415D}" type="slidenum">
              <a:rPr lang="en-US" smtClean="0"/>
              <a:pPr/>
              <a:t>5</a:t>
            </a:fld>
            <a:endParaRPr lang="en-US" dirty="0"/>
          </a:p>
        </p:txBody>
      </p:sp>
    </p:spTree>
    <p:extLst>
      <p:ext uri="{BB962C8B-B14F-4D97-AF65-F5344CB8AC3E}">
        <p14:creationId xmlns:p14="http://schemas.microsoft.com/office/powerpoint/2010/main" val="30430976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49263A1E-A16F-4C22-8A8D-A8145752415D}" type="slidenum">
              <a:rPr lang="en-US" smtClean="0"/>
              <a:pPr/>
              <a:t>6</a:t>
            </a:fld>
            <a:endParaRPr lang="en-US" dirty="0"/>
          </a:p>
        </p:txBody>
      </p:sp>
    </p:spTree>
    <p:extLst>
      <p:ext uri="{BB962C8B-B14F-4D97-AF65-F5344CB8AC3E}">
        <p14:creationId xmlns:p14="http://schemas.microsoft.com/office/powerpoint/2010/main" val="30713334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a:prstGeom prst="rect">
            <a:avLst/>
          </a:prstGeom>
        </p:spPr>
        <p:txBody>
          <a:bodyPr/>
          <a:lstStyle/>
          <a:p>
            <a:r>
              <a:rPr lang="ja-JP" altLang="en-US"/>
              <a:t>マスター タイトルの書式設定</a:t>
            </a:r>
          </a:p>
        </p:txBody>
      </p:sp>
      <p:sp>
        <p:nvSpPr>
          <p:cNvPr id="3" name="サブタイトル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ja-JP" altLang="en-US"/>
              <a:t>マスター サブタイトルの書式設定</a:t>
            </a:r>
          </a:p>
        </p:txBody>
      </p:sp>
      <p:sp>
        <p:nvSpPr>
          <p:cNvPr id="4" name="スライド番号プレースホルダー 3"/>
          <p:cNvSpPr>
            <a:spLocks noGrp="1"/>
          </p:cNvSpPr>
          <p:nvPr>
            <p:ph type="sldNum" sz="quarter" idx="10"/>
          </p:nvPr>
        </p:nvSpPr>
        <p:spPr/>
        <p:txBody>
          <a:bodyPr/>
          <a:lstStyle>
            <a:lvl1pPr>
              <a:defRPr/>
            </a:lvl1pPr>
          </a:lstStyle>
          <a:p>
            <a:fld id="{31801693-1159-46F6-BF1C-5C380C283413}" type="slidenum">
              <a:rPr lang="en-US" altLang="ja-JP"/>
              <a:pPr/>
              <a:t>‹#›</a:t>
            </a:fld>
            <a:endParaRPr lang="en-US" altLang="ja-JP" dirty="0"/>
          </a:p>
        </p:txBody>
      </p:sp>
    </p:spTree>
    <p:extLst>
      <p:ext uri="{BB962C8B-B14F-4D97-AF65-F5344CB8AC3E}">
        <p14:creationId xmlns:p14="http://schemas.microsoft.com/office/powerpoint/2010/main" val="1260130900"/>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1143000"/>
          </a:xfrm>
          <a:prstGeom prst="rect">
            <a:avLst/>
          </a:prstGeom>
        </p:spPr>
        <p:txBody>
          <a:bodyPr/>
          <a:lstStyle/>
          <a:p>
            <a:r>
              <a:rPr lang="ja-JP" altLang="en-US"/>
              <a:t>マスター タイトルの書式設定</a:t>
            </a:r>
          </a:p>
        </p:txBody>
      </p:sp>
      <p:sp>
        <p:nvSpPr>
          <p:cNvPr id="3" name="コンテンツ プレースホルダー 2"/>
          <p:cNvSpPr>
            <a:spLocks noGrp="1"/>
          </p:cNvSpPr>
          <p:nvPr>
            <p:ph idx="1"/>
          </p:nvPr>
        </p:nvSpPr>
        <p:spPr>
          <a:xfrm>
            <a:off x="457200" y="1600200"/>
            <a:ext cx="8229600" cy="4525963"/>
          </a:xfrm>
          <a:prstGeom prst="rect">
            <a:avLst/>
          </a:prstGeo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スライド番号プレースホルダー 3"/>
          <p:cNvSpPr>
            <a:spLocks noGrp="1"/>
          </p:cNvSpPr>
          <p:nvPr>
            <p:ph type="sldNum" sz="quarter" idx="10"/>
          </p:nvPr>
        </p:nvSpPr>
        <p:spPr/>
        <p:txBody>
          <a:bodyPr/>
          <a:lstStyle>
            <a:lvl1pPr>
              <a:defRPr/>
            </a:lvl1pPr>
          </a:lstStyle>
          <a:p>
            <a:fld id="{1750F1B0-917A-4F38-9398-62BEBCBBD8D0}" type="slidenum">
              <a:rPr lang="en-US" altLang="ja-JP"/>
              <a:pPr/>
              <a:t>‹#›</a:t>
            </a:fld>
            <a:endParaRPr lang="en-US" altLang="ja-JP" dirty="0"/>
          </a:p>
        </p:txBody>
      </p:sp>
    </p:spTree>
    <p:extLst>
      <p:ext uri="{BB962C8B-B14F-4D97-AF65-F5344CB8AC3E}">
        <p14:creationId xmlns:p14="http://schemas.microsoft.com/office/powerpoint/2010/main" val="3786038964"/>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ja-JP" altLang="en-US"/>
              <a:t>マスター タイトルの書式設定</a:t>
            </a:r>
          </a:p>
        </p:txBody>
      </p:sp>
      <p:sp>
        <p:nvSpPr>
          <p:cNvPr id="3" name="テキスト プレースホルダー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マスター テキストの書式設定</a:t>
            </a:r>
          </a:p>
        </p:txBody>
      </p:sp>
      <p:sp>
        <p:nvSpPr>
          <p:cNvPr id="4" name="スライド番号プレースホルダー 3"/>
          <p:cNvSpPr>
            <a:spLocks noGrp="1"/>
          </p:cNvSpPr>
          <p:nvPr>
            <p:ph type="sldNum" sz="quarter" idx="10"/>
          </p:nvPr>
        </p:nvSpPr>
        <p:spPr/>
        <p:txBody>
          <a:bodyPr/>
          <a:lstStyle>
            <a:lvl1pPr>
              <a:defRPr/>
            </a:lvl1pPr>
          </a:lstStyle>
          <a:p>
            <a:fld id="{C4747C66-8402-4091-A485-BBEC0CA958F2}" type="slidenum">
              <a:rPr lang="en-US" altLang="ja-JP"/>
              <a:pPr/>
              <a:t>‹#›</a:t>
            </a:fld>
            <a:endParaRPr lang="en-US" altLang="ja-JP" dirty="0"/>
          </a:p>
        </p:txBody>
      </p:sp>
    </p:spTree>
    <p:extLst>
      <p:ext uri="{BB962C8B-B14F-4D97-AF65-F5344CB8AC3E}">
        <p14:creationId xmlns:p14="http://schemas.microsoft.com/office/powerpoint/2010/main" val="1431207311"/>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1143000"/>
          </a:xfrm>
          <a:prstGeom prst="rect">
            <a:avLst/>
          </a:prstGeom>
        </p:spPr>
        <p:txBody>
          <a:bodyPr/>
          <a:lstStyle/>
          <a:p>
            <a:r>
              <a:rPr lang="ja-JP" altLang="en-US"/>
              <a:t>マスター タイトルの書式設定</a:t>
            </a:r>
          </a:p>
        </p:txBody>
      </p:sp>
      <p:sp>
        <p:nvSpPr>
          <p:cNvPr id="3" name="コンテンツ プレースホルダー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ー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スライド番号プレースホルダー 4"/>
          <p:cNvSpPr>
            <a:spLocks noGrp="1"/>
          </p:cNvSpPr>
          <p:nvPr>
            <p:ph type="sldNum" sz="quarter" idx="10"/>
          </p:nvPr>
        </p:nvSpPr>
        <p:spPr/>
        <p:txBody>
          <a:bodyPr/>
          <a:lstStyle>
            <a:lvl1pPr>
              <a:defRPr/>
            </a:lvl1pPr>
          </a:lstStyle>
          <a:p>
            <a:fld id="{9B05EEE4-B95B-4091-B717-45C0D171C30A}" type="slidenum">
              <a:rPr lang="en-US" altLang="ja-JP"/>
              <a:pPr/>
              <a:t>‹#›</a:t>
            </a:fld>
            <a:endParaRPr lang="en-US" altLang="ja-JP" dirty="0"/>
          </a:p>
        </p:txBody>
      </p:sp>
    </p:spTree>
    <p:extLst>
      <p:ext uri="{BB962C8B-B14F-4D97-AF65-F5344CB8AC3E}">
        <p14:creationId xmlns:p14="http://schemas.microsoft.com/office/powerpoint/2010/main" val="1886316244"/>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1143000"/>
          </a:xfrm>
          <a:prstGeom prst="rect">
            <a:avLst/>
          </a:prstGeom>
        </p:spPr>
        <p:txBody>
          <a:bodyPr/>
          <a:lstStyle>
            <a:lvl1pPr>
              <a:defRPr/>
            </a:lvl1pPr>
          </a:lstStyle>
          <a:p>
            <a:r>
              <a:rPr lang="ja-JP" altLang="en-US"/>
              <a:t>マスター タイトルの書式設定</a:t>
            </a:r>
          </a:p>
        </p:txBody>
      </p:sp>
      <p:sp>
        <p:nvSpPr>
          <p:cNvPr id="3" name="テキスト プレースホルダー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ー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ー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ー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スライド番号プレースホルダー 6"/>
          <p:cNvSpPr>
            <a:spLocks noGrp="1"/>
          </p:cNvSpPr>
          <p:nvPr>
            <p:ph type="sldNum" sz="quarter" idx="10"/>
          </p:nvPr>
        </p:nvSpPr>
        <p:spPr/>
        <p:txBody>
          <a:bodyPr/>
          <a:lstStyle>
            <a:lvl1pPr>
              <a:defRPr/>
            </a:lvl1pPr>
          </a:lstStyle>
          <a:p>
            <a:fld id="{886549EF-7F1A-4799-9283-8A17429F278F}" type="slidenum">
              <a:rPr lang="en-US" altLang="ja-JP"/>
              <a:pPr/>
              <a:t>‹#›</a:t>
            </a:fld>
            <a:endParaRPr lang="en-US" altLang="ja-JP" dirty="0"/>
          </a:p>
        </p:txBody>
      </p:sp>
    </p:spTree>
    <p:extLst>
      <p:ext uri="{BB962C8B-B14F-4D97-AF65-F5344CB8AC3E}">
        <p14:creationId xmlns:p14="http://schemas.microsoft.com/office/powerpoint/2010/main" val="3503404991"/>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1143000"/>
          </a:xfrm>
          <a:prstGeom prst="rect">
            <a:avLst/>
          </a:prstGeom>
        </p:spPr>
        <p:txBody>
          <a:bodyPr/>
          <a:lstStyle/>
          <a:p>
            <a:r>
              <a:rPr lang="ja-JP" altLang="en-US"/>
              <a:t>マスター タイトルの書式設定</a:t>
            </a:r>
          </a:p>
        </p:txBody>
      </p:sp>
      <p:sp>
        <p:nvSpPr>
          <p:cNvPr id="3" name="スライド番号プレースホルダー 2"/>
          <p:cNvSpPr>
            <a:spLocks noGrp="1"/>
          </p:cNvSpPr>
          <p:nvPr>
            <p:ph type="sldNum" sz="quarter" idx="10"/>
          </p:nvPr>
        </p:nvSpPr>
        <p:spPr/>
        <p:txBody>
          <a:bodyPr/>
          <a:lstStyle>
            <a:lvl1pPr>
              <a:defRPr/>
            </a:lvl1pPr>
          </a:lstStyle>
          <a:p>
            <a:fld id="{43413742-3D99-43E0-BAC2-92D3E013BD89}" type="slidenum">
              <a:rPr lang="en-US" altLang="ja-JP"/>
              <a:pPr/>
              <a:t>‹#›</a:t>
            </a:fld>
            <a:endParaRPr lang="en-US" altLang="ja-JP" dirty="0"/>
          </a:p>
        </p:txBody>
      </p:sp>
    </p:spTree>
    <p:extLst>
      <p:ext uri="{BB962C8B-B14F-4D97-AF65-F5344CB8AC3E}">
        <p14:creationId xmlns:p14="http://schemas.microsoft.com/office/powerpoint/2010/main" val="4242325169"/>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スライド番号プレースホルダー 1"/>
          <p:cNvSpPr>
            <a:spLocks noGrp="1"/>
          </p:cNvSpPr>
          <p:nvPr>
            <p:ph type="sldNum" sz="quarter" idx="10"/>
          </p:nvPr>
        </p:nvSpPr>
        <p:spPr/>
        <p:txBody>
          <a:bodyPr/>
          <a:lstStyle>
            <a:lvl1pPr>
              <a:defRPr/>
            </a:lvl1pPr>
          </a:lstStyle>
          <a:p>
            <a:fld id="{F31C0D83-8F9F-4509-9156-9C57ED09163E}" type="slidenum">
              <a:rPr lang="en-US" altLang="ja-JP"/>
              <a:pPr/>
              <a:t>‹#›</a:t>
            </a:fld>
            <a:endParaRPr lang="en-US" altLang="ja-JP" dirty="0"/>
          </a:p>
        </p:txBody>
      </p:sp>
    </p:spTree>
    <p:extLst>
      <p:ext uri="{BB962C8B-B14F-4D97-AF65-F5344CB8AC3E}">
        <p14:creationId xmlns:p14="http://schemas.microsoft.com/office/powerpoint/2010/main" val="549130773"/>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a:prstGeom prst="rect">
            <a:avLst/>
          </a:prstGeom>
        </p:spPr>
        <p:txBody>
          <a:bodyPr anchor="b"/>
          <a:lstStyle>
            <a:lvl1pPr algn="l">
              <a:defRPr sz="2000" b="1"/>
            </a:lvl1pPr>
          </a:lstStyle>
          <a:p>
            <a:r>
              <a:rPr lang="ja-JP" altLang="en-US"/>
              <a:t>マスター タイトルの書式設定</a:t>
            </a:r>
          </a:p>
        </p:txBody>
      </p:sp>
      <p:sp>
        <p:nvSpPr>
          <p:cNvPr id="3" name="コンテンツ プレースホルダー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
        <p:nvSpPr>
          <p:cNvPr id="4" name="テキスト プレースホルダー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スライド番号プレースホルダー 4"/>
          <p:cNvSpPr>
            <a:spLocks noGrp="1"/>
          </p:cNvSpPr>
          <p:nvPr>
            <p:ph type="sldNum" sz="quarter" idx="10"/>
          </p:nvPr>
        </p:nvSpPr>
        <p:spPr/>
        <p:txBody>
          <a:bodyPr/>
          <a:lstStyle>
            <a:lvl1pPr>
              <a:defRPr/>
            </a:lvl1pPr>
          </a:lstStyle>
          <a:p>
            <a:fld id="{640FA12D-D277-4DB1-BFB6-C8ACF333B80C}" type="slidenum">
              <a:rPr lang="en-US" altLang="ja-JP"/>
              <a:pPr/>
              <a:t>‹#›</a:t>
            </a:fld>
            <a:endParaRPr lang="en-US" altLang="ja-JP" dirty="0"/>
          </a:p>
        </p:txBody>
      </p:sp>
    </p:spTree>
    <p:extLst>
      <p:ext uri="{BB962C8B-B14F-4D97-AF65-F5344CB8AC3E}">
        <p14:creationId xmlns:p14="http://schemas.microsoft.com/office/powerpoint/2010/main" val="3010736427"/>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a:prstGeom prst="rect">
            <a:avLst/>
          </a:prstGeom>
        </p:spPr>
        <p:txBody>
          <a:bodyPr anchor="b"/>
          <a:lstStyle>
            <a:lvl1pPr algn="l">
              <a:defRPr sz="2000" b="1"/>
            </a:lvl1pPr>
          </a:lstStyle>
          <a:p>
            <a:r>
              <a:rPr lang="ja-JP" altLang="en-US"/>
              <a:t>マスター タイトルの書式設定</a:t>
            </a:r>
          </a:p>
        </p:txBody>
      </p:sp>
      <p:sp>
        <p:nvSpPr>
          <p:cNvPr id="3" name="図プレースホルダー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ja-JP" altLang="en-US"/>
          </a:p>
        </p:txBody>
      </p:sp>
      <p:sp>
        <p:nvSpPr>
          <p:cNvPr id="4" name="テキスト プレースホルダー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スライド番号プレースホルダー 4"/>
          <p:cNvSpPr>
            <a:spLocks noGrp="1"/>
          </p:cNvSpPr>
          <p:nvPr>
            <p:ph type="sldNum" sz="quarter" idx="10"/>
          </p:nvPr>
        </p:nvSpPr>
        <p:spPr/>
        <p:txBody>
          <a:bodyPr/>
          <a:lstStyle>
            <a:lvl1pPr>
              <a:defRPr/>
            </a:lvl1pPr>
          </a:lstStyle>
          <a:p>
            <a:fld id="{46DCC9B9-7728-4661-B2F8-8438845BD191}" type="slidenum">
              <a:rPr lang="en-US" altLang="ja-JP"/>
              <a:pPr/>
              <a:t>‹#›</a:t>
            </a:fld>
            <a:endParaRPr lang="en-US" altLang="ja-JP" dirty="0"/>
          </a:p>
        </p:txBody>
      </p:sp>
    </p:spTree>
    <p:extLst>
      <p:ext uri="{BB962C8B-B14F-4D97-AF65-F5344CB8AC3E}">
        <p14:creationId xmlns:p14="http://schemas.microsoft.com/office/powerpoint/2010/main" val="276676050"/>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1143000"/>
          </a:xfrm>
          <a:prstGeom prst="rect">
            <a:avLst/>
          </a:prstGeom>
        </p:spPr>
        <p:txBody>
          <a:bodyPr/>
          <a:lstStyle/>
          <a:p>
            <a:r>
              <a:rPr lang="ja-JP" altLang="en-US"/>
              <a:t>マスター タイトルの書式設定</a:t>
            </a:r>
          </a:p>
        </p:txBody>
      </p:sp>
      <p:sp>
        <p:nvSpPr>
          <p:cNvPr id="3" name="縦書きテキスト プレースホルダー 2"/>
          <p:cNvSpPr>
            <a:spLocks noGrp="1"/>
          </p:cNvSpPr>
          <p:nvPr>
            <p:ph type="body" orient="vert" idx="1"/>
          </p:nvPr>
        </p:nvSpPr>
        <p:spPr>
          <a:xfrm>
            <a:off x="457200" y="1600200"/>
            <a:ext cx="8229600" cy="4525963"/>
          </a:xfrm>
          <a:prstGeom prst="rect">
            <a:avLst/>
          </a:prstGeo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スライド番号プレースホルダー 3"/>
          <p:cNvSpPr>
            <a:spLocks noGrp="1"/>
          </p:cNvSpPr>
          <p:nvPr>
            <p:ph type="sldNum" sz="quarter" idx="10"/>
          </p:nvPr>
        </p:nvSpPr>
        <p:spPr/>
        <p:txBody>
          <a:bodyPr/>
          <a:lstStyle>
            <a:lvl1pPr>
              <a:defRPr/>
            </a:lvl1pPr>
          </a:lstStyle>
          <a:p>
            <a:fld id="{DA6457AF-5E84-4825-A035-519D0F7DAC3D}" type="slidenum">
              <a:rPr lang="en-US" altLang="ja-JP"/>
              <a:pPr/>
              <a:t>‹#›</a:t>
            </a:fld>
            <a:endParaRPr lang="en-US" altLang="ja-JP" dirty="0"/>
          </a:p>
        </p:txBody>
      </p:sp>
    </p:spTree>
    <p:extLst>
      <p:ext uri="{BB962C8B-B14F-4D97-AF65-F5344CB8AC3E}">
        <p14:creationId xmlns:p14="http://schemas.microsoft.com/office/powerpoint/2010/main" val="2044013905"/>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a:prstGeom prst="rect">
            <a:avLst/>
          </a:prstGeom>
        </p:spPr>
        <p:txBody>
          <a:bodyPr vert="eaVert"/>
          <a:lstStyle/>
          <a:p>
            <a:r>
              <a:rPr lang="ja-JP" altLang="en-US"/>
              <a:t>マスター タイトルの書式設定</a:t>
            </a:r>
          </a:p>
        </p:txBody>
      </p:sp>
      <p:sp>
        <p:nvSpPr>
          <p:cNvPr id="3" name="縦書きテキスト プレースホルダー 2"/>
          <p:cNvSpPr>
            <a:spLocks noGrp="1"/>
          </p:cNvSpPr>
          <p:nvPr>
            <p:ph type="body" orient="vert" idx="1"/>
          </p:nvPr>
        </p:nvSpPr>
        <p:spPr>
          <a:xfrm>
            <a:off x="457200" y="274638"/>
            <a:ext cx="6019800" cy="5851525"/>
          </a:xfrm>
          <a:prstGeom prst="rect">
            <a:avLst/>
          </a:prstGeo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スライド番号プレースホルダー 3"/>
          <p:cNvSpPr>
            <a:spLocks noGrp="1"/>
          </p:cNvSpPr>
          <p:nvPr>
            <p:ph type="sldNum" sz="quarter" idx="10"/>
          </p:nvPr>
        </p:nvSpPr>
        <p:spPr/>
        <p:txBody>
          <a:bodyPr/>
          <a:lstStyle>
            <a:lvl1pPr>
              <a:defRPr/>
            </a:lvl1pPr>
          </a:lstStyle>
          <a:p>
            <a:fld id="{94834CF8-F063-44C3-B745-8226420F8D36}" type="slidenum">
              <a:rPr lang="en-US" altLang="ja-JP"/>
              <a:pPr/>
              <a:t>‹#›</a:t>
            </a:fld>
            <a:endParaRPr lang="en-US" altLang="ja-JP" dirty="0"/>
          </a:p>
        </p:txBody>
      </p:sp>
    </p:spTree>
    <p:extLst>
      <p:ext uri="{BB962C8B-B14F-4D97-AF65-F5344CB8AC3E}">
        <p14:creationId xmlns:p14="http://schemas.microsoft.com/office/powerpoint/2010/main" val="1875942468"/>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259517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21863" name="Base" hidden="1"/>
          <p:cNvSpPr>
            <a:spLocks noChangeArrowheads="1"/>
          </p:cNvSpPr>
          <p:nvPr/>
        </p:nvSpPr>
        <p:spPr bwMode="auto">
          <a:xfrm>
            <a:off x="1524000" y="1397000"/>
            <a:ext cx="6096000" cy="406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121871" name="Rectangle 15"/>
          <p:cNvSpPr>
            <a:spLocks noGrp="1" noChangeArrowheads="1"/>
          </p:cNvSpPr>
          <p:nvPr>
            <p:ph type="sldNum" sz="quarter" idx="4"/>
          </p:nvPr>
        </p:nvSpPr>
        <p:spPr bwMode="auto">
          <a:xfrm>
            <a:off x="7164288" y="566124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0" hangingPunct="0">
              <a:spcBef>
                <a:spcPct val="50000"/>
              </a:spcBef>
              <a:defRPr sz="1400">
                <a:effectLst>
                  <a:outerShdw blurRad="38100" dist="38100" dir="2700000" algn="tl">
                    <a:srgbClr val="C0C0C0"/>
                  </a:outerShdw>
                </a:effectLst>
              </a:defRPr>
            </a:lvl1pPr>
          </a:lstStyle>
          <a:p>
            <a:fld id="{DB51F427-BD09-4AA9-9D82-A288582C30B4}" type="slidenum">
              <a:rPr lang="en-US" altLang="ja-JP"/>
              <a:pPr/>
              <a:t>‹#›</a:t>
            </a:fld>
            <a:endParaRPr lang="en-US" altLang="ja-JP" dirty="0"/>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transition/>
  <p:hf hdr="0" ftr="0" dt="0"/>
  <p:txStyles>
    <p:titleStyle>
      <a:lvl1pPr algn="ctr" rtl="0" fontAlgn="base">
        <a:spcBef>
          <a:spcPct val="0"/>
        </a:spcBef>
        <a:spcAft>
          <a:spcPct val="0"/>
        </a:spcAft>
        <a:defRPr kumimoji="1" sz="4400">
          <a:solidFill>
            <a:schemeClr val="tx2"/>
          </a:solidFill>
          <a:latin typeface="+mj-lt"/>
          <a:ea typeface="+mj-ea"/>
          <a:cs typeface="+mj-cs"/>
        </a:defRPr>
      </a:lvl1pPr>
      <a:lvl2pPr algn="ctr" rtl="0" fontAlgn="base">
        <a:spcBef>
          <a:spcPct val="0"/>
        </a:spcBef>
        <a:spcAft>
          <a:spcPct val="0"/>
        </a:spcAft>
        <a:defRPr kumimoji="1" sz="4400">
          <a:solidFill>
            <a:schemeClr val="tx2"/>
          </a:solidFill>
          <a:latin typeface="Arial" charset="0"/>
          <a:ea typeface="ＭＳ Ｐゴシック" charset="-128"/>
        </a:defRPr>
      </a:lvl2pPr>
      <a:lvl3pPr algn="ctr" rtl="0" fontAlgn="base">
        <a:spcBef>
          <a:spcPct val="0"/>
        </a:spcBef>
        <a:spcAft>
          <a:spcPct val="0"/>
        </a:spcAft>
        <a:defRPr kumimoji="1" sz="4400">
          <a:solidFill>
            <a:schemeClr val="tx2"/>
          </a:solidFill>
          <a:latin typeface="Arial" charset="0"/>
          <a:ea typeface="ＭＳ Ｐゴシック" charset="-128"/>
        </a:defRPr>
      </a:lvl3pPr>
      <a:lvl4pPr algn="ctr" rtl="0" fontAlgn="base">
        <a:spcBef>
          <a:spcPct val="0"/>
        </a:spcBef>
        <a:spcAft>
          <a:spcPct val="0"/>
        </a:spcAft>
        <a:defRPr kumimoji="1" sz="4400">
          <a:solidFill>
            <a:schemeClr val="tx2"/>
          </a:solidFill>
          <a:latin typeface="Arial" charset="0"/>
          <a:ea typeface="ＭＳ Ｐゴシック" charset="-128"/>
        </a:defRPr>
      </a:lvl4pPr>
      <a:lvl5pPr algn="ctr" rtl="0" fontAlgn="base">
        <a:spcBef>
          <a:spcPct val="0"/>
        </a:spcBef>
        <a:spcAft>
          <a:spcPct val="0"/>
        </a:spcAft>
        <a:defRPr kumimoji="1" sz="4400">
          <a:solidFill>
            <a:schemeClr val="tx2"/>
          </a:solidFill>
          <a:latin typeface="Arial" charset="0"/>
          <a:ea typeface="ＭＳ Ｐゴシック" charset="-128"/>
        </a:defRPr>
      </a:lvl5pPr>
      <a:lvl6pPr marL="457200" algn="ctr" rtl="0" fontAlgn="base">
        <a:spcBef>
          <a:spcPct val="0"/>
        </a:spcBef>
        <a:spcAft>
          <a:spcPct val="0"/>
        </a:spcAft>
        <a:defRPr kumimoji="1" sz="4400">
          <a:solidFill>
            <a:schemeClr val="tx2"/>
          </a:solidFill>
          <a:latin typeface="Arial" charset="0"/>
          <a:ea typeface="ＭＳ Ｐゴシック" charset="-128"/>
        </a:defRPr>
      </a:lvl6pPr>
      <a:lvl7pPr marL="914400" algn="ctr" rtl="0" fontAlgn="base">
        <a:spcBef>
          <a:spcPct val="0"/>
        </a:spcBef>
        <a:spcAft>
          <a:spcPct val="0"/>
        </a:spcAft>
        <a:defRPr kumimoji="1" sz="4400">
          <a:solidFill>
            <a:schemeClr val="tx2"/>
          </a:solidFill>
          <a:latin typeface="Arial" charset="0"/>
          <a:ea typeface="ＭＳ Ｐゴシック" charset="-128"/>
        </a:defRPr>
      </a:lvl7pPr>
      <a:lvl8pPr marL="1371600" algn="ctr" rtl="0" fontAlgn="base">
        <a:spcBef>
          <a:spcPct val="0"/>
        </a:spcBef>
        <a:spcAft>
          <a:spcPct val="0"/>
        </a:spcAft>
        <a:defRPr kumimoji="1" sz="4400">
          <a:solidFill>
            <a:schemeClr val="tx2"/>
          </a:solidFill>
          <a:latin typeface="Arial" charset="0"/>
          <a:ea typeface="ＭＳ Ｐゴシック" charset="-128"/>
        </a:defRPr>
      </a:lvl8pPr>
      <a:lvl9pPr marL="1828800" algn="ctr" rtl="0" fontAlgn="base">
        <a:spcBef>
          <a:spcPct val="0"/>
        </a:spcBef>
        <a:spcAft>
          <a:spcPct val="0"/>
        </a:spcAft>
        <a:defRPr kumimoji="1" sz="4400">
          <a:solidFill>
            <a:schemeClr val="tx2"/>
          </a:solidFill>
          <a:latin typeface="Arial" charset="0"/>
          <a:ea typeface="ＭＳ Ｐゴシック" charset="-128"/>
        </a:defRPr>
      </a:lvl9pPr>
    </p:titleStyle>
    <p:bodyStyle>
      <a:lvl1pPr marL="342900" indent="-342900" algn="l" rtl="0" fontAlgn="base">
        <a:spcBef>
          <a:spcPct val="20000"/>
        </a:spcBef>
        <a:spcAft>
          <a:spcPct val="0"/>
        </a:spcAft>
        <a:buChar char="•"/>
        <a:defRPr kumimoji="1" sz="3200">
          <a:solidFill>
            <a:schemeClr val="tx1"/>
          </a:solidFill>
          <a:latin typeface="+mn-lt"/>
          <a:ea typeface="+mn-ea"/>
          <a:cs typeface="+mn-cs"/>
        </a:defRPr>
      </a:lvl1pPr>
      <a:lvl2pPr marL="742950" indent="-285750" algn="l" rtl="0" fontAlgn="base">
        <a:spcBef>
          <a:spcPct val="20000"/>
        </a:spcBef>
        <a:spcAft>
          <a:spcPct val="0"/>
        </a:spcAft>
        <a:buChar char="–"/>
        <a:defRPr kumimoji="1" sz="2800">
          <a:solidFill>
            <a:schemeClr val="tx1"/>
          </a:solidFill>
          <a:latin typeface="+mn-lt"/>
          <a:ea typeface="+mn-ea"/>
        </a:defRPr>
      </a:lvl2pPr>
      <a:lvl3pPr marL="1143000" indent="-228600" algn="l" rtl="0" fontAlgn="base">
        <a:spcBef>
          <a:spcPct val="20000"/>
        </a:spcBef>
        <a:spcAft>
          <a:spcPct val="0"/>
        </a:spcAft>
        <a:buChar char="•"/>
        <a:defRPr kumimoji="1" sz="2400">
          <a:solidFill>
            <a:schemeClr val="tx1"/>
          </a:solidFill>
          <a:latin typeface="+mn-lt"/>
          <a:ea typeface="+mn-ea"/>
        </a:defRPr>
      </a:lvl3pPr>
      <a:lvl4pPr marL="1600200" indent="-228600" algn="l" rtl="0" fontAlgn="base">
        <a:spcBef>
          <a:spcPct val="20000"/>
        </a:spcBef>
        <a:spcAft>
          <a:spcPct val="0"/>
        </a:spcAft>
        <a:buChar char="–"/>
        <a:defRPr kumimoji="1" sz="2000">
          <a:solidFill>
            <a:schemeClr val="tx1"/>
          </a:solidFill>
          <a:latin typeface="+mn-lt"/>
          <a:ea typeface="+mn-ea"/>
        </a:defRPr>
      </a:lvl4pPr>
      <a:lvl5pPr marL="2057400" indent="-228600" algn="l" rtl="0" fontAlgn="base">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jpeg"/><Relationship Id="rId7"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jpeg"/><Relationship Id="rId10" Type="http://schemas.openxmlformats.org/officeDocument/2006/relationships/image" Target="../media/image7.jpeg"/><Relationship Id="rId4" Type="http://schemas.openxmlformats.org/officeDocument/2006/relationships/image" Target="../media/image3.png"/><Relationship Id="rId9" Type="http://schemas.microsoft.com/office/2007/relationships/hdphoto" Target="../media/hdphoto2.wdp"/></Relationships>
</file>

<file path=ppt/slides/_rels/slide2.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9.jpeg"/><Relationship Id="rId7" Type="http://schemas.openxmlformats.org/officeDocument/2006/relationships/image" Target="../media/image6.png"/><Relationship Id="rId2" Type="http://schemas.openxmlformats.org/officeDocument/2006/relationships/image" Target="../media/image8.jpeg"/><Relationship Id="rId1" Type="http://schemas.openxmlformats.org/officeDocument/2006/relationships/slideLayout" Target="../slideLayouts/slideLayout2.xml"/><Relationship Id="rId6" Type="http://schemas.openxmlformats.org/officeDocument/2006/relationships/image" Target="../media/image11.jpeg"/><Relationship Id="rId5" Type="http://schemas.microsoft.com/office/2007/relationships/hdphoto" Target="../media/hdphoto3.wdp"/><Relationship Id="rId10" Type="http://schemas.microsoft.com/office/2007/relationships/hdphoto" Target="../media/hdphoto1.wdp"/><Relationship Id="rId4" Type="http://schemas.openxmlformats.org/officeDocument/2006/relationships/image" Target="../media/image10.png"/><Relationship Id="rId9"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14.jpeg"/><Relationship Id="rId5" Type="http://schemas.openxmlformats.org/officeDocument/2006/relationships/image" Target="../media/image13.jpeg"/><Relationship Id="rId4" Type="http://schemas.openxmlformats.org/officeDocument/2006/relationships/image" Target="../media/image9.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 Box 3"/>
          <p:cNvSpPr txBox="1">
            <a:spLocks noChangeArrowheads="1"/>
          </p:cNvSpPr>
          <p:nvPr/>
        </p:nvSpPr>
        <p:spPr bwMode="auto">
          <a:xfrm>
            <a:off x="155195" y="838066"/>
            <a:ext cx="6584307" cy="3312044"/>
          </a:xfrm>
          <a:prstGeom prst="rect">
            <a:avLst/>
          </a:prstGeom>
          <a:noFill/>
          <a:ln w="9525">
            <a:noFill/>
            <a:miter lim="800000"/>
            <a:headEnd/>
            <a:tailEnd/>
          </a:ln>
        </p:spPr>
        <p:txBody>
          <a:bodyPr wrap="square" lIns="91357" tIns="45680" rIns="91357" bIns="45680">
            <a:spAutoFit/>
          </a:bodyPr>
          <a:lstStyle>
            <a:defPPr>
              <a:defRPr lang="ja-JP"/>
            </a:defPPr>
            <a:lvl1pPr algn="l">
              <a:lnSpc>
                <a:spcPct val="90000"/>
              </a:lnSpc>
              <a:spcBef>
                <a:spcPct val="20000"/>
              </a:spcBef>
              <a:defRPr sz="1800" b="0">
                <a:latin typeface="Calibri" panose="020F0502020204030204" pitchFamily="34" charset="0"/>
              </a:defRPr>
            </a:lvl1pPr>
          </a:lstStyle>
          <a:p>
            <a:pPr>
              <a:lnSpc>
                <a:spcPct val="150000"/>
              </a:lnSpc>
            </a:pPr>
            <a:r>
              <a:rPr lang="en-US" altLang="ko-KR" sz="1400" dirty="0"/>
              <a:t>Customer      : XXXXX</a:t>
            </a:r>
          </a:p>
          <a:p>
            <a:pPr>
              <a:lnSpc>
                <a:spcPct val="150000"/>
              </a:lnSpc>
            </a:pPr>
            <a:r>
              <a:rPr lang="en-US" altLang="ko-KR" sz="1400" dirty="0"/>
              <a:t>Concern         : Steering Wheel Sliding Play more reported at Customer Line</a:t>
            </a:r>
          </a:p>
          <a:p>
            <a:pPr>
              <a:lnSpc>
                <a:spcPct val="150000"/>
              </a:lnSpc>
            </a:pPr>
            <a:r>
              <a:rPr lang="en-US" altLang="ko-KR" sz="1400" dirty="0"/>
              <a:t>	     [ Noticed at Vehicle while Tilt &amp; Telesco Inspection ]</a:t>
            </a:r>
          </a:p>
          <a:p>
            <a:pPr>
              <a:lnSpc>
                <a:spcPct val="150000"/>
              </a:lnSpc>
            </a:pPr>
            <a:r>
              <a:rPr lang="en-US" altLang="ko-KR" sz="1400" dirty="0"/>
              <a:t>Report Date  : 31-07-2026</a:t>
            </a:r>
          </a:p>
          <a:p>
            <a:pPr>
              <a:lnSpc>
                <a:spcPct val="150000"/>
              </a:lnSpc>
            </a:pPr>
            <a:r>
              <a:rPr lang="en-US" altLang="ko-KR" sz="1400" dirty="0"/>
              <a:t>Part Name     : Steering Column Assembly</a:t>
            </a:r>
          </a:p>
          <a:p>
            <a:pPr>
              <a:lnSpc>
                <a:spcPct val="150000"/>
              </a:lnSpc>
            </a:pPr>
            <a:r>
              <a:rPr lang="en-US" altLang="ko-KR" sz="1400" dirty="0"/>
              <a:t>Model            : New IMV 188D [ Fortuner ]</a:t>
            </a:r>
          </a:p>
          <a:p>
            <a:pPr>
              <a:lnSpc>
                <a:spcPct val="150000"/>
              </a:lnSpc>
            </a:pPr>
            <a:r>
              <a:rPr lang="en-US" altLang="ko-KR" sz="1400" dirty="0"/>
              <a:t>Part No          : 45250 - 0K120</a:t>
            </a:r>
          </a:p>
          <a:p>
            <a:pPr>
              <a:lnSpc>
                <a:spcPct val="150000"/>
              </a:lnSpc>
            </a:pPr>
            <a:r>
              <a:rPr lang="en-US" altLang="ko-KR" sz="1400" dirty="0"/>
              <a:t>Quantity        : 1 No. </a:t>
            </a:r>
          </a:p>
          <a:p>
            <a:pPr>
              <a:lnSpc>
                <a:spcPct val="150000"/>
              </a:lnSpc>
            </a:pPr>
            <a:r>
              <a:rPr lang="en-US" sz="1400" dirty="0"/>
              <a:t>Batch Code   : </a:t>
            </a:r>
            <a:r>
              <a:rPr lang="en-US" sz="1400" dirty="0">
                <a:ea typeface="Gulim" pitchFamily="34" charset="-127"/>
                <a:cs typeface="Calibri" panose="020F0502020204030204" pitchFamily="34" charset="0"/>
              </a:rPr>
              <a:t> 26</a:t>
            </a:r>
            <a:r>
              <a:rPr lang="en-US" sz="1400" dirty="0"/>
              <a:t>.07.2026 [ A shift, S.No  164 ]</a:t>
            </a:r>
          </a:p>
        </p:txBody>
      </p:sp>
      <p:sp>
        <p:nvSpPr>
          <p:cNvPr id="29" name="Text Box 5"/>
          <p:cNvSpPr txBox="1">
            <a:spLocks noChangeArrowheads="1"/>
          </p:cNvSpPr>
          <p:nvPr/>
        </p:nvSpPr>
        <p:spPr bwMode="auto">
          <a:xfrm>
            <a:off x="63224" y="177168"/>
            <a:ext cx="3431759" cy="341551"/>
          </a:xfrm>
          <a:prstGeom prst="rect">
            <a:avLst/>
          </a:prstGeom>
          <a:noFill/>
          <a:ln w="9525">
            <a:noFill/>
            <a:miter lim="800000"/>
            <a:headEnd/>
            <a:tailEnd/>
          </a:ln>
        </p:spPr>
        <p:txBody>
          <a:bodyPr wrap="square" lIns="91357" tIns="45680" rIns="91357" bIns="45680">
            <a:spAutoFit/>
          </a:bodyPr>
          <a:lstStyle/>
          <a:p>
            <a:pPr algn="l">
              <a:lnSpc>
                <a:spcPct val="90000"/>
              </a:lnSpc>
              <a:spcBef>
                <a:spcPct val="20000"/>
              </a:spcBef>
            </a:pPr>
            <a:r>
              <a:rPr lang="en-US" sz="1800" b="0" dirty="0">
                <a:latin typeface="Calibri" panose="020F0502020204030204" pitchFamily="34" charset="0"/>
              </a:rPr>
              <a:t>Problem Statement :  </a:t>
            </a:r>
          </a:p>
        </p:txBody>
      </p:sp>
      <p:sp>
        <p:nvSpPr>
          <p:cNvPr id="2" name="Rectangle 1"/>
          <p:cNvSpPr/>
          <p:nvPr/>
        </p:nvSpPr>
        <p:spPr bwMode="auto">
          <a:xfrm>
            <a:off x="53968" y="908720"/>
            <a:ext cx="9033516" cy="5772112"/>
          </a:xfrm>
          <a:prstGeom prst="rect">
            <a:avLst/>
          </a:prstGeom>
          <a:no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45" name="Rectangle 97"/>
          <p:cNvSpPr>
            <a:spLocks noChangeArrowheads="1"/>
          </p:cNvSpPr>
          <p:nvPr/>
        </p:nvSpPr>
        <p:spPr bwMode="auto">
          <a:xfrm>
            <a:off x="107503" y="6201083"/>
            <a:ext cx="2219341" cy="423326"/>
          </a:xfrm>
          <a:prstGeom prst="rect">
            <a:avLst/>
          </a:prstGeom>
          <a:solidFill>
            <a:srgbClr val="FFFFCC"/>
          </a:solidFill>
          <a:ln w="3175">
            <a:solidFill>
              <a:schemeClr val="tx1"/>
            </a:solidFill>
            <a:prstDash val="solid"/>
            <a:miter lim="800000"/>
            <a:headEnd/>
            <a:tailEnd/>
          </a:ln>
        </p:spPr>
        <p:txBody>
          <a:bodyPr wrap="none" anchor="ctr"/>
          <a:lstStyle/>
          <a:p>
            <a:pPr algn="l"/>
            <a:r>
              <a:rPr lang="en-IN" sz="1000" b="0" dirty="0">
                <a:latin typeface="Calibri" panose="020F0502020204030204" pitchFamily="34" charset="0"/>
                <a:ea typeface="Calibri" panose="020F0502020204030204" pitchFamily="34" charset="0"/>
                <a:cs typeface="Calibri" panose="020F0502020204030204" pitchFamily="34" charset="0"/>
              </a:rPr>
              <a:t>C Ring Condition :</a:t>
            </a:r>
          </a:p>
          <a:p>
            <a:pPr algn="l"/>
            <a:r>
              <a:rPr lang="en-IN" sz="1000" b="0" dirty="0">
                <a:solidFill>
                  <a:srgbClr val="FF0000"/>
                </a:solidFill>
                <a:latin typeface="Calibri" panose="020F0502020204030204" pitchFamily="34" charset="0"/>
                <a:ea typeface="Calibri" panose="020F0502020204030204" pitchFamily="34" charset="0"/>
                <a:cs typeface="Calibri" panose="020F0502020204030204" pitchFamily="34" charset="0"/>
              </a:rPr>
              <a:t>Came away from Groove</a:t>
            </a:r>
          </a:p>
        </p:txBody>
      </p:sp>
      <p:sp>
        <p:nvSpPr>
          <p:cNvPr id="27" name="Rectangle 26">
            <a:extLst>
              <a:ext uri="{FF2B5EF4-FFF2-40B4-BE49-F238E27FC236}">
                <a16:creationId xmlns:a16="http://schemas.microsoft.com/office/drawing/2014/main" id="{1088035B-9A7F-46D2-87A7-12D17C5A7160}"/>
              </a:ext>
            </a:extLst>
          </p:cNvPr>
          <p:cNvSpPr/>
          <p:nvPr/>
        </p:nvSpPr>
        <p:spPr bwMode="auto">
          <a:xfrm>
            <a:off x="88419" y="4518645"/>
            <a:ext cx="4483582" cy="2129765"/>
          </a:xfrm>
          <a:prstGeom prst="rect">
            <a:avLst/>
          </a:prstGeom>
          <a:noFill/>
          <a:ln w="28575" cap="flat" cmpd="sng" algn="ctr">
            <a:solidFill>
              <a:srgbClr val="FF33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9" name="TextBox 8">
            <a:extLst>
              <a:ext uri="{FF2B5EF4-FFF2-40B4-BE49-F238E27FC236}">
                <a16:creationId xmlns:a16="http://schemas.microsoft.com/office/drawing/2014/main" id="{3BF75BB9-7D01-4179-944A-8CC7E285B938}"/>
              </a:ext>
            </a:extLst>
          </p:cNvPr>
          <p:cNvSpPr txBox="1"/>
          <p:nvPr/>
        </p:nvSpPr>
        <p:spPr>
          <a:xfrm>
            <a:off x="5185871" y="4257675"/>
            <a:ext cx="1956917" cy="307777"/>
          </a:xfrm>
          <a:prstGeom prst="rect">
            <a:avLst/>
          </a:prstGeom>
          <a:noFill/>
        </p:spPr>
        <p:txBody>
          <a:bodyPr wrap="square" rtlCol="0">
            <a:spAutoFit/>
          </a:bodyPr>
          <a:lstStyle/>
          <a:p>
            <a:r>
              <a:rPr lang="en-US" sz="1400" dirty="0">
                <a:latin typeface="Calibri" panose="020F0502020204030204" pitchFamily="34" charset="0"/>
                <a:ea typeface="Calibri" panose="020F0502020204030204" pitchFamily="34" charset="0"/>
                <a:cs typeface="Calibri" panose="020F0502020204030204" pitchFamily="34" charset="0"/>
              </a:rPr>
              <a:t>OK Part </a:t>
            </a:r>
          </a:p>
        </p:txBody>
      </p:sp>
      <p:sp>
        <p:nvSpPr>
          <p:cNvPr id="31" name="TextBox 30">
            <a:extLst>
              <a:ext uri="{FF2B5EF4-FFF2-40B4-BE49-F238E27FC236}">
                <a16:creationId xmlns:a16="http://schemas.microsoft.com/office/drawing/2014/main" id="{92CB8492-035A-4EE0-99E9-0257BBAA4415}"/>
              </a:ext>
            </a:extLst>
          </p:cNvPr>
          <p:cNvSpPr txBox="1"/>
          <p:nvPr/>
        </p:nvSpPr>
        <p:spPr>
          <a:xfrm>
            <a:off x="1515248" y="4257675"/>
            <a:ext cx="1992585" cy="307777"/>
          </a:xfrm>
          <a:prstGeom prst="rect">
            <a:avLst/>
          </a:prstGeom>
          <a:noFill/>
        </p:spPr>
        <p:txBody>
          <a:bodyPr wrap="square" rtlCol="0">
            <a:spAutoFit/>
          </a:bodyPr>
          <a:lstStyle/>
          <a:p>
            <a:r>
              <a:rPr lang="en-US" sz="1400" dirty="0">
                <a:latin typeface="Calibri" panose="020F0502020204030204" pitchFamily="34" charset="0"/>
                <a:ea typeface="Calibri" panose="020F0502020204030204" pitchFamily="34" charset="0"/>
                <a:cs typeface="Calibri" panose="020F0502020204030204" pitchFamily="34" charset="0"/>
              </a:rPr>
              <a:t>Concern Part   </a:t>
            </a:r>
          </a:p>
        </p:txBody>
      </p:sp>
      <p:sp>
        <p:nvSpPr>
          <p:cNvPr id="35" name="Rectangle 97">
            <a:extLst>
              <a:ext uri="{FF2B5EF4-FFF2-40B4-BE49-F238E27FC236}">
                <a16:creationId xmlns:a16="http://schemas.microsoft.com/office/drawing/2014/main" id="{C2F27C6F-C59F-408D-BD12-7738B495CD28}"/>
              </a:ext>
            </a:extLst>
          </p:cNvPr>
          <p:cNvSpPr>
            <a:spLocks noChangeArrowheads="1"/>
          </p:cNvSpPr>
          <p:nvPr/>
        </p:nvSpPr>
        <p:spPr bwMode="auto">
          <a:xfrm>
            <a:off x="2395509" y="6201083"/>
            <a:ext cx="2124615" cy="423326"/>
          </a:xfrm>
          <a:prstGeom prst="rect">
            <a:avLst/>
          </a:prstGeom>
          <a:solidFill>
            <a:srgbClr val="FFFFCC"/>
          </a:solidFill>
          <a:ln w="3175">
            <a:solidFill>
              <a:schemeClr val="tx1"/>
            </a:solidFill>
            <a:prstDash val="solid"/>
            <a:miter lim="800000"/>
            <a:headEnd/>
            <a:tailEnd/>
          </a:ln>
        </p:spPr>
        <p:txBody>
          <a:bodyPr wrap="none" anchor="ctr"/>
          <a:lstStyle/>
          <a:p>
            <a:pPr algn="l">
              <a:spcBef>
                <a:spcPct val="20000"/>
              </a:spcBef>
            </a:pPr>
            <a:r>
              <a:rPr kumimoji="0" lang="en-US" sz="1000" b="0" dirty="0">
                <a:latin typeface="Calibri" panose="020F0502020204030204" pitchFamily="34" charset="0"/>
              </a:rPr>
              <a:t>Picture  : C – Ring Wrong fitment</a:t>
            </a:r>
            <a:endParaRPr kumimoji="0" lang="en-US" sz="1000"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
        <p:nvSpPr>
          <p:cNvPr id="39" name="Rectangle 38">
            <a:extLst>
              <a:ext uri="{FF2B5EF4-FFF2-40B4-BE49-F238E27FC236}">
                <a16:creationId xmlns:a16="http://schemas.microsoft.com/office/drawing/2014/main" id="{D0993CDB-5AE2-478F-A2DE-92A861EC5CFF}"/>
              </a:ext>
            </a:extLst>
          </p:cNvPr>
          <p:cNvSpPr/>
          <p:nvPr/>
        </p:nvSpPr>
        <p:spPr bwMode="auto">
          <a:xfrm>
            <a:off x="4605378" y="4518877"/>
            <a:ext cx="4431117" cy="2129765"/>
          </a:xfrm>
          <a:prstGeom prst="rect">
            <a:avLst/>
          </a:prstGeom>
          <a:noFill/>
          <a:ln w="28575" cap="flat" cmpd="sng" algn="ctr">
            <a:solidFill>
              <a:srgbClr val="00B05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dirty="0">
              <a:ln>
                <a:noFill/>
              </a:ln>
              <a:solidFill>
                <a:schemeClr val="tx1"/>
              </a:solidFill>
              <a:effectLst/>
              <a:latin typeface="Times New Roman" pitchFamily="18" charset="0"/>
              <a:ea typeface="ＭＳ Ｐゴシック" charset="-128"/>
            </a:endParaRPr>
          </a:p>
        </p:txBody>
      </p:sp>
      <p:sp>
        <p:nvSpPr>
          <p:cNvPr id="3" name="Rectangle 2">
            <a:extLst>
              <a:ext uri="{FF2B5EF4-FFF2-40B4-BE49-F238E27FC236}">
                <a16:creationId xmlns:a16="http://schemas.microsoft.com/office/drawing/2014/main" id="{1ED23F71-A8A7-4C2F-AD4B-073D85AE3007}"/>
              </a:ext>
            </a:extLst>
          </p:cNvPr>
          <p:cNvSpPr/>
          <p:nvPr/>
        </p:nvSpPr>
        <p:spPr bwMode="auto">
          <a:xfrm>
            <a:off x="164196" y="1268760"/>
            <a:ext cx="5487924" cy="674991"/>
          </a:xfrm>
          <a:prstGeom prst="rect">
            <a:avLst/>
          </a:prstGeom>
          <a:noFill/>
          <a:ln w="28575" cap="flat" cmpd="sng" algn="ctr">
            <a:solidFill>
              <a:srgbClr val="FF33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400" b="1" i="0" u="none" strike="noStrike" cap="none" normalizeH="0" baseline="0">
              <a:ln>
                <a:noFill/>
              </a:ln>
              <a:solidFill>
                <a:schemeClr val="tx1"/>
              </a:solidFill>
              <a:effectLst/>
              <a:latin typeface="Times New Roman" pitchFamily="18" charset="0"/>
              <a:ea typeface="ＭＳ Ｐゴシック" charset="-128"/>
            </a:endParaRPr>
          </a:p>
        </p:txBody>
      </p:sp>
      <p:pic>
        <p:nvPicPr>
          <p:cNvPr id="41" name="Picture 2" descr="640A AS3">
            <a:extLst>
              <a:ext uri="{FF2B5EF4-FFF2-40B4-BE49-F238E27FC236}">
                <a16:creationId xmlns:a16="http://schemas.microsoft.com/office/drawing/2014/main" id="{539943AB-24C5-4ABE-8287-75F8E6368DB2}"/>
              </a:ext>
            </a:extLst>
          </p:cNvPr>
          <p:cNvPicPr>
            <a:picLocks noChangeAspect="1" noChangeArrowheads="1"/>
          </p:cNvPicPr>
          <p:nvPr/>
        </p:nvPicPr>
        <p:blipFill>
          <a:blip r:embed="rId2" cstate="screen">
            <a:clrChange>
              <a:clrFrom>
                <a:srgbClr val="FFFFFF"/>
              </a:clrFrom>
              <a:clrTo>
                <a:srgbClr val="FFFFFF">
                  <a:alpha val="0"/>
                </a:srgbClr>
              </a:clrTo>
            </a:clrChange>
            <a:extLst>
              <a:ext uri="{28A0092B-C50C-407E-A947-70E740481C1C}">
                <a14:useLocalDpi xmlns:a14="http://schemas.microsoft.com/office/drawing/2010/main"/>
              </a:ext>
            </a:extLst>
          </a:blip>
          <a:srcRect l="10762" r="15132"/>
          <a:stretch>
            <a:fillRect/>
          </a:stretch>
        </p:blipFill>
        <p:spPr bwMode="auto">
          <a:xfrm>
            <a:off x="6114292" y="1026724"/>
            <a:ext cx="2362570" cy="2777262"/>
          </a:xfrm>
          <a:prstGeom prst="rect">
            <a:avLst/>
          </a:prstGeom>
          <a:noFill/>
          <a:ln w="9525">
            <a:noFill/>
            <a:miter lim="800000"/>
            <a:headEnd/>
            <a:tailEnd/>
          </a:ln>
        </p:spPr>
      </p:pic>
      <p:sp>
        <p:nvSpPr>
          <p:cNvPr id="43" name="Rectangle 97">
            <a:extLst>
              <a:ext uri="{FF2B5EF4-FFF2-40B4-BE49-F238E27FC236}">
                <a16:creationId xmlns:a16="http://schemas.microsoft.com/office/drawing/2014/main" id="{87BA5861-62D5-4A09-8CC6-294D1A903B56}"/>
              </a:ext>
            </a:extLst>
          </p:cNvPr>
          <p:cNvSpPr>
            <a:spLocks noChangeArrowheads="1"/>
          </p:cNvSpPr>
          <p:nvPr/>
        </p:nvSpPr>
        <p:spPr bwMode="auto">
          <a:xfrm>
            <a:off x="7140551" y="932282"/>
            <a:ext cx="1737360" cy="238259"/>
          </a:xfrm>
          <a:prstGeom prst="rect">
            <a:avLst/>
          </a:prstGeom>
          <a:solidFill>
            <a:srgbClr val="FFFFCC"/>
          </a:solidFill>
          <a:ln w="3175">
            <a:solidFill>
              <a:schemeClr val="tx1"/>
            </a:solidFill>
            <a:prstDash val="solid"/>
            <a:miter lim="800000"/>
            <a:headEnd/>
            <a:tailEnd/>
          </a:ln>
        </p:spPr>
        <p:txBody>
          <a:bodyPr wrap="none" anchor="ctr"/>
          <a:lstStyle/>
          <a:p>
            <a:r>
              <a:rPr lang="en-IN" sz="1200" dirty="0">
                <a:solidFill>
                  <a:srgbClr val="0000FF"/>
                </a:solidFill>
                <a:latin typeface="Calibri" panose="020F0502020204030204" pitchFamily="34" charset="0"/>
                <a:ea typeface="Calibri" panose="020F0502020204030204" pitchFamily="34" charset="0"/>
                <a:cs typeface="Calibri" panose="020F0502020204030204" pitchFamily="34" charset="0"/>
              </a:rPr>
              <a:t>STEERING SYSTEM</a:t>
            </a:r>
          </a:p>
        </p:txBody>
      </p:sp>
      <p:cxnSp>
        <p:nvCxnSpPr>
          <p:cNvPr id="7" name="Straight Arrow Connector 6">
            <a:extLst>
              <a:ext uri="{FF2B5EF4-FFF2-40B4-BE49-F238E27FC236}">
                <a16:creationId xmlns:a16="http://schemas.microsoft.com/office/drawing/2014/main" id="{F3D16EC8-7334-4256-AEA2-B890928E1943}"/>
              </a:ext>
            </a:extLst>
          </p:cNvPr>
          <p:cNvCxnSpPr/>
          <p:nvPr/>
        </p:nvCxnSpPr>
        <p:spPr bwMode="auto">
          <a:xfrm flipH="1">
            <a:off x="7056668" y="1412776"/>
            <a:ext cx="216024" cy="0"/>
          </a:xfrm>
          <a:prstGeom prst="straightConnector1">
            <a:avLst/>
          </a:prstGeom>
          <a:solidFill>
            <a:schemeClr val="accent1"/>
          </a:solidFill>
          <a:ln w="9525" cap="flat" cmpd="sng" algn="ctr">
            <a:solidFill>
              <a:srgbClr val="00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44" name="テキスト ボックス 4">
            <a:extLst>
              <a:ext uri="{FF2B5EF4-FFF2-40B4-BE49-F238E27FC236}">
                <a16:creationId xmlns:a16="http://schemas.microsoft.com/office/drawing/2014/main" id="{AF845012-E4F6-4ED8-B556-87FE092A1E11}"/>
              </a:ext>
            </a:extLst>
          </p:cNvPr>
          <p:cNvSpPr txBox="1"/>
          <p:nvPr/>
        </p:nvSpPr>
        <p:spPr>
          <a:xfrm>
            <a:off x="7293019" y="1115177"/>
            <a:ext cx="1628972" cy="281937"/>
          </a:xfrm>
          <a:prstGeom prst="rect">
            <a:avLst/>
          </a:prstGeom>
          <a:noFill/>
          <a:ln>
            <a:noFill/>
          </a:ln>
        </p:spPr>
        <p:txBody>
          <a:bodyPr wrap="none" rtlCol="0">
            <a:spAutoFit/>
          </a:bodyPr>
          <a:lstStyle/>
          <a:p>
            <a:pPr>
              <a:lnSpc>
                <a:spcPct val="120000"/>
              </a:lnSpc>
              <a:spcBef>
                <a:spcPts val="600"/>
              </a:spcBef>
            </a:pPr>
            <a:r>
              <a:rPr kumimoji="1" lang="en-US" altLang="ja-JP" sz="1100" b="0" dirty="0">
                <a:latin typeface="Calibri" panose="020F0502020204030204" pitchFamily="34" charset="0"/>
                <a:ea typeface="Verdana" pitchFamily="34" charset="0"/>
                <a:cs typeface="Calibri" panose="020F0502020204030204" pitchFamily="34" charset="0"/>
              </a:rPr>
              <a:t>Manual Steering  Column</a:t>
            </a:r>
            <a:endParaRPr kumimoji="1" lang="ja-JP" altLang="en-US" sz="1400" b="0" dirty="0" err="1">
              <a:latin typeface="Calibri" panose="020F0502020204030204" pitchFamily="34" charset="0"/>
              <a:ea typeface="Verdana" pitchFamily="34" charset="0"/>
              <a:cs typeface="Calibri" panose="020F0502020204030204" pitchFamily="34" charset="0"/>
            </a:endParaRPr>
          </a:p>
        </p:txBody>
      </p:sp>
      <p:cxnSp>
        <p:nvCxnSpPr>
          <p:cNvPr id="46" name="Straight Arrow Connector 45">
            <a:extLst>
              <a:ext uri="{FF2B5EF4-FFF2-40B4-BE49-F238E27FC236}">
                <a16:creationId xmlns:a16="http://schemas.microsoft.com/office/drawing/2014/main" id="{E956D63E-F752-4B7F-B220-2918DF77CA83}"/>
              </a:ext>
            </a:extLst>
          </p:cNvPr>
          <p:cNvCxnSpPr>
            <a:cxnSpLocks/>
          </p:cNvCxnSpPr>
          <p:nvPr/>
        </p:nvCxnSpPr>
        <p:spPr bwMode="auto">
          <a:xfrm flipH="1" flipV="1">
            <a:off x="6961938" y="2054754"/>
            <a:ext cx="310754" cy="6077"/>
          </a:xfrm>
          <a:prstGeom prst="straightConnector1">
            <a:avLst/>
          </a:prstGeom>
          <a:solidFill>
            <a:schemeClr val="accent1"/>
          </a:solidFill>
          <a:ln w="9525" cap="flat" cmpd="sng" algn="ctr">
            <a:solidFill>
              <a:srgbClr val="00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47" name="テキスト ボックス 4">
            <a:extLst>
              <a:ext uri="{FF2B5EF4-FFF2-40B4-BE49-F238E27FC236}">
                <a16:creationId xmlns:a16="http://schemas.microsoft.com/office/drawing/2014/main" id="{DC75B308-33C4-438C-8BD6-B502289A600F}"/>
              </a:ext>
            </a:extLst>
          </p:cNvPr>
          <p:cNvSpPr txBox="1"/>
          <p:nvPr/>
        </p:nvSpPr>
        <p:spPr>
          <a:xfrm>
            <a:off x="6935973" y="1801807"/>
            <a:ext cx="793807" cy="281937"/>
          </a:xfrm>
          <a:prstGeom prst="rect">
            <a:avLst/>
          </a:prstGeom>
          <a:noFill/>
          <a:ln>
            <a:noFill/>
          </a:ln>
        </p:spPr>
        <p:txBody>
          <a:bodyPr wrap="none" rtlCol="0">
            <a:spAutoFit/>
          </a:bodyPr>
          <a:lstStyle/>
          <a:p>
            <a:pPr>
              <a:lnSpc>
                <a:spcPct val="120000"/>
              </a:lnSpc>
              <a:spcBef>
                <a:spcPts val="600"/>
              </a:spcBef>
            </a:pPr>
            <a:r>
              <a:rPr kumimoji="1" lang="en-US" altLang="ja-JP" sz="1100" b="0" dirty="0">
                <a:latin typeface="Calibri" panose="020F0502020204030204" pitchFamily="34" charset="0"/>
                <a:ea typeface="Verdana" pitchFamily="34" charset="0"/>
                <a:cs typeface="Calibri" panose="020F0502020204030204" pitchFamily="34" charset="0"/>
              </a:rPr>
              <a:t>Upper IMS</a:t>
            </a:r>
            <a:endParaRPr kumimoji="1" lang="ja-JP" altLang="en-US" sz="1400" b="0" dirty="0" err="1">
              <a:latin typeface="Calibri" panose="020F0502020204030204" pitchFamily="34" charset="0"/>
              <a:ea typeface="Verdana" pitchFamily="34" charset="0"/>
              <a:cs typeface="Calibri" panose="020F0502020204030204" pitchFamily="34" charset="0"/>
            </a:endParaRPr>
          </a:p>
        </p:txBody>
      </p:sp>
      <p:cxnSp>
        <p:nvCxnSpPr>
          <p:cNvPr id="48" name="Straight Arrow Connector 47">
            <a:extLst>
              <a:ext uri="{FF2B5EF4-FFF2-40B4-BE49-F238E27FC236}">
                <a16:creationId xmlns:a16="http://schemas.microsoft.com/office/drawing/2014/main" id="{21F802A0-8FE2-417A-BEA0-2CBC520879F1}"/>
              </a:ext>
            </a:extLst>
          </p:cNvPr>
          <p:cNvCxnSpPr>
            <a:cxnSpLocks/>
          </p:cNvCxnSpPr>
          <p:nvPr/>
        </p:nvCxnSpPr>
        <p:spPr bwMode="auto">
          <a:xfrm>
            <a:off x="6300192" y="2636912"/>
            <a:ext cx="433283" cy="0"/>
          </a:xfrm>
          <a:prstGeom prst="straightConnector1">
            <a:avLst/>
          </a:prstGeom>
          <a:solidFill>
            <a:schemeClr val="accent1"/>
          </a:solidFill>
          <a:ln w="9525" cap="flat" cmpd="sng" algn="ctr">
            <a:solidFill>
              <a:srgbClr val="00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49" name="テキスト ボックス 4">
            <a:extLst>
              <a:ext uri="{FF2B5EF4-FFF2-40B4-BE49-F238E27FC236}">
                <a16:creationId xmlns:a16="http://schemas.microsoft.com/office/drawing/2014/main" id="{E42D32A5-89A6-4575-B786-83E22A2D0655}"/>
              </a:ext>
            </a:extLst>
          </p:cNvPr>
          <p:cNvSpPr txBox="1"/>
          <p:nvPr/>
        </p:nvSpPr>
        <p:spPr>
          <a:xfrm>
            <a:off x="6084168" y="2647305"/>
            <a:ext cx="790601" cy="281937"/>
          </a:xfrm>
          <a:prstGeom prst="rect">
            <a:avLst/>
          </a:prstGeom>
          <a:noFill/>
          <a:ln>
            <a:noFill/>
          </a:ln>
        </p:spPr>
        <p:txBody>
          <a:bodyPr wrap="none" rtlCol="0">
            <a:spAutoFit/>
          </a:bodyPr>
          <a:lstStyle/>
          <a:p>
            <a:pPr>
              <a:lnSpc>
                <a:spcPct val="120000"/>
              </a:lnSpc>
              <a:spcBef>
                <a:spcPts val="600"/>
              </a:spcBef>
            </a:pPr>
            <a:r>
              <a:rPr lang="en-US" altLang="ja-JP" sz="1100" b="0" dirty="0">
                <a:latin typeface="Calibri" panose="020F0502020204030204" pitchFamily="34" charset="0"/>
                <a:ea typeface="Verdana" pitchFamily="34" charset="0"/>
                <a:cs typeface="Calibri" panose="020F0502020204030204" pitchFamily="34" charset="0"/>
              </a:rPr>
              <a:t>Lower </a:t>
            </a:r>
            <a:r>
              <a:rPr kumimoji="1" lang="en-US" altLang="ja-JP" sz="1100" b="0" dirty="0">
                <a:latin typeface="Calibri" panose="020F0502020204030204" pitchFamily="34" charset="0"/>
                <a:ea typeface="Verdana" pitchFamily="34" charset="0"/>
                <a:cs typeface="Calibri" panose="020F0502020204030204" pitchFamily="34" charset="0"/>
              </a:rPr>
              <a:t>IMS</a:t>
            </a:r>
            <a:endParaRPr kumimoji="1" lang="ja-JP" altLang="en-US" sz="1400" b="0" dirty="0" err="1">
              <a:latin typeface="Calibri" panose="020F0502020204030204" pitchFamily="34" charset="0"/>
              <a:ea typeface="Verdana" pitchFamily="34" charset="0"/>
              <a:cs typeface="Calibri" panose="020F0502020204030204" pitchFamily="34" charset="0"/>
            </a:endParaRPr>
          </a:p>
        </p:txBody>
      </p:sp>
      <p:sp>
        <p:nvSpPr>
          <p:cNvPr id="50" name="テキスト ボックス 4">
            <a:extLst>
              <a:ext uri="{FF2B5EF4-FFF2-40B4-BE49-F238E27FC236}">
                <a16:creationId xmlns:a16="http://schemas.microsoft.com/office/drawing/2014/main" id="{3F99E36A-5E8B-4C90-B4D9-C0782B05C569}"/>
              </a:ext>
            </a:extLst>
          </p:cNvPr>
          <p:cNvSpPr txBox="1"/>
          <p:nvPr/>
        </p:nvSpPr>
        <p:spPr>
          <a:xfrm>
            <a:off x="8220180" y="3606408"/>
            <a:ext cx="718466" cy="281937"/>
          </a:xfrm>
          <a:prstGeom prst="rect">
            <a:avLst/>
          </a:prstGeom>
          <a:noFill/>
          <a:ln>
            <a:noFill/>
          </a:ln>
        </p:spPr>
        <p:txBody>
          <a:bodyPr wrap="none" rtlCol="0">
            <a:spAutoFit/>
          </a:bodyPr>
          <a:lstStyle/>
          <a:p>
            <a:pPr>
              <a:lnSpc>
                <a:spcPct val="120000"/>
              </a:lnSpc>
              <a:spcBef>
                <a:spcPts val="600"/>
              </a:spcBef>
            </a:pPr>
            <a:r>
              <a:rPr kumimoji="1" lang="en-US" altLang="ja-JP" sz="1100" b="0" dirty="0">
                <a:latin typeface="Calibri" panose="020F0502020204030204" pitchFamily="34" charset="0"/>
                <a:ea typeface="Verdana" pitchFamily="34" charset="0"/>
                <a:cs typeface="Calibri" panose="020F0502020204030204" pitchFamily="34" charset="0"/>
              </a:rPr>
              <a:t>HPS Gear</a:t>
            </a:r>
            <a:endParaRPr kumimoji="1" lang="ja-JP" altLang="en-US" sz="1400" b="0" dirty="0" err="1">
              <a:latin typeface="Calibri" panose="020F0502020204030204" pitchFamily="34" charset="0"/>
              <a:ea typeface="Verdana" pitchFamily="34" charset="0"/>
              <a:cs typeface="Calibri" panose="020F0502020204030204" pitchFamily="34" charset="0"/>
            </a:endParaRPr>
          </a:p>
        </p:txBody>
      </p:sp>
      <p:cxnSp>
        <p:nvCxnSpPr>
          <p:cNvPr id="51" name="Straight Arrow Connector 50">
            <a:extLst>
              <a:ext uri="{FF2B5EF4-FFF2-40B4-BE49-F238E27FC236}">
                <a16:creationId xmlns:a16="http://schemas.microsoft.com/office/drawing/2014/main" id="{51C4BC12-60EC-4C32-82E9-FB02B21E3AF2}"/>
              </a:ext>
            </a:extLst>
          </p:cNvPr>
          <p:cNvCxnSpPr>
            <a:cxnSpLocks/>
          </p:cNvCxnSpPr>
          <p:nvPr/>
        </p:nvCxnSpPr>
        <p:spPr bwMode="auto">
          <a:xfrm flipV="1">
            <a:off x="8185401" y="3501008"/>
            <a:ext cx="0" cy="243133"/>
          </a:xfrm>
          <a:prstGeom prst="straightConnector1">
            <a:avLst/>
          </a:prstGeom>
          <a:solidFill>
            <a:schemeClr val="accent1"/>
          </a:solidFill>
          <a:ln w="9525" cap="flat" cmpd="sng" algn="ctr">
            <a:solidFill>
              <a:srgbClr val="00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pic>
        <p:nvPicPr>
          <p:cNvPr id="52" name="Picture 2" descr="Toyota Innova Crysta : Official Review - Team-BHP">
            <a:extLst>
              <a:ext uri="{FF2B5EF4-FFF2-40B4-BE49-F238E27FC236}">
                <a16:creationId xmlns:a16="http://schemas.microsoft.com/office/drawing/2014/main" id="{9B78A2F5-DABE-4163-9F0E-1FF6F808490F}"/>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4542652" y="2091291"/>
            <a:ext cx="1511575" cy="1522249"/>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Lst>
        </p:spPr>
      </p:pic>
      <p:sp>
        <p:nvSpPr>
          <p:cNvPr id="54" name="Rectangle: Rounded Corners 53">
            <a:extLst>
              <a:ext uri="{FF2B5EF4-FFF2-40B4-BE49-F238E27FC236}">
                <a16:creationId xmlns:a16="http://schemas.microsoft.com/office/drawing/2014/main" id="{2ACFBB65-F35C-47CF-8C2E-7989E3D67CA8}"/>
              </a:ext>
            </a:extLst>
          </p:cNvPr>
          <p:cNvSpPr/>
          <p:nvPr/>
        </p:nvSpPr>
        <p:spPr bwMode="auto">
          <a:xfrm>
            <a:off x="4860032" y="3302516"/>
            <a:ext cx="889568" cy="270500"/>
          </a:xfrm>
          <a:prstGeom prst="roundRect">
            <a:avLst/>
          </a:prstGeom>
          <a:solidFill>
            <a:srgbClr val="FFCCFF"/>
          </a:solidFill>
          <a:ln w="9525" cap="flat" cmpd="sng" algn="ctr">
            <a:noFill/>
            <a:prstDash val="solid"/>
            <a:round/>
            <a:headEnd type="none" w="med" len="med"/>
            <a:tailEnd type="none" w="med" len="med"/>
          </a:ln>
          <a:effectLst/>
          <a:ex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9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Up &amp; Down</a:t>
            </a:r>
          </a:p>
        </p:txBody>
      </p:sp>
      <p:sp>
        <p:nvSpPr>
          <p:cNvPr id="55" name="Rectangle 97">
            <a:extLst>
              <a:ext uri="{FF2B5EF4-FFF2-40B4-BE49-F238E27FC236}">
                <a16:creationId xmlns:a16="http://schemas.microsoft.com/office/drawing/2014/main" id="{048914A8-AAE0-4999-9618-756AE3F68914}"/>
              </a:ext>
            </a:extLst>
          </p:cNvPr>
          <p:cNvSpPr>
            <a:spLocks noChangeArrowheads="1"/>
          </p:cNvSpPr>
          <p:nvPr/>
        </p:nvSpPr>
        <p:spPr bwMode="auto">
          <a:xfrm>
            <a:off x="4535384" y="3597760"/>
            <a:ext cx="1518843" cy="623004"/>
          </a:xfrm>
          <a:prstGeom prst="rect">
            <a:avLst/>
          </a:prstGeom>
          <a:solidFill>
            <a:srgbClr val="FFFFCC"/>
          </a:solidFill>
          <a:ln w="3175">
            <a:solidFill>
              <a:schemeClr val="tx1"/>
            </a:solidFill>
            <a:prstDash val="solid"/>
            <a:miter lim="800000"/>
            <a:headEnd/>
            <a:tailEnd/>
          </a:ln>
        </p:spPr>
        <p:txBody>
          <a:bodyPr wrap="none" anchor="ctr"/>
          <a:lstStyle/>
          <a:p>
            <a:r>
              <a:rPr lang="en-IN" sz="1000" b="0" dirty="0">
                <a:solidFill>
                  <a:srgbClr val="0000FF"/>
                </a:solidFill>
                <a:latin typeface="Calibri" panose="020F0502020204030204" pitchFamily="34" charset="0"/>
                <a:ea typeface="Calibri" panose="020F0502020204030204" pitchFamily="34" charset="0"/>
                <a:cs typeface="Calibri" panose="020F0502020204030204" pitchFamily="34" charset="0"/>
              </a:rPr>
              <a:t>Steering  Wheel Play </a:t>
            </a:r>
          </a:p>
          <a:p>
            <a:r>
              <a:rPr lang="en-IN" sz="1000" b="0" dirty="0">
                <a:solidFill>
                  <a:srgbClr val="0000FF"/>
                </a:solidFill>
                <a:latin typeface="Calibri" panose="020F0502020204030204" pitchFamily="34" charset="0"/>
                <a:ea typeface="Calibri" panose="020F0502020204030204" pitchFamily="34" charset="0"/>
                <a:cs typeface="Calibri" panose="020F0502020204030204" pitchFamily="34" charset="0"/>
              </a:rPr>
              <a:t>observed while Tilt &amp; </a:t>
            </a:r>
          </a:p>
          <a:p>
            <a:r>
              <a:rPr lang="en-IN" sz="1000" b="0" dirty="0">
                <a:solidFill>
                  <a:srgbClr val="0000FF"/>
                </a:solidFill>
                <a:latin typeface="Calibri" panose="020F0502020204030204" pitchFamily="34" charset="0"/>
                <a:ea typeface="Calibri" panose="020F0502020204030204" pitchFamily="34" charset="0"/>
                <a:cs typeface="Calibri" panose="020F0502020204030204" pitchFamily="34" charset="0"/>
              </a:rPr>
              <a:t>Telescopic Inspection</a:t>
            </a:r>
          </a:p>
        </p:txBody>
      </p:sp>
      <p:pic>
        <p:nvPicPr>
          <p:cNvPr id="56" name="Picture 55">
            <a:extLst>
              <a:ext uri="{FF2B5EF4-FFF2-40B4-BE49-F238E27FC236}">
                <a16:creationId xmlns:a16="http://schemas.microsoft.com/office/drawing/2014/main" id="{7FE8FC0B-2684-40DE-91A8-FA7D102BBA82}"/>
              </a:ext>
            </a:extLst>
          </p:cNvPr>
          <p:cNvPicPr>
            <a:picLocks noChangeAspect="1" noChangeArrowheads="1"/>
          </p:cNvPicPr>
          <p:nvPr/>
        </p:nvPicPr>
        <p:blipFill>
          <a:blip r:embed="rId4"/>
          <a:srcRect l="2644" r="4816" b="6340"/>
          <a:stretch>
            <a:fillRect/>
          </a:stretch>
        </p:blipFill>
        <p:spPr bwMode="auto">
          <a:xfrm>
            <a:off x="7698312" y="1404099"/>
            <a:ext cx="1169969" cy="498710"/>
          </a:xfrm>
          <a:prstGeom prst="rect">
            <a:avLst/>
          </a:prstGeom>
          <a:noFill/>
          <a:ln w="3175">
            <a:noFill/>
            <a:miter lim="800000"/>
            <a:headEnd/>
            <a:tailEnd/>
          </a:ln>
          <a:effectLst/>
        </p:spPr>
      </p:pic>
      <p:pic>
        <p:nvPicPr>
          <p:cNvPr id="57" name="Picture 56">
            <a:extLst>
              <a:ext uri="{FF2B5EF4-FFF2-40B4-BE49-F238E27FC236}">
                <a16:creationId xmlns:a16="http://schemas.microsoft.com/office/drawing/2014/main" id="{ABF1AE1C-29FE-4F61-9E2B-65549902EDF5}"/>
              </a:ext>
            </a:extLst>
          </p:cNvPr>
          <p:cNvPicPr>
            <a:picLocks noChangeAspect="1"/>
          </p:cNvPicPr>
          <p:nvPr/>
        </p:nvPicPr>
        <p:blipFill rotWithShape="1">
          <a:blip r:embed="rId5"/>
          <a:srcRect b="10438"/>
          <a:stretch/>
        </p:blipFill>
        <p:spPr>
          <a:xfrm>
            <a:off x="131754" y="4556515"/>
            <a:ext cx="2195091" cy="1612145"/>
          </a:xfrm>
          <a:prstGeom prst="rect">
            <a:avLst/>
          </a:prstGeom>
        </p:spPr>
      </p:pic>
      <p:sp>
        <p:nvSpPr>
          <p:cNvPr id="58" name="Rectangle 97">
            <a:extLst>
              <a:ext uri="{FF2B5EF4-FFF2-40B4-BE49-F238E27FC236}">
                <a16:creationId xmlns:a16="http://schemas.microsoft.com/office/drawing/2014/main" id="{8E8B3E7F-00FB-4E1F-B5A6-427F3669EDB9}"/>
              </a:ext>
            </a:extLst>
          </p:cNvPr>
          <p:cNvSpPr>
            <a:spLocks noChangeArrowheads="1"/>
          </p:cNvSpPr>
          <p:nvPr/>
        </p:nvSpPr>
        <p:spPr bwMode="auto">
          <a:xfrm>
            <a:off x="4641039" y="6183676"/>
            <a:ext cx="2219341" cy="423326"/>
          </a:xfrm>
          <a:prstGeom prst="rect">
            <a:avLst/>
          </a:prstGeom>
          <a:solidFill>
            <a:srgbClr val="FFFFCC"/>
          </a:solidFill>
          <a:ln w="3175">
            <a:solidFill>
              <a:schemeClr val="tx1"/>
            </a:solidFill>
            <a:prstDash val="solid"/>
            <a:miter lim="800000"/>
            <a:headEnd/>
            <a:tailEnd/>
          </a:ln>
        </p:spPr>
        <p:txBody>
          <a:bodyPr wrap="none" anchor="ctr"/>
          <a:lstStyle/>
          <a:p>
            <a:pPr algn="l"/>
            <a:r>
              <a:rPr lang="en-IN" sz="1000" b="0" dirty="0">
                <a:latin typeface="Calibri" panose="020F0502020204030204" pitchFamily="34" charset="0"/>
                <a:ea typeface="Calibri" panose="020F0502020204030204" pitchFamily="34" charset="0"/>
                <a:cs typeface="Calibri" panose="020F0502020204030204" pitchFamily="34" charset="0"/>
              </a:rPr>
              <a:t>C Ring Condition :</a:t>
            </a:r>
          </a:p>
          <a:p>
            <a:pPr algn="l"/>
            <a:r>
              <a:rPr lang="en-IN" sz="1000" b="0" dirty="0">
                <a:solidFill>
                  <a:srgbClr val="0000FF"/>
                </a:solidFill>
                <a:latin typeface="Calibri" panose="020F0502020204030204" pitchFamily="34" charset="0"/>
                <a:ea typeface="Calibri" panose="020F0502020204030204" pitchFamily="34" charset="0"/>
                <a:cs typeface="Calibri" panose="020F0502020204030204" pitchFamily="34" charset="0"/>
              </a:rPr>
              <a:t>Properly fitted at Groove</a:t>
            </a:r>
          </a:p>
        </p:txBody>
      </p:sp>
      <p:sp>
        <p:nvSpPr>
          <p:cNvPr id="59" name="Rectangle 97">
            <a:extLst>
              <a:ext uri="{FF2B5EF4-FFF2-40B4-BE49-F238E27FC236}">
                <a16:creationId xmlns:a16="http://schemas.microsoft.com/office/drawing/2014/main" id="{7D33E364-CC4D-4997-8BA5-8F81557FC13B}"/>
              </a:ext>
            </a:extLst>
          </p:cNvPr>
          <p:cNvSpPr>
            <a:spLocks noChangeArrowheads="1"/>
          </p:cNvSpPr>
          <p:nvPr/>
        </p:nvSpPr>
        <p:spPr bwMode="auto">
          <a:xfrm>
            <a:off x="6929046" y="6183676"/>
            <a:ext cx="2050366" cy="423326"/>
          </a:xfrm>
          <a:prstGeom prst="rect">
            <a:avLst/>
          </a:prstGeom>
          <a:solidFill>
            <a:srgbClr val="FFFFCC"/>
          </a:solidFill>
          <a:ln w="3175">
            <a:solidFill>
              <a:schemeClr val="tx1"/>
            </a:solidFill>
            <a:prstDash val="solid"/>
            <a:miter lim="800000"/>
            <a:headEnd/>
            <a:tailEnd/>
          </a:ln>
        </p:spPr>
        <p:txBody>
          <a:bodyPr wrap="none" anchor="ctr"/>
          <a:lstStyle/>
          <a:p>
            <a:pPr algn="l">
              <a:spcBef>
                <a:spcPct val="20000"/>
              </a:spcBef>
            </a:pPr>
            <a:r>
              <a:rPr kumimoji="0" lang="en-US" sz="1000" b="0" dirty="0">
                <a:latin typeface="Calibri" panose="020F0502020204030204" pitchFamily="34" charset="0"/>
              </a:rPr>
              <a:t>Picture  : C – Ring correct fitment</a:t>
            </a:r>
            <a:endParaRPr kumimoji="0" lang="en-US" sz="1000"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pic>
        <p:nvPicPr>
          <p:cNvPr id="13" name="Picture 12">
            <a:extLst>
              <a:ext uri="{FF2B5EF4-FFF2-40B4-BE49-F238E27FC236}">
                <a16:creationId xmlns:a16="http://schemas.microsoft.com/office/drawing/2014/main" id="{842DCE5F-4B5A-4FA5-AE0D-28FDB16757D3}"/>
              </a:ext>
            </a:extLst>
          </p:cNvPr>
          <p:cNvPicPr>
            <a:picLocks noChangeAspect="1"/>
          </p:cNvPicPr>
          <p:nvPr/>
        </p:nvPicPr>
        <p:blipFill rotWithShape="1">
          <a:blip r:embed="rId6">
            <a:extLst>
              <a:ext uri="{BEBA8EAE-BF5A-486C-A8C5-ECC9F3942E4B}">
                <a14:imgProps xmlns:a14="http://schemas.microsoft.com/office/drawing/2010/main">
                  <a14:imgLayer r:embed="rId7">
                    <a14:imgEffect>
                      <a14:brightnessContrast contrast="-20000"/>
                    </a14:imgEffect>
                  </a14:imgLayer>
                </a14:imgProps>
              </a:ext>
            </a:extLst>
          </a:blip>
          <a:srcRect t="13899" r="14113" b="21397"/>
          <a:stretch/>
        </p:blipFill>
        <p:spPr>
          <a:xfrm>
            <a:off x="2352982" y="4673018"/>
            <a:ext cx="2184168" cy="1356442"/>
          </a:xfrm>
          <a:prstGeom prst="rect">
            <a:avLst/>
          </a:prstGeom>
        </p:spPr>
      </p:pic>
      <p:sp>
        <p:nvSpPr>
          <p:cNvPr id="4" name="Thought Bubble: Cloud 3">
            <a:extLst>
              <a:ext uri="{FF2B5EF4-FFF2-40B4-BE49-F238E27FC236}">
                <a16:creationId xmlns:a16="http://schemas.microsoft.com/office/drawing/2014/main" id="{7FDE2D5E-B8EE-453F-9BCB-E0A3EF57D4B0}"/>
              </a:ext>
            </a:extLst>
          </p:cNvPr>
          <p:cNvSpPr/>
          <p:nvPr/>
        </p:nvSpPr>
        <p:spPr bwMode="auto">
          <a:xfrm>
            <a:off x="3083516" y="4049925"/>
            <a:ext cx="1381356" cy="552669"/>
          </a:xfrm>
          <a:prstGeom prst="cloudCallout">
            <a:avLst>
              <a:gd name="adj1" fmla="val -34901"/>
              <a:gd name="adj2" fmla="val 85994"/>
            </a:avLst>
          </a:prstGeom>
          <a:solidFill>
            <a:srgbClr val="FFFF00"/>
          </a:solidFill>
          <a:ln w="9525" cap="flat" cmpd="sng" algn="ctr">
            <a:solidFill>
              <a:srgbClr val="FF3300"/>
            </a:solidFill>
            <a:prstDash val="solid"/>
            <a:round/>
            <a:headEnd type="none" w="med" len="med"/>
            <a:tailEnd type="none" w="med" len="med"/>
          </a:ln>
          <a:effectLst/>
          <a:ex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NG </a:t>
            </a:r>
            <a:r>
              <a:rPr lang="en-US" sz="1100" dirty="0">
                <a:latin typeface="Calibri" panose="020F0502020204030204" pitchFamily="34" charset="0"/>
                <a:ea typeface="Calibri" panose="020F0502020204030204" pitchFamily="34" charset="0"/>
                <a:cs typeface="Calibri" panose="020F0502020204030204" pitchFamily="34" charset="0"/>
              </a:rPr>
              <a:t>C</a:t>
            </a:r>
            <a:r>
              <a:rPr kumimoji="1" lang="en-US" sz="11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ondition</a:t>
            </a:r>
            <a:endParaRPr kumimoji="1" 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pic>
        <p:nvPicPr>
          <p:cNvPr id="16" name="Picture 15">
            <a:extLst>
              <a:ext uri="{FF2B5EF4-FFF2-40B4-BE49-F238E27FC236}">
                <a16:creationId xmlns:a16="http://schemas.microsoft.com/office/drawing/2014/main" id="{A864CB74-F18D-4099-AE68-077693073453}"/>
              </a:ext>
            </a:extLst>
          </p:cNvPr>
          <p:cNvPicPr>
            <a:picLocks noChangeAspect="1"/>
          </p:cNvPicPr>
          <p:nvPr/>
        </p:nvPicPr>
        <p:blipFill rotWithShape="1">
          <a:blip r:embed="rId8">
            <a:extLst>
              <a:ext uri="{BEBA8EAE-BF5A-486C-A8C5-ECC9F3942E4B}">
                <a14:imgProps xmlns:a14="http://schemas.microsoft.com/office/drawing/2010/main">
                  <a14:imgLayer r:embed="rId9">
                    <a14:imgEffect>
                      <a14:brightnessContrast contrast="-20000"/>
                    </a14:imgEffect>
                  </a14:imgLayer>
                </a14:imgProps>
              </a:ext>
            </a:extLst>
          </a:blip>
          <a:srcRect l="7003" t="13165" r="21259" b="24226"/>
          <a:stretch/>
        </p:blipFill>
        <p:spPr>
          <a:xfrm>
            <a:off x="6924336" y="4700951"/>
            <a:ext cx="2040152" cy="1457508"/>
          </a:xfrm>
          <a:prstGeom prst="rect">
            <a:avLst/>
          </a:prstGeom>
        </p:spPr>
      </p:pic>
      <p:sp>
        <p:nvSpPr>
          <p:cNvPr id="26" name="Thought Bubble: Cloud 25">
            <a:extLst>
              <a:ext uri="{FF2B5EF4-FFF2-40B4-BE49-F238E27FC236}">
                <a16:creationId xmlns:a16="http://schemas.microsoft.com/office/drawing/2014/main" id="{27541E27-88FA-4F9A-8D59-4203A3DBE707}"/>
              </a:ext>
            </a:extLst>
          </p:cNvPr>
          <p:cNvSpPr/>
          <p:nvPr/>
        </p:nvSpPr>
        <p:spPr bwMode="auto">
          <a:xfrm>
            <a:off x="7460501" y="3963186"/>
            <a:ext cx="1287602" cy="552669"/>
          </a:xfrm>
          <a:prstGeom prst="cloudCallout">
            <a:avLst>
              <a:gd name="adj1" fmla="val -43997"/>
              <a:gd name="adj2" fmla="val 110528"/>
            </a:avLst>
          </a:prstGeom>
          <a:solidFill>
            <a:srgbClr val="66FF33"/>
          </a:solidFill>
          <a:ln w="9525" cap="flat" cmpd="sng" algn="ctr">
            <a:solidFill>
              <a:srgbClr val="00B0F0"/>
            </a:solidFill>
            <a:prstDash val="solid"/>
            <a:round/>
            <a:headEnd type="none" w="med" len="med"/>
            <a:tailEnd type="none" w="med" len="med"/>
          </a:ln>
          <a:effectLst/>
          <a:ex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OK </a:t>
            </a:r>
            <a:r>
              <a:rPr lang="en-US" sz="1200" dirty="0">
                <a:latin typeface="Calibri" panose="020F0502020204030204" pitchFamily="34" charset="0"/>
                <a:ea typeface="Calibri" panose="020F0502020204030204" pitchFamily="34" charset="0"/>
                <a:cs typeface="Calibri" panose="020F0502020204030204" pitchFamily="34" charset="0"/>
              </a:rPr>
              <a:t>C</a:t>
            </a:r>
            <a:r>
              <a:rPr kumimoji="1" lang="en-US" sz="12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ondition</a:t>
            </a:r>
            <a:endParaRPr kumimoji="1" 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17" name="Rectangle 16">
            <a:extLst>
              <a:ext uri="{FF2B5EF4-FFF2-40B4-BE49-F238E27FC236}">
                <a16:creationId xmlns:a16="http://schemas.microsoft.com/office/drawing/2014/main" id="{91481A8B-E484-4619-B3F3-288E05AA3601}"/>
              </a:ext>
            </a:extLst>
          </p:cNvPr>
          <p:cNvSpPr/>
          <p:nvPr/>
        </p:nvSpPr>
        <p:spPr bwMode="auto">
          <a:xfrm>
            <a:off x="2843808" y="4797152"/>
            <a:ext cx="432048" cy="1152128"/>
          </a:xfrm>
          <a:prstGeom prst="rect">
            <a:avLst/>
          </a:prstGeom>
          <a:noFill/>
          <a:ln w="19050" cap="flat" cmpd="sng" algn="ctr">
            <a:solidFill>
              <a:srgbClr val="FF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53" name="Rectangle 52">
            <a:extLst>
              <a:ext uri="{FF2B5EF4-FFF2-40B4-BE49-F238E27FC236}">
                <a16:creationId xmlns:a16="http://schemas.microsoft.com/office/drawing/2014/main" id="{28CCAC76-F60C-49AD-B73B-4B7DD46D9D55}"/>
              </a:ext>
            </a:extLst>
          </p:cNvPr>
          <p:cNvSpPr/>
          <p:nvPr/>
        </p:nvSpPr>
        <p:spPr bwMode="auto">
          <a:xfrm>
            <a:off x="7332876" y="4894905"/>
            <a:ext cx="311958" cy="1152128"/>
          </a:xfrm>
          <a:prstGeom prst="rect">
            <a:avLst/>
          </a:prstGeom>
          <a:noFill/>
          <a:ln w="19050" cap="flat" cmpd="sng" algn="ctr">
            <a:solidFill>
              <a:srgbClr val="0000FF"/>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endParaRPr lang="en-US"/>
          </a:p>
        </p:txBody>
      </p:sp>
      <p:cxnSp>
        <p:nvCxnSpPr>
          <p:cNvPr id="6" name="Straight Arrow Connector 5">
            <a:extLst>
              <a:ext uri="{FF2B5EF4-FFF2-40B4-BE49-F238E27FC236}">
                <a16:creationId xmlns:a16="http://schemas.microsoft.com/office/drawing/2014/main" id="{CE2B013C-42BF-45BE-81F6-B33D5A96F610}"/>
              </a:ext>
            </a:extLst>
          </p:cNvPr>
          <p:cNvCxnSpPr/>
          <p:nvPr/>
        </p:nvCxnSpPr>
        <p:spPr bwMode="auto">
          <a:xfrm flipH="1">
            <a:off x="1515248" y="5157192"/>
            <a:ext cx="104424" cy="144016"/>
          </a:xfrm>
          <a:prstGeom prst="straightConnector1">
            <a:avLst/>
          </a:prstGeom>
          <a:solidFill>
            <a:schemeClr val="accent1"/>
          </a:solidFill>
          <a:ln w="19050" cap="flat" cmpd="sng" algn="ctr">
            <a:solidFill>
              <a:srgbClr val="FF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pic>
        <p:nvPicPr>
          <p:cNvPr id="8" name="Picture 7">
            <a:extLst>
              <a:ext uri="{FF2B5EF4-FFF2-40B4-BE49-F238E27FC236}">
                <a16:creationId xmlns:a16="http://schemas.microsoft.com/office/drawing/2014/main" id="{E8319D99-75AA-4BD3-8ADE-02AB70D4FCF1}"/>
              </a:ext>
            </a:extLst>
          </p:cNvPr>
          <p:cNvPicPr>
            <a:picLocks noChangeAspect="1"/>
          </p:cNvPicPr>
          <p:nvPr/>
        </p:nvPicPr>
        <p:blipFill rotWithShape="1">
          <a:blip r:embed="rId10" cstate="print">
            <a:extLst>
              <a:ext uri="{28A0092B-C50C-407E-A947-70E740481C1C}">
                <a14:useLocalDpi xmlns:a14="http://schemas.microsoft.com/office/drawing/2010/main" val="0"/>
              </a:ext>
            </a:extLst>
          </a:blip>
          <a:srcRect l="5277" t="5659" r="22481"/>
          <a:stretch/>
        </p:blipFill>
        <p:spPr>
          <a:xfrm>
            <a:off x="4649964" y="4570891"/>
            <a:ext cx="2153524" cy="1581912"/>
          </a:xfrm>
          <a:prstGeom prst="rect">
            <a:avLst/>
          </a:prstGeom>
        </p:spPr>
      </p:pic>
      <p:cxnSp>
        <p:nvCxnSpPr>
          <p:cNvPr id="38" name="Straight Arrow Connector 37">
            <a:extLst>
              <a:ext uri="{FF2B5EF4-FFF2-40B4-BE49-F238E27FC236}">
                <a16:creationId xmlns:a16="http://schemas.microsoft.com/office/drawing/2014/main" id="{9D005C4C-BBED-4FE6-87B5-2A7B0C8A3EED}"/>
              </a:ext>
            </a:extLst>
          </p:cNvPr>
          <p:cNvCxnSpPr>
            <a:cxnSpLocks/>
          </p:cNvCxnSpPr>
          <p:nvPr/>
        </p:nvCxnSpPr>
        <p:spPr bwMode="auto">
          <a:xfrm>
            <a:off x="5772212" y="4997600"/>
            <a:ext cx="251847" cy="57857"/>
          </a:xfrm>
          <a:prstGeom prst="straightConnector1">
            <a:avLst/>
          </a:prstGeom>
          <a:solidFill>
            <a:schemeClr val="accent1"/>
          </a:solidFill>
          <a:ln w="19050" cap="flat" cmpd="sng" algn="ctr">
            <a:solidFill>
              <a:srgbClr val="0000FF"/>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spTree>
    <p:extLst>
      <p:ext uri="{BB962C8B-B14F-4D97-AF65-F5344CB8AC3E}">
        <p14:creationId xmlns:p14="http://schemas.microsoft.com/office/powerpoint/2010/main" val="3650611678"/>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Flowchart: Magnetic Disk 63">
            <a:extLst>
              <a:ext uri="{FF2B5EF4-FFF2-40B4-BE49-F238E27FC236}">
                <a16:creationId xmlns:a16="http://schemas.microsoft.com/office/drawing/2014/main" id="{C5A8D9CA-15A3-4FBA-AF3F-734625DB6C9D}"/>
              </a:ext>
            </a:extLst>
          </p:cNvPr>
          <p:cNvSpPr/>
          <p:nvPr/>
        </p:nvSpPr>
        <p:spPr bwMode="auto">
          <a:xfrm>
            <a:off x="5910734" y="3866404"/>
            <a:ext cx="1534905" cy="369332"/>
          </a:xfrm>
          <a:prstGeom prst="flowChartMagneticDisk">
            <a:avLst/>
          </a:prstGeom>
          <a:solidFill>
            <a:srgbClr val="F4CCA4"/>
          </a:solidFill>
          <a:ln w="3175" cap="flat" cmpd="sng" algn="ctr">
            <a:solidFill>
              <a:srgbClr val="000000"/>
            </a:solidFill>
            <a:prstDash val="dash"/>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65" name="Rectangle 64">
            <a:extLst>
              <a:ext uri="{FF2B5EF4-FFF2-40B4-BE49-F238E27FC236}">
                <a16:creationId xmlns:a16="http://schemas.microsoft.com/office/drawing/2014/main" id="{D92F9774-FCD8-4057-BB3F-BE05B444AEE0}"/>
              </a:ext>
            </a:extLst>
          </p:cNvPr>
          <p:cNvSpPr/>
          <p:nvPr/>
        </p:nvSpPr>
        <p:spPr bwMode="auto">
          <a:xfrm>
            <a:off x="6563572" y="4148544"/>
            <a:ext cx="302879" cy="97436"/>
          </a:xfrm>
          <a:prstGeom prst="rect">
            <a:avLst/>
          </a:prstGeom>
          <a:solidFill>
            <a:schemeClr val="bg2"/>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pic>
        <p:nvPicPr>
          <p:cNvPr id="20" name="Picture 19">
            <a:extLst>
              <a:ext uri="{FF2B5EF4-FFF2-40B4-BE49-F238E27FC236}">
                <a16:creationId xmlns:a16="http://schemas.microsoft.com/office/drawing/2014/main" id="{C24102AD-CEBF-4389-99F8-051E36600052}"/>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l="20751" t="16667" r="9214"/>
          <a:stretch/>
        </p:blipFill>
        <p:spPr>
          <a:xfrm>
            <a:off x="2051719" y="799754"/>
            <a:ext cx="1512169" cy="1800200"/>
          </a:xfrm>
          <a:prstGeom prst="rect">
            <a:avLst/>
          </a:prstGeom>
        </p:spPr>
      </p:pic>
      <p:pic>
        <p:nvPicPr>
          <p:cNvPr id="21" name="Picture 20">
            <a:extLst>
              <a:ext uri="{FF2B5EF4-FFF2-40B4-BE49-F238E27FC236}">
                <a16:creationId xmlns:a16="http://schemas.microsoft.com/office/drawing/2014/main" id="{E6345361-D551-4019-898E-94F45FDC81B2}"/>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2907" t="8333" r="8719" b="4167"/>
          <a:stretch/>
        </p:blipFill>
        <p:spPr>
          <a:xfrm>
            <a:off x="179512" y="799755"/>
            <a:ext cx="1440160" cy="1800200"/>
          </a:xfrm>
          <a:prstGeom prst="rect">
            <a:avLst/>
          </a:prstGeom>
        </p:spPr>
      </p:pic>
      <p:sp>
        <p:nvSpPr>
          <p:cNvPr id="2" name="Arrow: Right 1">
            <a:extLst>
              <a:ext uri="{FF2B5EF4-FFF2-40B4-BE49-F238E27FC236}">
                <a16:creationId xmlns:a16="http://schemas.microsoft.com/office/drawing/2014/main" id="{F83615F9-DADF-472F-BBFB-C08F0117F7EA}"/>
              </a:ext>
            </a:extLst>
          </p:cNvPr>
          <p:cNvSpPr/>
          <p:nvPr/>
        </p:nvSpPr>
        <p:spPr bwMode="auto">
          <a:xfrm>
            <a:off x="1657427" y="1549264"/>
            <a:ext cx="373699" cy="455789"/>
          </a:xfrm>
          <a:prstGeom prst="rightArrow">
            <a:avLst/>
          </a:prstGeom>
          <a:no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3" name="TextBox 2">
            <a:extLst>
              <a:ext uri="{FF2B5EF4-FFF2-40B4-BE49-F238E27FC236}">
                <a16:creationId xmlns:a16="http://schemas.microsoft.com/office/drawing/2014/main" id="{AC25B34C-4EA8-457A-BE40-8F600D555334}"/>
              </a:ext>
            </a:extLst>
          </p:cNvPr>
          <p:cNvSpPr txBox="1"/>
          <p:nvPr/>
        </p:nvSpPr>
        <p:spPr>
          <a:xfrm>
            <a:off x="107504" y="260648"/>
            <a:ext cx="5328592" cy="369332"/>
          </a:xfrm>
          <a:prstGeom prst="rect">
            <a:avLst/>
          </a:prstGeom>
          <a:noFill/>
        </p:spPr>
        <p:txBody>
          <a:bodyPr wrap="square" rtlCol="0">
            <a:spAutoFit/>
          </a:bodyPr>
          <a:lstStyle/>
          <a:p>
            <a:pPr algn="l"/>
            <a:r>
              <a:rPr lang="en-US" sz="1800" b="0" dirty="0"/>
              <a:t>C- Ring Inspection Gauge Working Principle</a:t>
            </a:r>
          </a:p>
        </p:txBody>
      </p:sp>
      <p:sp>
        <p:nvSpPr>
          <p:cNvPr id="24" name="TextBox 23">
            <a:extLst>
              <a:ext uri="{FF2B5EF4-FFF2-40B4-BE49-F238E27FC236}">
                <a16:creationId xmlns:a16="http://schemas.microsoft.com/office/drawing/2014/main" id="{9A478852-009B-4102-93E1-6223F8B95E3A}"/>
              </a:ext>
            </a:extLst>
          </p:cNvPr>
          <p:cNvSpPr txBox="1"/>
          <p:nvPr/>
        </p:nvSpPr>
        <p:spPr>
          <a:xfrm>
            <a:off x="85942" y="2584887"/>
            <a:ext cx="2189512" cy="553998"/>
          </a:xfrm>
          <a:prstGeom prst="rect">
            <a:avLst/>
          </a:prstGeom>
          <a:noFill/>
        </p:spPr>
        <p:txBody>
          <a:bodyPr wrap="square" rtlCol="0">
            <a:spAutoFit/>
          </a:bodyPr>
          <a:lstStyle/>
          <a:p>
            <a:pPr algn="l"/>
            <a:r>
              <a:rPr lang="en-US" sz="1000" b="0" dirty="0"/>
              <a:t>C- Ring Gauge Pickup </a:t>
            </a:r>
          </a:p>
          <a:p>
            <a:pPr algn="l"/>
            <a:r>
              <a:rPr lang="en-US" sz="1000" b="0" dirty="0"/>
              <a:t>from location</a:t>
            </a:r>
          </a:p>
          <a:p>
            <a:pPr algn="l"/>
            <a:r>
              <a:rPr lang="en-US" sz="1000" b="0" dirty="0"/>
              <a:t>- Pike up sensor interlink</a:t>
            </a:r>
          </a:p>
        </p:txBody>
      </p:sp>
      <p:sp>
        <p:nvSpPr>
          <p:cNvPr id="25" name="TextBox 24">
            <a:extLst>
              <a:ext uri="{FF2B5EF4-FFF2-40B4-BE49-F238E27FC236}">
                <a16:creationId xmlns:a16="http://schemas.microsoft.com/office/drawing/2014/main" id="{3F3919F6-0022-4585-86B5-1686F553979A}"/>
              </a:ext>
            </a:extLst>
          </p:cNvPr>
          <p:cNvSpPr txBox="1"/>
          <p:nvPr/>
        </p:nvSpPr>
        <p:spPr>
          <a:xfrm>
            <a:off x="1877870" y="2609428"/>
            <a:ext cx="2189512" cy="577081"/>
          </a:xfrm>
          <a:prstGeom prst="rect">
            <a:avLst/>
          </a:prstGeom>
          <a:noFill/>
        </p:spPr>
        <p:txBody>
          <a:bodyPr wrap="square" rtlCol="0">
            <a:spAutoFit/>
          </a:bodyPr>
          <a:lstStyle/>
          <a:p>
            <a:pPr marL="228600" indent="-228600" algn="l">
              <a:buAutoNum type="alphaLcParenR"/>
            </a:pPr>
            <a:r>
              <a:rPr lang="en-US" sz="1050" b="0" dirty="0"/>
              <a:t>Gauge locate over Top side</a:t>
            </a:r>
          </a:p>
          <a:p>
            <a:pPr marL="228600" indent="-228600" algn="l">
              <a:buAutoNum type="alphaLcParenR"/>
            </a:pPr>
            <a:r>
              <a:rPr lang="en-US" sz="1050" b="0" dirty="0"/>
              <a:t>Rotate the Gauge</a:t>
            </a:r>
          </a:p>
          <a:p>
            <a:pPr marL="228600" indent="-228600" algn="l">
              <a:buAutoNum type="alphaLcParenR"/>
            </a:pPr>
            <a:r>
              <a:rPr lang="en-US" sz="1050" b="0" dirty="0"/>
              <a:t>Feel Locking at Groove</a:t>
            </a:r>
          </a:p>
        </p:txBody>
      </p:sp>
      <p:pic>
        <p:nvPicPr>
          <p:cNvPr id="6" name="Picture 5">
            <a:extLst>
              <a:ext uri="{FF2B5EF4-FFF2-40B4-BE49-F238E27FC236}">
                <a16:creationId xmlns:a16="http://schemas.microsoft.com/office/drawing/2014/main" id="{3116A39E-D01D-4635-A726-9914DC79A899}"/>
              </a:ext>
            </a:extLst>
          </p:cNvPr>
          <p:cNvPicPr>
            <a:picLocks noChangeAspect="1"/>
          </p:cNvPicPr>
          <p:nvPr/>
        </p:nvPicPr>
        <p:blipFill rotWithShape="1">
          <a:blip r:embed="rId4">
            <a:extLst>
              <a:ext uri="{BEBA8EAE-BF5A-486C-A8C5-ECC9F3942E4B}">
                <a14:imgProps xmlns:a14="http://schemas.microsoft.com/office/drawing/2010/main">
                  <a14:imgLayer r:embed="rId5">
                    <a14:imgEffect>
                      <a14:brightnessContrast bright="20000" contrast="-20000"/>
                    </a14:imgEffect>
                  </a14:imgLayer>
                </a14:imgProps>
              </a:ext>
            </a:extLst>
          </a:blip>
          <a:srcRect l="21000" t="33260" r="19501" b="27366"/>
          <a:stretch/>
        </p:blipFill>
        <p:spPr>
          <a:xfrm rot="16200000">
            <a:off x="6292895" y="784313"/>
            <a:ext cx="1288001" cy="1318881"/>
          </a:xfrm>
          <a:prstGeom prst="rect">
            <a:avLst/>
          </a:prstGeom>
        </p:spPr>
      </p:pic>
      <p:pic>
        <p:nvPicPr>
          <p:cNvPr id="9" name="Picture 8">
            <a:extLst>
              <a:ext uri="{FF2B5EF4-FFF2-40B4-BE49-F238E27FC236}">
                <a16:creationId xmlns:a16="http://schemas.microsoft.com/office/drawing/2014/main" id="{352458EA-B4BA-4C0B-B8A6-69C6A1161A36}"/>
              </a:ext>
            </a:extLst>
          </p:cNvPr>
          <p:cNvPicPr>
            <a:picLocks noChangeAspect="1"/>
          </p:cNvPicPr>
          <p:nvPr/>
        </p:nvPicPr>
        <p:blipFill rotWithShape="1">
          <a:blip r:embed="rId6"/>
          <a:srcRect l="24929" t="29309" r="23400" b="33200"/>
          <a:stretch/>
        </p:blipFill>
        <p:spPr>
          <a:xfrm rot="10800000">
            <a:off x="4129180" y="820855"/>
            <a:ext cx="1296145" cy="1253945"/>
          </a:xfrm>
          <a:prstGeom prst="rect">
            <a:avLst/>
          </a:prstGeom>
        </p:spPr>
      </p:pic>
      <p:sp>
        <p:nvSpPr>
          <p:cNvPr id="39" name="Speech Bubble: Rectangle 38">
            <a:extLst>
              <a:ext uri="{FF2B5EF4-FFF2-40B4-BE49-F238E27FC236}">
                <a16:creationId xmlns:a16="http://schemas.microsoft.com/office/drawing/2014/main" id="{AD30110E-3FD8-48A4-B420-A1053C8674C8}"/>
              </a:ext>
            </a:extLst>
          </p:cNvPr>
          <p:cNvSpPr/>
          <p:nvPr/>
        </p:nvSpPr>
        <p:spPr bwMode="auto">
          <a:xfrm rot="10800000">
            <a:off x="4057223" y="2133082"/>
            <a:ext cx="1876492" cy="1053426"/>
          </a:xfrm>
          <a:prstGeom prst="wedgeRectCallout">
            <a:avLst>
              <a:gd name="adj1" fmla="val 13156"/>
              <a:gd name="adj2" fmla="val 72773"/>
            </a:avLst>
          </a:prstGeom>
          <a:solidFill>
            <a:schemeClr val="bg1">
              <a:lumMod val="95000"/>
            </a:schemeClr>
          </a:solid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pic>
        <p:nvPicPr>
          <p:cNvPr id="38" name="Picture 37">
            <a:extLst>
              <a:ext uri="{FF2B5EF4-FFF2-40B4-BE49-F238E27FC236}">
                <a16:creationId xmlns:a16="http://schemas.microsoft.com/office/drawing/2014/main" id="{542D8091-B28E-4736-A25C-6CFFC37C19A5}"/>
              </a:ext>
            </a:extLst>
          </p:cNvPr>
          <p:cNvPicPr>
            <a:picLocks noChangeAspect="1"/>
          </p:cNvPicPr>
          <p:nvPr/>
        </p:nvPicPr>
        <p:blipFill rotWithShape="1">
          <a:blip r:embed="rId6"/>
          <a:srcRect l="41253" t="31986" r="43481" b="61133"/>
          <a:stretch/>
        </p:blipFill>
        <p:spPr>
          <a:xfrm rot="10800000">
            <a:off x="4234624" y="2238895"/>
            <a:ext cx="1053235" cy="577082"/>
          </a:xfrm>
          <a:prstGeom prst="rect">
            <a:avLst/>
          </a:prstGeom>
        </p:spPr>
      </p:pic>
      <p:cxnSp>
        <p:nvCxnSpPr>
          <p:cNvPr id="46" name="Straight Arrow Connector 45">
            <a:extLst>
              <a:ext uri="{FF2B5EF4-FFF2-40B4-BE49-F238E27FC236}">
                <a16:creationId xmlns:a16="http://schemas.microsoft.com/office/drawing/2014/main" id="{557952E2-AAA4-46F1-A723-0D6847773096}"/>
              </a:ext>
            </a:extLst>
          </p:cNvPr>
          <p:cNvCxnSpPr>
            <a:cxnSpLocks/>
          </p:cNvCxnSpPr>
          <p:nvPr/>
        </p:nvCxnSpPr>
        <p:spPr bwMode="auto">
          <a:xfrm rot="5400000" flipH="1">
            <a:off x="4680012" y="2394711"/>
            <a:ext cx="0" cy="360041"/>
          </a:xfrm>
          <a:prstGeom prst="straightConnector1">
            <a:avLst/>
          </a:prstGeom>
          <a:ln w="9525" cap="flat" cmpd="sng" algn="ctr">
            <a:solidFill>
              <a:schemeClr val="bg1"/>
            </a:solidFill>
            <a:prstDash val="solid"/>
            <a:round/>
            <a:headEnd type="arrow" w="med" len="med"/>
            <a:tailEnd type="arrow" w="med" len="med"/>
          </a:ln>
          <a:extLst>
            <a:ext uri="{AF507438-7753-43E0-B8FC-AC1667EBCBE1}">
              <a14:hiddenEffects xmlns:a14="http://schemas.microsoft.com/office/drawing/2010/main">
                <a:effectLst>
                  <a:outerShdw dist="35921" dir="2700000" algn="ctr" rotWithShape="0">
                    <a:srgbClr val="808080"/>
                  </a:outerShdw>
                </a:effectLst>
              </a14:hiddenEffects>
            </a:ext>
          </a:extLst>
        </p:spPr>
        <p:style>
          <a:lnRef idx="0">
            <a:scrgbClr r="0" g="0" b="0"/>
          </a:lnRef>
          <a:fillRef idx="0">
            <a:scrgbClr r="0" g="0" b="0"/>
          </a:fillRef>
          <a:effectRef idx="0">
            <a:scrgbClr r="0" g="0" b="0"/>
          </a:effectRef>
          <a:fontRef idx="minor">
            <a:schemeClr val="tx1"/>
          </a:fontRef>
        </p:style>
      </p:cxnSp>
      <p:pic>
        <p:nvPicPr>
          <p:cNvPr id="19" name="Picture 18">
            <a:extLst>
              <a:ext uri="{FF2B5EF4-FFF2-40B4-BE49-F238E27FC236}">
                <a16:creationId xmlns:a16="http://schemas.microsoft.com/office/drawing/2014/main" id="{419AD943-4771-4136-A1F8-4F796D34AC2F}"/>
              </a:ext>
            </a:extLst>
          </p:cNvPr>
          <p:cNvPicPr>
            <a:picLocks noChangeAspect="1"/>
          </p:cNvPicPr>
          <p:nvPr/>
        </p:nvPicPr>
        <p:blipFill rotWithShape="1">
          <a:blip r:embed="rId7">
            <a:extLst>
              <a:ext uri="{BEBA8EAE-BF5A-486C-A8C5-ECC9F3942E4B}">
                <a14:imgProps xmlns:a14="http://schemas.microsoft.com/office/drawing/2010/main">
                  <a14:imgLayer r:embed="rId8">
                    <a14:imgEffect>
                      <a14:brightnessContrast contrast="-20000"/>
                    </a14:imgEffect>
                  </a14:imgLayer>
                </a14:imgProps>
              </a:ext>
            </a:extLst>
          </a:blip>
          <a:srcRect l="7003" t="19351" r="21259" b="28056"/>
          <a:stretch/>
        </p:blipFill>
        <p:spPr>
          <a:xfrm>
            <a:off x="145758" y="3429000"/>
            <a:ext cx="2040152" cy="1224318"/>
          </a:xfrm>
          <a:prstGeom prst="rect">
            <a:avLst/>
          </a:prstGeom>
        </p:spPr>
      </p:pic>
      <p:pic>
        <p:nvPicPr>
          <p:cNvPr id="22" name="Picture 21">
            <a:extLst>
              <a:ext uri="{FF2B5EF4-FFF2-40B4-BE49-F238E27FC236}">
                <a16:creationId xmlns:a16="http://schemas.microsoft.com/office/drawing/2014/main" id="{12882DB0-66B8-42C2-9311-44763D1BFC07}"/>
              </a:ext>
            </a:extLst>
          </p:cNvPr>
          <p:cNvPicPr>
            <a:picLocks noChangeAspect="1"/>
          </p:cNvPicPr>
          <p:nvPr/>
        </p:nvPicPr>
        <p:blipFill rotWithShape="1">
          <a:blip r:embed="rId9">
            <a:extLst>
              <a:ext uri="{BEBA8EAE-BF5A-486C-A8C5-ECC9F3942E4B}">
                <a14:imgProps xmlns:a14="http://schemas.microsoft.com/office/drawing/2010/main">
                  <a14:imgLayer r:embed="rId10">
                    <a14:imgEffect>
                      <a14:brightnessContrast contrast="-20000"/>
                    </a14:imgEffect>
                  </a14:imgLayer>
                </a14:imgProps>
              </a:ext>
            </a:extLst>
          </a:blip>
          <a:srcRect t="16649" r="14113" b="24949"/>
          <a:stretch/>
        </p:blipFill>
        <p:spPr>
          <a:xfrm>
            <a:off x="139373" y="5410377"/>
            <a:ext cx="2184168" cy="1224319"/>
          </a:xfrm>
          <a:prstGeom prst="rect">
            <a:avLst/>
          </a:prstGeom>
        </p:spPr>
      </p:pic>
      <p:sp>
        <p:nvSpPr>
          <p:cNvPr id="4" name="TextBox 3">
            <a:extLst>
              <a:ext uri="{FF2B5EF4-FFF2-40B4-BE49-F238E27FC236}">
                <a16:creationId xmlns:a16="http://schemas.microsoft.com/office/drawing/2014/main" id="{F558EBB0-D387-4D33-A738-80B0F2364A0C}"/>
              </a:ext>
            </a:extLst>
          </p:cNvPr>
          <p:cNvSpPr txBox="1"/>
          <p:nvPr/>
        </p:nvSpPr>
        <p:spPr>
          <a:xfrm>
            <a:off x="7597" y="3264217"/>
            <a:ext cx="1783989" cy="261610"/>
          </a:xfrm>
          <a:prstGeom prst="rect">
            <a:avLst/>
          </a:prstGeom>
          <a:noFill/>
        </p:spPr>
        <p:txBody>
          <a:bodyPr wrap="square" rtlCol="0">
            <a:spAutoFit/>
          </a:bodyPr>
          <a:lstStyle/>
          <a:p>
            <a:r>
              <a:rPr lang="en-US" sz="1100" b="0" dirty="0">
                <a:highlight>
                  <a:srgbClr val="00FF00"/>
                </a:highlight>
              </a:rPr>
              <a:t>OK - Condition</a:t>
            </a:r>
          </a:p>
        </p:txBody>
      </p:sp>
      <p:sp>
        <p:nvSpPr>
          <p:cNvPr id="23" name="TextBox 22">
            <a:extLst>
              <a:ext uri="{FF2B5EF4-FFF2-40B4-BE49-F238E27FC236}">
                <a16:creationId xmlns:a16="http://schemas.microsoft.com/office/drawing/2014/main" id="{5927590F-AE40-4B13-8DF9-CBDED09CC31B}"/>
              </a:ext>
            </a:extLst>
          </p:cNvPr>
          <p:cNvSpPr txBox="1"/>
          <p:nvPr/>
        </p:nvSpPr>
        <p:spPr>
          <a:xfrm>
            <a:off x="139373" y="5156524"/>
            <a:ext cx="1783989" cy="261610"/>
          </a:xfrm>
          <a:prstGeom prst="rect">
            <a:avLst/>
          </a:prstGeom>
          <a:noFill/>
        </p:spPr>
        <p:txBody>
          <a:bodyPr wrap="square" rtlCol="0">
            <a:spAutoFit/>
          </a:bodyPr>
          <a:lstStyle/>
          <a:p>
            <a:r>
              <a:rPr lang="en-US" sz="1100" b="0" dirty="0">
                <a:highlight>
                  <a:srgbClr val="FF00FF"/>
                </a:highlight>
              </a:rPr>
              <a:t>NG - Condition</a:t>
            </a:r>
          </a:p>
        </p:txBody>
      </p:sp>
      <p:sp>
        <p:nvSpPr>
          <p:cNvPr id="7" name="TextBox 6">
            <a:extLst>
              <a:ext uri="{FF2B5EF4-FFF2-40B4-BE49-F238E27FC236}">
                <a16:creationId xmlns:a16="http://schemas.microsoft.com/office/drawing/2014/main" id="{6AAF22FA-3663-44C4-9DD9-DFF7D6ABE3A3}"/>
              </a:ext>
            </a:extLst>
          </p:cNvPr>
          <p:cNvSpPr txBox="1"/>
          <p:nvPr/>
        </p:nvSpPr>
        <p:spPr>
          <a:xfrm>
            <a:off x="3965958" y="2805890"/>
            <a:ext cx="2335991" cy="369332"/>
          </a:xfrm>
          <a:prstGeom prst="rect">
            <a:avLst/>
          </a:prstGeom>
          <a:noFill/>
        </p:spPr>
        <p:txBody>
          <a:bodyPr wrap="square" rtlCol="0">
            <a:spAutoFit/>
          </a:bodyPr>
          <a:lstStyle/>
          <a:p>
            <a:pPr algn="l"/>
            <a:r>
              <a:rPr lang="en-US" sz="900" b="0" dirty="0"/>
              <a:t>Slot width = 6.13 mm (Spec 6.1 ~ 6.15)</a:t>
            </a:r>
          </a:p>
          <a:p>
            <a:pPr algn="l"/>
            <a:r>
              <a:rPr lang="en-US" sz="900" b="0" dirty="0"/>
              <a:t>Height = 1.62 (Spec 1.6~1.65)</a:t>
            </a:r>
          </a:p>
        </p:txBody>
      </p:sp>
      <p:sp>
        <p:nvSpPr>
          <p:cNvPr id="27" name="Speech Bubble: Rectangle 26">
            <a:extLst>
              <a:ext uri="{FF2B5EF4-FFF2-40B4-BE49-F238E27FC236}">
                <a16:creationId xmlns:a16="http://schemas.microsoft.com/office/drawing/2014/main" id="{4B50B175-1909-47E0-B05C-55FBF02043AB}"/>
              </a:ext>
            </a:extLst>
          </p:cNvPr>
          <p:cNvSpPr/>
          <p:nvPr/>
        </p:nvSpPr>
        <p:spPr bwMode="auto">
          <a:xfrm rot="10800000">
            <a:off x="6130975" y="2146222"/>
            <a:ext cx="2259061" cy="1053426"/>
          </a:xfrm>
          <a:prstGeom prst="wedgeRectCallout">
            <a:avLst>
              <a:gd name="adj1" fmla="val 17737"/>
              <a:gd name="adj2" fmla="val 73686"/>
            </a:avLst>
          </a:prstGeom>
          <a:solidFill>
            <a:schemeClr val="bg1">
              <a:lumMod val="95000"/>
            </a:schemeClr>
          </a:solid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pic>
        <p:nvPicPr>
          <p:cNvPr id="35" name="Picture 34">
            <a:extLst>
              <a:ext uri="{FF2B5EF4-FFF2-40B4-BE49-F238E27FC236}">
                <a16:creationId xmlns:a16="http://schemas.microsoft.com/office/drawing/2014/main" id="{A2A522EB-729D-42B6-8AD0-6169DD488D97}"/>
              </a:ext>
            </a:extLst>
          </p:cNvPr>
          <p:cNvPicPr>
            <a:picLocks noChangeAspect="1"/>
          </p:cNvPicPr>
          <p:nvPr/>
        </p:nvPicPr>
        <p:blipFill rotWithShape="1">
          <a:blip r:embed="rId4">
            <a:extLst>
              <a:ext uri="{BEBA8EAE-BF5A-486C-A8C5-ECC9F3942E4B}">
                <a14:imgProps xmlns:a14="http://schemas.microsoft.com/office/drawing/2010/main">
                  <a14:imgLayer r:embed="rId5">
                    <a14:imgEffect>
                      <a14:brightnessContrast bright="20000" contrast="-20000"/>
                    </a14:imgEffect>
                  </a14:imgLayer>
                </a14:imgProps>
              </a:ext>
            </a:extLst>
          </a:blip>
          <a:srcRect l="27582" t="43474" r="63853" b="46036"/>
          <a:stretch/>
        </p:blipFill>
        <p:spPr>
          <a:xfrm rot="5400000">
            <a:off x="6447678" y="1999005"/>
            <a:ext cx="634695" cy="1102124"/>
          </a:xfrm>
          <a:prstGeom prst="rect">
            <a:avLst/>
          </a:prstGeom>
        </p:spPr>
      </p:pic>
      <p:sp>
        <p:nvSpPr>
          <p:cNvPr id="29" name="TextBox 28">
            <a:extLst>
              <a:ext uri="{FF2B5EF4-FFF2-40B4-BE49-F238E27FC236}">
                <a16:creationId xmlns:a16="http://schemas.microsoft.com/office/drawing/2014/main" id="{6E2F4625-49F7-4D04-9B35-18DF7C42CAD5}"/>
              </a:ext>
            </a:extLst>
          </p:cNvPr>
          <p:cNvSpPr txBox="1"/>
          <p:nvPr/>
        </p:nvSpPr>
        <p:spPr>
          <a:xfrm>
            <a:off x="3965307" y="697688"/>
            <a:ext cx="1783989" cy="261610"/>
          </a:xfrm>
          <a:prstGeom prst="rect">
            <a:avLst/>
          </a:prstGeom>
          <a:noFill/>
        </p:spPr>
        <p:txBody>
          <a:bodyPr wrap="square" rtlCol="0">
            <a:spAutoFit/>
          </a:bodyPr>
          <a:lstStyle/>
          <a:p>
            <a:r>
              <a:rPr lang="en-US" sz="1100" b="0" dirty="0">
                <a:highlight>
                  <a:srgbClr val="C0C0C0"/>
                </a:highlight>
              </a:rPr>
              <a:t>Gauge</a:t>
            </a:r>
          </a:p>
        </p:txBody>
      </p:sp>
      <p:sp>
        <p:nvSpPr>
          <p:cNvPr id="30" name="TextBox 29">
            <a:extLst>
              <a:ext uri="{FF2B5EF4-FFF2-40B4-BE49-F238E27FC236}">
                <a16:creationId xmlns:a16="http://schemas.microsoft.com/office/drawing/2014/main" id="{D8DB62B7-E074-4F0D-80F3-0DCD70AD570A}"/>
              </a:ext>
            </a:extLst>
          </p:cNvPr>
          <p:cNvSpPr txBox="1"/>
          <p:nvPr/>
        </p:nvSpPr>
        <p:spPr>
          <a:xfrm>
            <a:off x="6100379" y="707490"/>
            <a:ext cx="1783989" cy="261610"/>
          </a:xfrm>
          <a:prstGeom prst="rect">
            <a:avLst/>
          </a:prstGeom>
          <a:noFill/>
        </p:spPr>
        <p:txBody>
          <a:bodyPr wrap="square" rtlCol="0">
            <a:spAutoFit/>
          </a:bodyPr>
          <a:lstStyle/>
          <a:p>
            <a:r>
              <a:rPr lang="en-US" sz="1100" b="0" dirty="0">
                <a:highlight>
                  <a:srgbClr val="C0C0C0"/>
                </a:highlight>
              </a:rPr>
              <a:t>C-Ring assembled condition</a:t>
            </a:r>
          </a:p>
        </p:txBody>
      </p:sp>
      <p:sp>
        <p:nvSpPr>
          <p:cNvPr id="31" name="TextBox 30">
            <a:extLst>
              <a:ext uri="{FF2B5EF4-FFF2-40B4-BE49-F238E27FC236}">
                <a16:creationId xmlns:a16="http://schemas.microsoft.com/office/drawing/2014/main" id="{39C4A67D-7C7B-48D5-9DB9-28598B0C38B2}"/>
              </a:ext>
            </a:extLst>
          </p:cNvPr>
          <p:cNvSpPr txBox="1"/>
          <p:nvPr/>
        </p:nvSpPr>
        <p:spPr>
          <a:xfrm>
            <a:off x="6100379" y="2842713"/>
            <a:ext cx="2335991" cy="369332"/>
          </a:xfrm>
          <a:prstGeom prst="rect">
            <a:avLst/>
          </a:prstGeom>
          <a:noFill/>
        </p:spPr>
        <p:txBody>
          <a:bodyPr wrap="square" rtlCol="0">
            <a:spAutoFit/>
          </a:bodyPr>
          <a:lstStyle/>
          <a:p>
            <a:pPr algn="l"/>
            <a:r>
              <a:rPr lang="en-US" sz="900" b="0" dirty="0"/>
              <a:t>C-Ring end Gap = 7.12 mm (Spec 8.50 max)</a:t>
            </a:r>
          </a:p>
          <a:p>
            <a:pPr algn="l"/>
            <a:r>
              <a:rPr lang="en-US" sz="900" b="0" dirty="0"/>
              <a:t>Height = Actual asper C-Ring height</a:t>
            </a:r>
          </a:p>
        </p:txBody>
      </p:sp>
      <p:cxnSp>
        <p:nvCxnSpPr>
          <p:cNvPr id="11" name="Straight Arrow Connector 10">
            <a:extLst>
              <a:ext uri="{FF2B5EF4-FFF2-40B4-BE49-F238E27FC236}">
                <a16:creationId xmlns:a16="http://schemas.microsoft.com/office/drawing/2014/main" id="{67774608-1430-41D8-A8EC-EB9103B2F6CF}"/>
              </a:ext>
            </a:extLst>
          </p:cNvPr>
          <p:cNvCxnSpPr>
            <a:cxnSpLocks/>
          </p:cNvCxnSpPr>
          <p:nvPr/>
        </p:nvCxnSpPr>
        <p:spPr bwMode="auto">
          <a:xfrm>
            <a:off x="2185910" y="3956076"/>
            <a:ext cx="822960" cy="0"/>
          </a:xfrm>
          <a:prstGeom prst="straightConnector1">
            <a:avLst/>
          </a:prstGeom>
          <a:solidFill>
            <a:schemeClr val="accent1"/>
          </a:solidFill>
          <a:ln w="2857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2" name="Rectangle 11">
            <a:extLst>
              <a:ext uri="{FF2B5EF4-FFF2-40B4-BE49-F238E27FC236}">
                <a16:creationId xmlns:a16="http://schemas.microsoft.com/office/drawing/2014/main" id="{8389AAE6-CBD4-48B3-AF64-47F813FE82F8}"/>
              </a:ext>
            </a:extLst>
          </p:cNvPr>
          <p:cNvSpPr/>
          <p:nvPr/>
        </p:nvSpPr>
        <p:spPr bwMode="auto">
          <a:xfrm>
            <a:off x="611560" y="3496957"/>
            <a:ext cx="144016" cy="1156361"/>
          </a:xfrm>
          <a:prstGeom prst="rect">
            <a:avLst/>
          </a:prstGeom>
          <a:noFill/>
          <a:ln w="9525" cap="flat" cmpd="sng" algn="ctr">
            <a:solidFill>
              <a:srgbClr val="0000FF"/>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6" name="Flowchart: Terminator 15">
            <a:extLst>
              <a:ext uri="{FF2B5EF4-FFF2-40B4-BE49-F238E27FC236}">
                <a16:creationId xmlns:a16="http://schemas.microsoft.com/office/drawing/2014/main" id="{8D3EAE7A-ADD4-4B33-BBC4-A4EF791C872F}"/>
              </a:ext>
            </a:extLst>
          </p:cNvPr>
          <p:cNvSpPr/>
          <p:nvPr/>
        </p:nvSpPr>
        <p:spPr bwMode="auto">
          <a:xfrm>
            <a:off x="3322437" y="3527609"/>
            <a:ext cx="97435" cy="1097280"/>
          </a:xfrm>
          <a:prstGeom prst="flowChartTerminator">
            <a:avLst/>
          </a:prstGeom>
          <a:solidFill>
            <a:schemeClr val="tx1"/>
          </a:solid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7" name="Flowchart: Terminator 16">
            <a:extLst>
              <a:ext uri="{FF2B5EF4-FFF2-40B4-BE49-F238E27FC236}">
                <a16:creationId xmlns:a16="http://schemas.microsoft.com/office/drawing/2014/main" id="{09533B70-4414-4074-B4C5-A147E8F9BF11}"/>
              </a:ext>
            </a:extLst>
          </p:cNvPr>
          <p:cNvSpPr/>
          <p:nvPr/>
        </p:nvSpPr>
        <p:spPr bwMode="auto">
          <a:xfrm>
            <a:off x="3317967" y="3818274"/>
            <a:ext cx="97435" cy="302879"/>
          </a:xfrm>
          <a:prstGeom prst="flowChartTerminator">
            <a:avLst/>
          </a:prstGeom>
          <a:solidFill>
            <a:schemeClr val="bg1"/>
          </a:solid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cxnSp>
        <p:nvCxnSpPr>
          <p:cNvPr id="32" name="Straight Connector 31">
            <a:extLst>
              <a:ext uri="{FF2B5EF4-FFF2-40B4-BE49-F238E27FC236}">
                <a16:creationId xmlns:a16="http://schemas.microsoft.com/office/drawing/2014/main" id="{37E850DB-3FD2-4010-9AF4-702788FC0B32}"/>
              </a:ext>
            </a:extLst>
          </p:cNvPr>
          <p:cNvCxnSpPr/>
          <p:nvPr/>
        </p:nvCxnSpPr>
        <p:spPr bwMode="auto">
          <a:xfrm>
            <a:off x="3317967" y="3478128"/>
            <a:ext cx="0" cy="1463040"/>
          </a:xfrm>
          <a:prstGeom prst="line">
            <a:avLst/>
          </a:prstGeom>
          <a:solidFill>
            <a:schemeClr val="accent1"/>
          </a:solidFill>
          <a:ln w="9525" cap="flat" cmpd="sng" algn="ctr">
            <a:solidFill>
              <a:srgbClr val="000000"/>
            </a:solidFill>
            <a:prstDash val="lgDash"/>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0" name="Straight Connector 39">
            <a:extLst>
              <a:ext uri="{FF2B5EF4-FFF2-40B4-BE49-F238E27FC236}">
                <a16:creationId xmlns:a16="http://schemas.microsoft.com/office/drawing/2014/main" id="{FE3E2E17-BBDF-49A8-A087-A34F38010DD5}"/>
              </a:ext>
            </a:extLst>
          </p:cNvPr>
          <p:cNvCxnSpPr/>
          <p:nvPr/>
        </p:nvCxnSpPr>
        <p:spPr bwMode="auto">
          <a:xfrm>
            <a:off x="3415402" y="4278828"/>
            <a:ext cx="0" cy="595871"/>
          </a:xfrm>
          <a:prstGeom prst="line">
            <a:avLst/>
          </a:pr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4" name="Straight Arrow Connector 33">
            <a:extLst>
              <a:ext uri="{FF2B5EF4-FFF2-40B4-BE49-F238E27FC236}">
                <a16:creationId xmlns:a16="http://schemas.microsoft.com/office/drawing/2014/main" id="{210E3F4C-51A6-46DD-8C88-0B2FD02B0A64}"/>
              </a:ext>
            </a:extLst>
          </p:cNvPr>
          <p:cNvCxnSpPr>
            <a:cxnSpLocks/>
          </p:cNvCxnSpPr>
          <p:nvPr/>
        </p:nvCxnSpPr>
        <p:spPr bwMode="auto">
          <a:xfrm flipV="1">
            <a:off x="3279467" y="4797152"/>
            <a:ext cx="185629" cy="0"/>
          </a:xfrm>
          <a:prstGeom prst="straightConnector1">
            <a:avLst/>
          </a:prstGeom>
          <a:solidFill>
            <a:schemeClr val="accent1"/>
          </a:solidFill>
          <a:ln w="3175" cap="flat" cmpd="sng" algn="ctr">
            <a:solidFill>
              <a:srgbClr val="000000"/>
            </a:solidFill>
            <a:prstDash val="solid"/>
            <a:round/>
            <a:headEnd type="triangle"/>
            <a:tailEnd type="triangle"/>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45" name="TextBox 44">
            <a:extLst>
              <a:ext uri="{FF2B5EF4-FFF2-40B4-BE49-F238E27FC236}">
                <a16:creationId xmlns:a16="http://schemas.microsoft.com/office/drawing/2014/main" id="{8A1A92AC-9311-4E34-8F71-80C559498CF5}"/>
              </a:ext>
            </a:extLst>
          </p:cNvPr>
          <p:cNvSpPr txBox="1"/>
          <p:nvPr/>
        </p:nvSpPr>
        <p:spPr>
          <a:xfrm>
            <a:off x="3503596" y="4520303"/>
            <a:ext cx="1876492" cy="369332"/>
          </a:xfrm>
          <a:prstGeom prst="rect">
            <a:avLst/>
          </a:prstGeom>
          <a:noFill/>
        </p:spPr>
        <p:txBody>
          <a:bodyPr wrap="square" rtlCol="0">
            <a:spAutoFit/>
          </a:bodyPr>
          <a:lstStyle/>
          <a:p>
            <a:pPr algn="l"/>
            <a:r>
              <a:rPr lang="en-US" sz="900" b="0" dirty="0"/>
              <a:t>After C-Ring pressed : Base to Top  height = </a:t>
            </a:r>
            <a:r>
              <a:rPr lang="en-US" sz="900" b="0" dirty="0">
                <a:solidFill>
                  <a:srgbClr val="0000FF"/>
                </a:solidFill>
              </a:rPr>
              <a:t>1.33 mm </a:t>
            </a:r>
            <a:r>
              <a:rPr lang="en-US" sz="900" b="0" dirty="0"/>
              <a:t>( No Spec ) </a:t>
            </a:r>
          </a:p>
        </p:txBody>
      </p:sp>
      <p:cxnSp>
        <p:nvCxnSpPr>
          <p:cNvPr id="42" name="Straight Connector 41">
            <a:extLst>
              <a:ext uri="{FF2B5EF4-FFF2-40B4-BE49-F238E27FC236}">
                <a16:creationId xmlns:a16="http://schemas.microsoft.com/office/drawing/2014/main" id="{563E476F-E458-4B4B-A4A6-A3E225F4917A}"/>
              </a:ext>
            </a:extLst>
          </p:cNvPr>
          <p:cNvCxnSpPr>
            <a:cxnSpLocks/>
            <a:stCxn id="17" idx="0"/>
          </p:cNvCxnSpPr>
          <p:nvPr/>
        </p:nvCxnSpPr>
        <p:spPr bwMode="auto">
          <a:xfrm>
            <a:off x="3366685" y="3818274"/>
            <a:ext cx="413227" cy="0"/>
          </a:xfrm>
          <a:prstGeom prst="line">
            <a:avLst/>
          </a:prstGeom>
          <a:solidFill>
            <a:schemeClr val="accent1"/>
          </a:solidFill>
          <a:ln w="317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9" name="Straight Connector 48">
            <a:extLst>
              <a:ext uri="{FF2B5EF4-FFF2-40B4-BE49-F238E27FC236}">
                <a16:creationId xmlns:a16="http://schemas.microsoft.com/office/drawing/2014/main" id="{76909131-F1FD-4D4F-9F08-6D4A01A3D099}"/>
              </a:ext>
            </a:extLst>
          </p:cNvPr>
          <p:cNvCxnSpPr>
            <a:cxnSpLocks/>
          </p:cNvCxnSpPr>
          <p:nvPr/>
        </p:nvCxnSpPr>
        <p:spPr bwMode="auto">
          <a:xfrm>
            <a:off x="3366684" y="4121153"/>
            <a:ext cx="413228" cy="0"/>
          </a:xfrm>
          <a:prstGeom prst="line">
            <a:avLst/>
          </a:prstGeom>
          <a:solidFill>
            <a:schemeClr val="accent1"/>
          </a:solidFill>
          <a:ln w="317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1" name="Straight Arrow Connector 50">
            <a:extLst>
              <a:ext uri="{FF2B5EF4-FFF2-40B4-BE49-F238E27FC236}">
                <a16:creationId xmlns:a16="http://schemas.microsoft.com/office/drawing/2014/main" id="{A3E6D733-AD3A-4DF0-91A7-3F0A9702A083}"/>
              </a:ext>
            </a:extLst>
          </p:cNvPr>
          <p:cNvCxnSpPr>
            <a:cxnSpLocks/>
          </p:cNvCxnSpPr>
          <p:nvPr/>
        </p:nvCxnSpPr>
        <p:spPr bwMode="auto">
          <a:xfrm>
            <a:off x="3635896" y="3811192"/>
            <a:ext cx="0" cy="309963"/>
          </a:xfrm>
          <a:prstGeom prst="straightConnector1">
            <a:avLst/>
          </a:prstGeom>
          <a:solidFill>
            <a:schemeClr val="accent1"/>
          </a:solidFill>
          <a:ln w="3175" cap="flat" cmpd="sng" algn="ctr">
            <a:solidFill>
              <a:srgbClr val="000000"/>
            </a:solidFill>
            <a:prstDash val="solid"/>
            <a:round/>
            <a:headEnd type="triangle"/>
            <a:tailEnd type="triangle"/>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52" name="TextBox 51">
            <a:extLst>
              <a:ext uri="{FF2B5EF4-FFF2-40B4-BE49-F238E27FC236}">
                <a16:creationId xmlns:a16="http://schemas.microsoft.com/office/drawing/2014/main" id="{286F2320-ADCD-4B25-9AE4-A7EF5536A390}"/>
              </a:ext>
            </a:extLst>
          </p:cNvPr>
          <p:cNvSpPr txBox="1"/>
          <p:nvPr/>
        </p:nvSpPr>
        <p:spPr>
          <a:xfrm>
            <a:off x="3851920" y="3789040"/>
            <a:ext cx="1984672" cy="369332"/>
          </a:xfrm>
          <a:prstGeom prst="rect">
            <a:avLst/>
          </a:prstGeom>
          <a:noFill/>
        </p:spPr>
        <p:txBody>
          <a:bodyPr wrap="square" rtlCol="0">
            <a:spAutoFit/>
          </a:bodyPr>
          <a:lstStyle/>
          <a:p>
            <a:pPr algn="l"/>
            <a:r>
              <a:rPr lang="en-US" sz="900" b="0" dirty="0"/>
              <a:t>After C-Ring pressed : </a:t>
            </a:r>
            <a:r>
              <a:rPr lang="en-US" sz="900" b="0" dirty="0">
                <a:solidFill>
                  <a:srgbClr val="0000FF"/>
                </a:solidFill>
              </a:rPr>
              <a:t>Gap = 7.12 mm </a:t>
            </a:r>
            <a:r>
              <a:rPr lang="en-US" sz="900" b="0" dirty="0"/>
              <a:t>(  Spec : 8.50 Max  ) </a:t>
            </a:r>
          </a:p>
        </p:txBody>
      </p:sp>
      <p:sp>
        <p:nvSpPr>
          <p:cNvPr id="53" name="Flowchart: Terminator 52">
            <a:extLst>
              <a:ext uri="{FF2B5EF4-FFF2-40B4-BE49-F238E27FC236}">
                <a16:creationId xmlns:a16="http://schemas.microsoft.com/office/drawing/2014/main" id="{AB07CB15-34A3-4EB6-A995-A195777AAD32}"/>
              </a:ext>
            </a:extLst>
          </p:cNvPr>
          <p:cNvSpPr/>
          <p:nvPr/>
        </p:nvSpPr>
        <p:spPr bwMode="auto">
          <a:xfrm rot="16200000">
            <a:off x="6623089" y="3650394"/>
            <a:ext cx="97435" cy="1097280"/>
          </a:xfrm>
          <a:prstGeom prst="flowChartTerminator">
            <a:avLst/>
          </a:prstGeom>
          <a:solidFill>
            <a:schemeClr val="tx1"/>
          </a:solid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54" name="Flowchart: Terminator 53">
            <a:extLst>
              <a:ext uri="{FF2B5EF4-FFF2-40B4-BE49-F238E27FC236}">
                <a16:creationId xmlns:a16="http://schemas.microsoft.com/office/drawing/2014/main" id="{DA82D4D6-091A-4BA1-9990-55F8663BAB2C}"/>
              </a:ext>
            </a:extLst>
          </p:cNvPr>
          <p:cNvSpPr/>
          <p:nvPr/>
        </p:nvSpPr>
        <p:spPr bwMode="auto">
          <a:xfrm rot="16200000">
            <a:off x="6618619" y="4046934"/>
            <a:ext cx="97435" cy="302879"/>
          </a:xfrm>
          <a:prstGeom prst="flowChartTerminator">
            <a:avLst/>
          </a:prstGeom>
          <a:solidFill>
            <a:schemeClr val="bg1"/>
          </a:solid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66" name="Rectangle 65">
            <a:extLst>
              <a:ext uri="{FF2B5EF4-FFF2-40B4-BE49-F238E27FC236}">
                <a16:creationId xmlns:a16="http://schemas.microsoft.com/office/drawing/2014/main" id="{8F9DFE1D-97B8-4D62-B5A8-E13BE313B1C3}"/>
              </a:ext>
            </a:extLst>
          </p:cNvPr>
          <p:cNvSpPr/>
          <p:nvPr/>
        </p:nvSpPr>
        <p:spPr bwMode="auto">
          <a:xfrm>
            <a:off x="6554397" y="4158169"/>
            <a:ext cx="216343" cy="87192"/>
          </a:xfrm>
          <a:prstGeom prst="rect">
            <a:avLst/>
          </a:prstGeom>
          <a:solidFill>
            <a:srgbClr val="F4CCA4"/>
          </a:solidFill>
          <a:ln w="3175" cap="flat" cmpd="sng" algn="ctr">
            <a:solidFill>
              <a:srgbClr val="000000"/>
            </a:solidFill>
            <a:prstDash val="dash"/>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67" name="TextBox 66">
            <a:extLst>
              <a:ext uri="{FF2B5EF4-FFF2-40B4-BE49-F238E27FC236}">
                <a16:creationId xmlns:a16="http://schemas.microsoft.com/office/drawing/2014/main" id="{FB7F1220-78A9-4DC9-A010-094421CCD19C}"/>
              </a:ext>
            </a:extLst>
          </p:cNvPr>
          <p:cNvSpPr txBox="1"/>
          <p:nvPr/>
        </p:nvSpPr>
        <p:spPr>
          <a:xfrm>
            <a:off x="3116248" y="3270667"/>
            <a:ext cx="598307" cy="230832"/>
          </a:xfrm>
          <a:prstGeom prst="rect">
            <a:avLst/>
          </a:prstGeom>
          <a:noFill/>
        </p:spPr>
        <p:txBody>
          <a:bodyPr wrap="square" rtlCol="0">
            <a:spAutoFit/>
          </a:bodyPr>
          <a:lstStyle/>
          <a:p>
            <a:pPr algn="l"/>
            <a:r>
              <a:rPr lang="en-US" sz="900" b="0" dirty="0"/>
              <a:t>C-Ring</a:t>
            </a:r>
          </a:p>
        </p:txBody>
      </p:sp>
      <p:sp>
        <p:nvSpPr>
          <p:cNvPr id="68" name="TextBox 67">
            <a:extLst>
              <a:ext uri="{FF2B5EF4-FFF2-40B4-BE49-F238E27FC236}">
                <a16:creationId xmlns:a16="http://schemas.microsoft.com/office/drawing/2014/main" id="{45EDE178-01B3-4771-8924-0BD3494DEE89}"/>
              </a:ext>
            </a:extLst>
          </p:cNvPr>
          <p:cNvSpPr txBox="1"/>
          <p:nvPr/>
        </p:nvSpPr>
        <p:spPr>
          <a:xfrm>
            <a:off x="7507021" y="3735473"/>
            <a:ext cx="1622769" cy="646331"/>
          </a:xfrm>
          <a:prstGeom prst="rect">
            <a:avLst/>
          </a:prstGeom>
          <a:noFill/>
        </p:spPr>
        <p:txBody>
          <a:bodyPr wrap="square" rtlCol="0">
            <a:spAutoFit/>
          </a:bodyPr>
          <a:lstStyle/>
          <a:p>
            <a:pPr algn="l"/>
            <a:r>
              <a:rPr lang="en-US" sz="900" b="0" dirty="0">
                <a:highlight>
                  <a:srgbClr val="00FF00"/>
                </a:highlight>
              </a:rPr>
              <a:t>Here C-Ring height from datum 1.33 mm &lt; Gauge height 1.62 mm</a:t>
            </a:r>
          </a:p>
          <a:p>
            <a:pPr algn="l"/>
            <a:r>
              <a:rPr lang="en-US" sz="900" b="0" dirty="0">
                <a:highlight>
                  <a:srgbClr val="00FF00"/>
                </a:highlight>
              </a:rPr>
              <a:t>Hence SEATED &amp; LOCKED</a:t>
            </a:r>
          </a:p>
        </p:txBody>
      </p:sp>
      <p:sp>
        <p:nvSpPr>
          <p:cNvPr id="69" name="TextBox 68">
            <a:extLst>
              <a:ext uri="{FF2B5EF4-FFF2-40B4-BE49-F238E27FC236}">
                <a16:creationId xmlns:a16="http://schemas.microsoft.com/office/drawing/2014/main" id="{AAA0FAC7-21C6-48B9-AFAF-B737F9FB35AD}"/>
              </a:ext>
            </a:extLst>
          </p:cNvPr>
          <p:cNvSpPr txBox="1"/>
          <p:nvPr/>
        </p:nvSpPr>
        <p:spPr>
          <a:xfrm>
            <a:off x="6140640" y="3530540"/>
            <a:ext cx="1011048" cy="230832"/>
          </a:xfrm>
          <a:prstGeom prst="rect">
            <a:avLst/>
          </a:prstGeom>
          <a:noFill/>
        </p:spPr>
        <p:txBody>
          <a:bodyPr wrap="square" rtlCol="0">
            <a:spAutoFit/>
          </a:bodyPr>
          <a:lstStyle/>
          <a:p>
            <a:pPr algn="l"/>
            <a:r>
              <a:rPr lang="en-US" sz="900" b="0" dirty="0"/>
              <a:t>Inspection Gauge</a:t>
            </a:r>
          </a:p>
        </p:txBody>
      </p:sp>
      <p:sp>
        <p:nvSpPr>
          <p:cNvPr id="71" name="Freeform: Shape 70">
            <a:extLst>
              <a:ext uri="{FF2B5EF4-FFF2-40B4-BE49-F238E27FC236}">
                <a16:creationId xmlns:a16="http://schemas.microsoft.com/office/drawing/2014/main" id="{1B2A817B-D584-46EB-B011-C07F4510D46D}"/>
              </a:ext>
            </a:extLst>
          </p:cNvPr>
          <p:cNvSpPr/>
          <p:nvPr/>
        </p:nvSpPr>
        <p:spPr bwMode="auto">
          <a:xfrm>
            <a:off x="5919536" y="4129238"/>
            <a:ext cx="221103" cy="45719"/>
          </a:xfrm>
          <a:custGeom>
            <a:avLst/>
            <a:gdLst>
              <a:gd name="connsiteX0" fmla="*/ 0 w 202130"/>
              <a:gd name="connsiteY0" fmla="*/ 0 h 48133"/>
              <a:gd name="connsiteX1" fmla="*/ 48126 w 202130"/>
              <a:gd name="connsiteY1" fmla="*/ 9625 h 48133"/>
              <a:gd name="connsiteX2" fmla="*/ 77002 w 202130"/>
              <a:gd name="connsiteY2" fmla="*/ 19250 h 48133"/>
              <a:gd name="connsiteX3" fmla="*/ 115503 w 202130"/>
              <a:gd name="connsiteY3" fmla="*/ 28876 h 48133"/>
              <a:gd name="connsiteX4" fmla="*/ 144379 w 202130"/>
              <a:gd name="connsiteY4" fmla="*/ 38501 h 48133"/>
              <a:gd name="connsiteX5" fmla="*/ 202130 w 202130"/>
              <a:gd name="connsiteY5" fmla="*/ 48126 h 48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130" h="48133">
                <a:moveTo>
                  <a:pt x="0" y="0"/>
                </a:moveTo>
                <a:cubicBezTo>
                  <a:pt x="16042" y="3208"/>
                  <a:pt x="32255" y="5657"/>
                  <a:pt x="48126" y="9625"/>
                </a:cubicBezTo>
                <a:cubicBezTo>
                  <a:pt x="57969" y="12086"/>
                  <a:pt x="67246" y="16463"/>
                  <a:pt x="77002" y="19250"/>
                </a:cubicBezTo>
                <a:cubicBezTo>
                  <a:pt x="89722" y="22884"/>
                  <a:pt x="102783" y="25242"/>
                  <a:pt x="115503" y="28876"/>
                </a:cubicBezTo>
                <a:cubicBezTo>
                  <a:pt x="125259" y="31663"/>
                  <a:pt x="134536" y="36040"/>
                  <a:pt x="144379" y="38501"/>
                </a:cubicBezTo>
                <a:cubicBezTo>
                  <a:pt x="185397" y="48755"/>
                  <a:pt x="178156" y="48126"/>
                  <a:pt x="202130" y="48126"/>
                </a:cubicBezTo>
              </a:path>
            </a:pathLst>
          </a:custGeom>
          <a:noFill/>
          <a:ln w="6350" cap="flat" cmpd="sng" algn="ctr">
            <a:solidFill>
              <a:schemeClr val="tx1"/>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73" name="Freeform: Shape 72">
            <a:extLst>
              <a:ext uri="{FF2B5EF4-FFF2-40B4-BE49-F238E27FC236}">
                <a16:creationId xmlns:a16="http://schemas.microsoft.com/office/drawing/2014/main" id="{FFECD66C-4E07-4CFC-95B4-69200C08562C}"/>
              </a:ext>
            </a:extLst>
          </p:cNvPr>
          <p:cNvSpPr/>
          <p:nvPr/>
        </p:nvSpPr>
        <p:spPr bwMode="auto">
          <a:xfrm>
            <a:off x="7218947" y="4138837"/>
            <a:ext cx="213200" cy="38527"/>
          </a:xfrm>
          <a:custGeom>
            <a:avLst/>
            <a:gdLst>
              <a:gd name="connsiteX0" fmla="*/ 0 w 213200"/>
              <a:gd name="connsiteY0" fmla="*/ 38527 h 38527"/>
              <a:gd name="connsiteX1" fmla="*/ 173255 w 213200"/>
              <a:gd name="connsiteY1" fmla="*/ 9652 h 38527"/>
              <a:gd name="connsiteX2" fmla="*/ 211756 w 213200"/>
              <a:gd name="connsiteY2" fmla="*/ 26 h 38527"/>
            </a:gdLst>
            <a:ahLst/>
            <a:cxnLst>
              <a:cxn ang="0">
                <a:pos x="connsiteX0" y="connsiteY0"/>
              </a:cxn>
              <a:cxn ang="0">
                <a:pos x="connsiteX1" y="connsiteY1"/>
              </a:cxn>
              <a:cxn ang="0">
                <a:pos x="connsiteX2" y="connsiteY2"/>
              </a:cxn>
            </a:cxnLst>
            <a:rect l="l" t="t" r="r" b="b"/>
            <a:pathLst>
              <a:path w="213200" h="38527">
                <a:moveTo>
                  <a:pt x="0" y="38527"/>
                </a:moveTo>
                <a:cubicBezTo>
                  <a:pt x="97249" y="-371"/>
                  <a:pt x="6008" y="30558"/>
                  <a:pt x="173255" y="9652"/>
                </a:cubicBezTo>
                <a:cubicBezTo>
                  <a:pt x="258378" y="-989"/>
                  <a:pt x="175161" y="26"/>
                  <a:pt x="211756" y="26"/>
                </a:cubicBezTo>
              </a:path>
            </a:pathLst>
          </a:custGeom>
          <a:noFill/>
          <a:ln w="6350" cap="flat" cmpd="sng" algn="ctr">
            <a:solidFill>
              <a:srgbClr val="00000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74" name="Flowchart: Magnetic Disk 73">
            <a:extLst>
              <a:ext uri="{FF2B5EF4-FFF2-40B4-BE49-F238E27FC236}">
                <a16:creationId xmlns:a16="http://schemas.microsoft.com/office/drawing/2014/main" id="{4171A0D3-A2D5-4C3D-9163-A39EF98C45D9}"/>
              </a:ext>
            </a:extLst>
          </p:cNvPr>
          <p:cNvSpPr/>
          <p:nvPr/>
        </p:nvSpPr>
        <p:spPr bwMode="auto">
          <a:xfrm>
            <a:off x="5912068" y="5608913"/>
            <a:ext cx="1534905" cy="369332"/>
          </a:xfrm>
          <a:prstGeom prst="flowChartMagneticDisk">
            <a:avLst/>
          </a:prstGeom>
          <a:solidFill>
            <a:srgbClr val="F4CCA4"/>
          </a:solidFill>
          <a:ln w="3175" cap="flat" cmpd="sng" algn="ctr">
            <a:solidFill>
              <a:srgbClr val="000000"/>
            </a:solidFill>
            <a:prstDash val="dash"/>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75" name="Rectangle 74">
            <a:extLst>
              <a:ext uri="{FF2B5EF4-FFF2-40B4-BE49-F238E27FC236}">
                <a16:creationId xmlns:a16="http://schemas.microsoft.com/office/drawing/2014/main" id="{BB8A656B-31CD-4BDF-9D5B-08386AF1BD01}"/>
              </a:ext>
            </a:extLst>
          </p:cNvPr>
          <p:cNvSpPr/>
          <p:nvPr/>
        </p:nvSpPr>
        <p:spPr bwMode="auto">
          <a:xfrm>
            <a:off x="6564906" y="5891053"/>
            <a:ext cx="302879" cy="97436"/>
          </a:xfrm>
          <a:prstGeom prst="rect">
            <a:avLst/>
          </a:prstGeom>
          <a:solidFill>
            <a:schemeClr val="bg2"/>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76" name="Flowchart: Terminator 75">
            <a:extLst>
              <a:ext uri="{FF2B5EF4-FFF2-40B4-BE49-F238E27FC236}">
                <a16:creationId xmlns:a16="http://schemas.microsoft.com/office/drawing/2014/main" id="{2ADBD967-75BA-4ABC-AE74-1D3200BAFF02}"/>
              </a:ext>
            </a:extLst>
          </p:cNvPr>
          <p:cNvSpPr/>
          <p:nvPr/>
        </p:nvSpPr>
        <p:spPr bwMode="auto">
          <a:xfrm rot="180000">
            <a:off x="3323771" y="5270118"/>
            <a:ext cx="97435" cy="1097280"/>
          </a:xfrm>
          <a:prstGeom prst="flowChartTerminator">
            <a:avLst/>
          </a:prstGeom>
          <a:solidFill>
            <a:schemeClr val="tx1"/>
          </a:solid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dirty="0">
              <a:ln>
                <a:noFill/>
              </a:ln>
              <a:solidFill>
                <a:schemeClr val="tx1"/>
              </a:solidFill>
              <a:effectLst/>
              <a:latin typeface="Times New Roman" pitchFamily="18" charset="0"/>
              <a:ea typeface="ＭＳ Ｐゴシック" charset="-128"/>
            </a:endParaRPr>
          </a:p>
        </p:txBody>
      </p:sp>
      <p:sp>
        <p:nvSpPr>
          <p:cNvPr id="77" name="Flowchart: Terminator 76">
            <a:extLst>
              <a:ext uri="{FF2B5EF4-FFF2-40B4-BE49-F238E27FC236}">
                <a16:creationId xmlns:a16="http://schemas.microsoft.com/office/drawing/2014/main" id="{C27D86E9-5CCE-4462-8D66-17627DC40B06}"/>
              </a:ext>
            </a:extLst>
          </p:cNvPr>
          <p:cNvSpPr/>
          <p:nvPr/>
        </p:nvSpPr>
        <p:spPr bwMode="auto">
          <a:xfrm>
            <a:off x="3317967" y="5448557"/>
            <a:ext cx="101900" cy="446856"/>
          </a:xfrm>
          <a:prstGeom prst="flowChartTerminator">
            <a:avLst/>
          </a:prstGeom>
          <a:solidFill>
            <a:schemeClr val="bg1"/>
          </a:solid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cxnSp>
        <p:nvCxnSpPr>
          <p:cNvPr id="78" name="Straight Connector 77">
            <a:extLst>
              <a:ext uri="{FF2B5EF4-FFF2-40B4-BE49-F238E27FC236}">
                <a16:creationId xmlns:a16="http://schemas.microsoft.com/office/drawing/2014/main" id="{07189BA2-7FCC-404C-AA07-A8A13B593733}"/>
              </a:ext>
            </a:extLst>
          </p:cNvPr>
          <p:cNvCxnSpPr>
            <a:cxnSpLocks/>
          </p:cNvCxnSpPr>
          <p:nvPr/>
        </p:nvCxnSpPr>
        <p:spPr bwMode="auto">
          <a:xfrm flipH="1">
            <a:off x="3288951" y="5161939"/>
            <a:ext cx="54314" cy="1454477"/>
          </a:xfrm>
          <a:prstGeom prst="line">
            <a:avLst/>
          </a:prstGeom>
          <a:solidFill>
            <a:schemeClr val="accent1"/>
          </a:solidFill>
          <a:ln w="9525" cap="flat" cmpd="sng" algn="ctr">
            <a:solidFill>
              <a:srgbClr val="000000"/>
            </a:solidFill>
            <a:prstDash val="lgDash"/>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79" name="Straight Connector 78">
            <a:extLst>
              <a:ext uri="{FF2B5EF4-FFF2-40B4-BE49-F238E27FC236}">
                <a16:creationId xmlns:a16="http://schemas.microsoft.com/office/drawing/2014/main" id="{743FEA07-9DAA-489D-984F-5C2248F330F7}"/>
              </a:ext>
            </a:extLst>
          </p:cNvPr>
          <p:cNvCxnSpPr/>
          <p:nvPr/>
        </p:nvCxnSpPr>
        <p:spPr bwMode="auto">
          <a:xfrm>
            <a:off x="3416736" y="6021337"/>
            <a:ext cx="0" cy="595871"/>
          </a:xfrm>
          <a:prstGeom prst="line">
            <a:avLst/>
          </a:pr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80" name="Straight Arrow Connector 79">
            <a:extLst>
              <a:ext uri="{FF2B5EF4-FFF2-40B4-BE49-F238E27FC236}">
                <a16:creationId xmlns:a16="http://schemas.microsoft.com/office/drawing/2014/main" id="{984F2C81-5D97-43E1-9807-18BD0FAAFA3E}"/>
              </a:ext>
            </a:extLst>
          </p:cNvPr>
          <p:cNvCxnSpPr>
            <a:cxnSpLocks/>
          </p:cNvCxnSpPr>
          <p:nvPr/>
        </p:nvCxnSpPr>
        <p:spPr bwMode="auto">
          <a:xfrm flipV="1">
            <a:off x="3280801" y="6537960"/>
            <a:ext cx="163439" cy="1701"/>
          </a:xfrm>
          <a:prstGeom prst="straightConnector1">
            <a:avLst/>
          </a:prstGeom>
          <a:solidFill>
            <a:schemeClr val="accent1"/>
          </a:solidFill>
          <a:ln w="3175" cap="flat" cmpd="sng" algn="ctr">
            <a:solidFill>
              <a:srgbClr val="000000"/>
            </a:solidFill>
            <a:prstDash val="solid"/>
            <a:round/>
            <a:headEnd type="triangle"/>
            <a:tailEnd type="triangle"/>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81" name="TextBox 80">
            <a:extLst>
              <a:ext uri="{FF2B5EF4-FFF2-40B4-BE49-F238E27FC236}">
                <a16:creationId xmlns:a16="http://schemas.microsoft.com/office/drawing/2014/main" id="{97D64017-9059-4751-94CC-5F4782EE1DF4}"/>
              </a:ext>
            </a:extLst>
          </p:cNvPr>
          <p:cNvSpPr txBox="1"/>
          <p:nvPr/>
        </p:nvSpPr>
        <p:spPr>
          <a:xfrm>
            <a:off x="3504930" y="6262812"/>
            <a:ext cx="2003174" cy="369332"/>
          </a:xfrm>
          <a:prstGeom prst="rect">
            <a:avLst/>
          </a:prstGeom>
          <a:noFill/>
        </p:spPr>
        <p:txBody>
          <a:bodyPr wrap="square" rtlCol="0">
            <a:spAutoFit/>
          </a:bodyPr>
          <a:lstStyle/>
          <a:p>
            <a:pPr algn="l"/>
            <a:r>
              <a:rPr lang="en-US" sz="900" b="0" dirty="0"/>
              <a:t>After C-Ring partial pressed : Base to Top  height = </a:t>
            </a:r>
            <a:r>
              <a:rPr lang="en-US" sz="900" b="0" dirty="0">
                <a:solidFill>
                  <a:srgbClr val="FF3300"/>
                </a:solidFill>
              </a:rPr>
              <a:t>2.44 mm </a:t>
            </a:r>
            <a:r>
              <a:rPr lang="en-US" sz="900" b="0" dirty="0"/>
              <a:t>( No Spec ) </a:t>
            </a:r>
          </a:p>
        </p:txBody>
      </p:sp>
      <p:cxnSp>
        <p:nvCxnSpPr>
          <p:cNvPr id="82" name="Straight Connector 81">
            <a:extLst>
              <a:ext uri="{FF2B5EF4-FFF2-40B4-BE49-F238E27FC236}">
                <a16:creationId xmlns:a16="http://schemas.microsoft.com/office/drawing/2014/main" id="{863BAFE7-A862-48F3-AAF1-0D1EE8B10018}"/>
              </a:ext>
            </a:extLst>
          </p:cNvPr>
          <p:cNvCxnSpPr>
            <a:cxnSpLocks/>
            <a:stCxn id="77" idx="0"/>
          </p:cNvCxnSpPr>
          <p:nvPr/>
        </p:nvCxnSpPr>
        <p:spPr bwMode="auto">
          <a:xfrm>
            <a:off x="3368917" y="5448557"/>
            <a:ext cx="529696" cy="0"/>
          </a:xfrm>
          <a:prstGeom prst="line">
            <a:avLst/>
          </a:prstGeom>
          <a:solidFill>
            <a:schemeClr val="accent1"/>
          </a:solidFill>
          <a:ln w="317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83" name="Straight Connector 82">
            <a:extLst>
              <a:ext uri="{FF2B5EF4-FFF2-40B4-BE49-F238E27FC236}">
                <a16:creationId xmlns:a16="http://schemas.microsoft.com/office/drawing/2014/main" id="{DBA2EBAF-4C36-45ED-8D4F-F6F892CE1CFA}"/>
              </a:ext>
            </a:extLst>
          </p:cNvPr>
          <p:cNvCxnSpPr>
            <a:cxnSpLocks/>
          </p:cNvCxnSpPr>
          <p:nvPr/>
        </p:nvCxnSpPr>
        <p:spPr bwMode="auto">
          <a:xfrm>
            <a:off x="3368018" y="5863662"/>
            <a:ext cx="530595" cy="2"/>
          </a:xfrm>
          <a:prstGeom prst="line">
            <a:avLst/>
          </a:prstGeom>
          <a:solidFill>
            <a:schemeClr val="accent1"/>
          </a:solidFill>
          <a:ln w="317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84" name="Straight Arrow Connector 83">
            <a:extLst>
              <a:ext uri="{FF2B5EF4-FFF2-40B4-BE49-F238E27FC236}">
                <a16:creationId xmlns:a16="http://schemas.microsoft.com/office/drawing/2014/main" id="{F0FC6EDF-5412-43A7-97B9-0F718E2F0388}"/>
              </a:ext>
            </a:extLst>
          </p:cNvPr>
          <p:cNvCxnSpPr>
            <a:cxnSpLocks/>
          </p:cNvCxnSpPr>
          <p:nvPr/>
        </p:nvCxnSpPr>
        <p:spPr bwMode="auto">
          <a:xfrm>
            <a:off x="3714555" y="5441264"/>
            <a:ext cx="0" cy="430483"/>
          </a:xfrm>
          <a:prstGeom prst="straightConnector1">
            <a:avLst/>
          </a:prstGeom>
          <a:solidFill>
            <a:schemeClr val="accent1"/>
          </a:solidFill>
          <a:ln w="3175" cap="flat" cmpd="sng" algn="ctr">
            <a:solidFill>
              <a:srgbClr val="000000"/>
            </a:solidFill>
            <a:prstDash val="solid"/>
            <a:round/>
            <a:headEnd type="triangle"/>
            <a:tailEnd type="triangle"/>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85" name="TextBox 84">
            <a:extLst>
              <a:ext uri="{FF2B5EF4-FFF2-40B4-BE49-F238E27FC236}">
                <a16:creationId xmlns:a16="http://schemas.microsoft.com/office/drawing/2014/main" id="{A8D34E64-5DA1-4D80-9904-042F31958EFD}"/>
              </a:ext>
            </a:extLst>
          </p:cNvPr>
          <p:cNvSpPr txBox="1"/>
          <p:nvPr/>
        </p:nvSpPr>
        <p:spPr>
          <a:xfrm>
            <a:off x="3779912" y="5471839"/>
            <a:ext cx="2161671" cy="369332"/>
          </a:xfrm>
          <a:prstGeom prst="rect">
            <a:avLst/>
          </a:prstGeom>
          <a:noFill/>
        </p:spPr>
        <p:txBody>
          <a:bodyPr wrap="square" rtlCol="0">
            <a:spAutoFit/>
          </a:bodyPr>
          <a:lstStyle/>
          <a:p>
            <a:pPr algn="l"/>
            <a:r>
              <a:rPr lang="en-US" sz="900" b="0" dirty="0"/>
              <a:t>After C-Ring Partial pressed : </a:t>
            </a:r>
            <a:r>
              <a:rPr lang="en-US" sz="900" b="0" dirty="0">
                <a:solidFill>
                  <a:srgbClr val="FF0000"/>
                </a:solidFill>
              </a:rPr>
              <a:t>Gap = 10.32 </a:t>
            </a:r>
            <a:r>
              <a:rPr lang="en-US" sz="900" b="0" dirty="0"/>
              <a:t>mm (  Spec : 8.50 Max  ) </a:t>
            </a:r>
          </a:p>
        </p:txBody>
      </p:sp>
      <p:sp>
        <p:nvSpPr>
          <p:cNvPr id="86" name="Flowchart: Terminator 85">
            <a:extLst>
              <a:ext uri="{FF2B5EF4-FFF2-40B4-BE49-F238E27FC236}">
                <a16:creationId xmlns:a16="http://schemas.microsoft.com/office/drawing/2014/main" id="{31BBDC0D-C2BC-44EF-8CC4-14BAA8954BC7}"/>
              </a:ext>
            </a:extLst>
          </p:cNvPr>
          <p:cNvSpPr/>
          <p:nvPr/>
        </p:nvSpPr>
        <p:spPr bwMode="auto">
          <a:xfrm rot="16380000">
            <a:off x="6643473" y="5475453"/>
            <a:ext cx="97435" cy="1097280"/>
          </a:xfrm>
          <a:prstGeom prst="flowChartTerminator">
            <a:avLst/>
          </a:prstGeom>
          <a:solidFill>
            <a:schemeClr val="tx1"/>
          </a:solid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88" name="Rectangle 87">
            <a:extLst>
              <a:ext uri="{FF2B5EF4-FFF2-40B4-BE49-F238E27FC236}">
                <a16:creationId xmlns:a16="http://schemas.microsoft.com/office/drawing/2014/main" id="{54B6A358-B2F4-465B-96EF-45DF35959999}"/>
              </a:ext>
            </a:extLst>
          </p:cNvPr>
          <p:cNvSpPr/>
          <p:nvPr/>
        </p:nvSpPr>
        <p:spPr bwMode="auto">
          <a:xfrm>
            <a:off x="6563634" y="5884836"/>
            <a:ext cx="302817" cy="59854"/>
          </a:xfrm>
          <a:prstGeom prst="rect">
            <a:avLst/>
          </a:prstGeom>
          <a:solidFill>
            <a:srgbClr val="F4CCA4"/>
          </a:solidFill>
          <a:ln w="3175" cap="flat" cmpd="sng" algn="ctr">
            <a:solidFill>
              <a:srgbClr val="000000"/>
            </a:solidFill>
            <a:prstDash val="dash"/>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91" name="TextBox 90">
            <a:extLst>
              <a:ext uri="{FF2B5EF4-FFF2-40B4-BE49-F238E27FC236}">
                <a16:creationId xmlns:a16="http://schemas.microsoft.com/office/drawing/2014/main" id="{8D67DD75-B88B-4EEE-8278-64C07E4541DF}"/>
              </a:ext>
            </a:extLst>
          </p:cNvPr>
          <p:cNvSpPr txBox="1"/>
          <p:nvPr/>
        </p:nvSpPr>
        <p:spPr>
          <a:xfrm>
            <a:off x="6314499" y="4286437"/>
            <a:ext cx="1011048" cy="230832"/>
          </a:xfrm>
          <a:prstGeom prst="rect">
            <a:avLst/>
          </a:prstGeom>
          <a:noFill/>
        </p:spPr>
        <p:txBody>
          <a:bodyPr wrap="square" rtlCol="0">
            <a:spAutoFit/>
          </a:bodyPr>
          <a:lstStyle/>
          <a:p>
            <a:pPr algn="l"/>
            <a:r>
              <a:rPr lang="en-US" sz="900" b="0" dirty="0"/>
              <a:t>LOCKED</a:t>
            </a:r>
          </a:p>
        </p:txBody>
      </p:sp>
      <p:sp>
        <p:nvSpPr>
          <p:cNvPr id="92" name="Freeform: Shape 91">
            <a:extLst>
              <a:ext uri="{FF2B5EF4-FFF2-40B4-BE49-F238E27FC236}">
                <a16:creationId xmlns:a16="http://schemas.microsoft.com/office/drawing/2014/main" id="{B553CE55-4891-4E23-9E77-F68F0A0453D7}"/>
              </a:ext>
            </a:extLst>
          </p:cNvPr>
          <p:cNvSpPr/>
          <p:nvPr/>
        </p:nvSpPr>
        <p:spPr bwMode="auto">
          <a:xfrm>
            <a:off x="5920870" y="5871748"/>
            <a:ext cx="269191" cy="48126"/>
          </a:xfrm>
          <a:custGeom>
            <a:avLst/>
            <a:gdLst>
              <a:gd name="connsiteX0" fmla="*/ 0 w 202130"/>
              <a:gd name="connsiteY0" fmla="*/ 0 h 48133"/>
              <a:gd name="connsiteX1" fmla="*/ 48126 w 202130"/>
              <a:gd name="connsiteY1" fmla="*/ 9625 h 48133"/>
              <a:gd name="connsiteX2" fmla="*/ 77002 w 202130"/>
              <a:gd name="connsiteY2" fmla="*/ 19250 h 48133"/>
              <a:gd name="connsiteX3" fmla="*/ 115503 w 202130"/>
              <a:gd name="connsiteY3" fmla="*/ 28876 h 48133"/>
              <a:gd name="connsiteX4" fmla="*/ 144379 w 202130"/>
              <a:gd name="connsiteY4" fmla="*/ 38501 h 48133"/>
              <a:gd name="connsiteX5" fmla="*/ 202130 w 202130"/>
              <a:gd name="connsiteY5" fmla="*/ 48126 h 48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130" h="48133">
                <a:moveTo>
                  <a:pt x="0" y="0"/>
                </a:moveTo>
                <a:cubicBezTo>
                  <a:pt x="16042" y="3208"/>
                  <a:pt x="32255" y="5657"/>
                  <a:pt x="48126" y="9625"/>
                </a:cubicBezTo>
                <a:cubicBezTo>
                  <a:pt x="57969" y="12086"/>
                  <a:pt x="67246" y="16463"/>
                  <a:pt x="77002" y="19250"/>
                </a:cubicBezTo>
                <a:cubicBezTo>
                  <a:pt x="89722" y="22884"/>
                  <a:pt x="102783" y="25242"/>
                  <a:pt x="115503" y="28876"/>
                </a:cubicBezTo>
                <a:cubicBezTo>
                  <a:pt x="125259" y="31663"/>
                  <a:pt x="134536" y="36040"/>
                  <a:pt x="144379" y="38501"/>
                </a:cubicBezTo>
                <a:cubicBezTo>
                  <a:pt x="185397" y="48755"/>
                  <a:pt x="178156" y="48126"/>
                  <a:pt x="202130" y="48126"/>
                </a:cubicBezTo>
              </a:path>
            </a:pathLst>
          </a:custGeom>
          <a:noFill/>
          <a:ln w="6350" cap="flat" cmpd="sng" algn="ctr">
            <a:solidFill>
              <a:schemeClr val="tx1"/>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93" name="Freeform: Shape 92">
            <a:extLst>
              <a:ext uri="{FF2B5EF4-FFF2-40B4-BE49-F238E27FC236}">
                <a16:creationId xmlns:a16="http://schemas.microsoft.com/office/drawing/2014/main" id="{5C8920A1-8A26-4870-8E01-CEEA3CC01FE3}"/>
              </a:ext>
            </a:extLst>
          </p:cNvPr>
          <p:cNvSpPr/>
          <p:nvPr/>
        </p:nvSpPr>
        <p:spPr bwMode="auto">
          <a:xfrm>
            <a:off x="7220281" y="5881346"/>
            <a:ext cx="213200" cy="38527"/>
          </a:xfrm>
          <a:custGeom>
            <a:avLst/>
            <a:gdLst>
              <a:gd name="connsiteX0" fmla="*/ 0 w 213200"/>
              <a:gd name="connsiteY0" fmla="*/ 38527 h 38527"/>
              <a:gd name="connsiteX1" fmla="*/ 173255 w 213200"/>
              <a:gd name="connsiteY1" fmla="*/ 9652 h 38527"/>
              <a:gd name="connsiteX2" fmla="*/ 211756 w 213200"/>
              <a:gd name="connsiteY2" fmla="*/ 26 h 38527"/>
            </a:gdLst>
            <a:ahLst/>
            <a:cxnLst>
              <a:cxn ang="0">
                <a:pos x="connsiteX0" y="connsiteY0"/>
              </a:cxn>
              <a:cxn ang="0">
                <a:pos x="connsiteX1" y="connsiteY1"/>
              </a:cxn>
              <a:cxn ang="0">
                <a:pos x="connsiteX2" y="connsiteY2"/>
              </a:cxn>
            </a:cxnLst>
            <a:rect l="l" t="t" r="r" b="b"/>
            <a:pathLst>
              <a:path w="213200" h="38527">
                <a:moveTo>
                  <a:pt x="0" y="38527"/>
                </a:moveTo>
                <a:cubicBezTo>
                  <a:pt x="97249" y="-371"/>
                  <a:pt x="6008" y="30558"/>
                  <a:pt x="173255" y="9652"/>
                </a:cubicBezTo>
                <a:cubicBezTo>
                  <a:pt x="258378" y="-989"/>
                  <a:pt x="175161" y="26"/>
                  <a:pt x="211756" y="26"/>
                </a:cubicBezTo>
              </a:path>
            </a:pathLst>
          </a:custGeom>
          <a:noFill/>
          <a:ln w="6350" cap="flat" cmpd="sng" algn="ctr">
            <a:solidFill>
              <a:srgbClr val="00000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01" name="Flowchart: Terminator 100">
            <a:extLst>
              <a:ext uri="{FF2B5EF4-FFF2-40B4-BE49-F238E27FC236}">
                <a16:creationId xmlns:a16="http://schemas.microsoft.com/office/drawing/2014/main" id="{BB3EF1B8-B0B7-4279-97F7-2CE7C92D2271}"/>
              </a:ext>
            </a:extLst>
          </p:cNvPr>
          <p:cNvSpPr/>
          <p:nvPr/>
        </p:nvSpPr>
        <p:spPr bwMode="auto">
          <a:xfrm rot="5676951">
            <a:off x="6691749" y="5811302"/>
            <a:ext cx="101900" cy="446856"/>
          </a:xfrm>
          <a:prstGeom prst="flowChartTerminator">
            <a:avLst/>
          </a:prstGeom>
          <a:solidFill>
            <a:schemeClr val="bg1"/>
          </a:solid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02" name="TextBox 101">
            <a:extLst>
              <a:ext uri="{FF2B5EF4-FFF2-40B4-BE49-F238E27FC236}">
                <a16:creationId xmlns:a16="http://schemas.microsoft.com/office/drawing/2014/main" id="{6E30F90B-58F4-4FA4-909A-F75B85EF86B5}"/>
              </a:ext>
            </a:extLst>
          </p:cNvPr>
          <p:cNvSpPr txBox="1"/>
          <p:nvPr/>
        </p:nvSpPr>
        <p:spPr>
          <a:xfrm>
            <a:off x="6390719" y="6142272"/>
            <a:ext cx="1011048" cy="230832"/>
          </a:xfrm>
          <a:prstGeom prst="rect">
            <a:avLst/>
          </a:prstGeom>
          <a:noFill/>
        </p:spPr>
        <p:txBody>
          <a:bodyPr wrap="square" rtlCol="0">
            <a:spAutoFit/>
          </a:bodyPr>
          <a:lstStyle/>
          <a:p>
            <a:pPr algn="l"/>
            <a:r>
              <a:rPr lang="en-US" sz="900" b="0" dirty="0"/>
              <a:t>NOT LOCKED</a:t>
            </a:r>
          </a:p>
        </p:txBody>
      </p:sp>
      <p:sp>
        <p:nvSpPr>
          <p:cNvPr id="106" name="TextBox 105">
            <a:extLst>
              <a:ext uri="{FF2B5EF4-FFF2-40B4-BE49-F238E27FC236}">
                <a16:creationId xmlns:a16="http://schemas.microsoft.com/office/drawing/2014/main" id="{96EE4571-98B9-4582-BC42-54191A5EE87F}"/>
              </a:ext>
            </a:extLst>
          </p:cNvPr>
          <p:cNvSpPr txBox="1"/>
          <p:nvPr/>
        </p:nvSpPr>
        <p:spPr>
          <a:xfrm>
            <a:off x="7508158" y="5540496"/>
            <a:ext cx="1622769" cy="923330"/>
          </a:xfrm>
          <a:prstGeom prst="rect">
            <a:avLst/>
          </a:prstGeom>
          <a:noFill/>
        </p:spPr>
        <p:txBody>
          <a:bodyPr wrap="square" rtlCol="0">
            <a:spAutoFit/>
          </a:bodyPr>
          <a:lstStyle/>
          <a:p>
            <a:pPr algn="l"/>
            <a:r>
              <a:rPr lang="en-US" sz="900" b="0" dirty="0">
                <a:highlight>
                  <a:srgbClr val="FF00FF"/>
                </a:highlight>
              </a:rPr>
              <a:t>Here C-Ring height from datum 2.44 mm (Inclined due to not seating into groove)  &gt; Gauge height 1.62 mm</a:t>
            </a:r>
          </a:p>
          <a:p>
            <a:pPr algn="l"/>
            <a:r>
              <a:rPr lang="en-US" sz="900" b="0" dirty="0">
                <a:highlight>
                  <a:srgbClr val="FF00FF"/>
                </a:highlight>
              </a:rPr>
              <a:t>Hence NOT SEATED &amp; NOT LOCKED</a:t>
            </a:r>
          </a:p>
        </p:txBody>
      </p:sp>
    </p:spTree>
    <p:extLst>
      <p:ext uri="{BB962C8B-B14F-4D97-AF65-F5344CB8AC3E}">
        <p14:creationId xmlns:p14="http://schemas.microsoft.com/office/powerpoint/2010/main" val="1992886713"/>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bwMode="auto">
          <a:xfrm>
            <a:off x="179512" y="814710"/>
            <a:ext cx="4473798" cy="273578"/>
          </a:xfrm>
          <a:prstGeom prst="rect">
            <a:avLst/>
          </a:prstGeom>
          <a:solidFill>
            <a:srgbClr val="66FF33"/>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r>
              <a:rPr lang="en-US" sz="1200" dirty="0"/>
              <a:t>Right Method of Gauge Inspection </a:t>
            </a:r>
            <a:endParaRPr kumimoji="1" lang="en-US" sz="1100" i="0" u="none" strike="noStrike" cap="none" normalizeH="0" baseline="0" dirty="0">
              <a:ln>
                <a:noFill/>
              </a:ln>
              <a:solidFill>
                <a:schemeClr val="tx1"/>
              </a:solidFill>
              <a:effectLst/>
            </a:endParaRPr>
          </a:p>
        </p:txBody>
      </p:sp>
      <p:sp>
        <p:nvSpPr>
          <p:cNvPr id="116" name="Rectangle 115"/>
          <p:cNvSpPr/>
          <p:nvPr/>
        </p:nvSpPr>
        <p:spPr bwMode="auto">
          <a:xfrm>
            <a:off x="4716016" y="814710"/>
            <a:ext cx="4312483" cy="278826"/>
          </a:xfrm>
          <a:prstGeom prst="rect">
            <a:avLst/>
          </a:prstGeom>
          <a:solidFill>
            <a:srgbClr val="FFCCFF"/>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algn="l"/>
            <a:r>
              <a:rPr lang="en-US" sz="1200" dirty="0"/>
              <a:t>Incorrect Method of Gauge Inspection</a:t>
            </a:r>
            <a:endParaRPr kumimoji="1" lang="en-US" sz="1100" i="0" u="none" strike="noStrike" cap="none" normalizeH="0" baseline="0" dirty="0">
              <a:ln>
                <a:noFill/>
              </a:ln>
              <a:solidFill>
                <a:schemeClr val="tx1"/>
              </a:solidFill>
              <a:effectLst/>
            </a:endParaRPr>
          </a:p>
        </p:txBody>
      </p:sp>
      <p:graphicFrame>
        <p:nvGraphicFramePr>
          <p:cNvPr id="3" name="Table 2"/>
          <p:cNvGraphicFramePr>
            <a:graphicFrameLocks noGrp="1"/>
          </p:cNvGraphicFramePr>
          <p:nvPr>
            <p:extLst>
              <p:ext uri="{D42A27DB-BD31-4B8C-83A1-F6EECF244321}">
                <p14:modId xmlns:p14="http://schemas.microsoft.com/office/powerpoint/2010/main" val="1526773811"/>
              </p:ext>
            </p:extLst>
          </p:nvPr>
        </p:nvGraphicFramePr>
        <p:xfrm>
          <a:off x="179512" y="5038680"/>
          <a:ext cx="8848986" cy="1484213"/>
        </p:xfrm>
        <a:graphic>
          <a:graphicData uri="http://schemas.openxmlformats.org/drawingml/2006/table">
            <a:tbl>
              <a:tblPr firstRow="1" bandRow="1">
                <a:tableStyleId>{5C22544A-7EE6-4342-B048-85BDC9FD1C3A}</a:tableStyleId>
              </a:tblPr>
              <a:tblGrid>
                <a:gridCol w="507729">
                  <a:extLst>
                    <a:ext uri="{9D8B030D-6E8A-4147-A177-3AD203B41FA5}">
                      <a16:colId xmlns:a16="http://schemas.microsoft.com/office/drawing/2014/main" val="3684979536"/>
                    </a:ext>
                  </a:extLst>
                </a:gridCol>
                <a:gridCol w="3989297">
                  <a:extLst>
                    <a:ext uri="{9D8B030D-6E8A-4147-A177-3AD203B41FA5}">
                      <a16:colId xmlns:a16="http://schemas.microsoft.com/office/drawing/2014/main" val="1011749570"/>
                    </a:ext>
                  </a:extLst>
                </a:gridCol>
                <a:gridCol w="4351960">
                  <a:extLst>
                    <a:ext uri="{9D8B030D-6E8A-4147-A177-3AD203B41FA5}">
                      <a16:colId xmlns:a16="http://schemas.microsoft.com/office/drawing/2014/main" val="2811724403"/>
                    </a:ext>
                  </a:extLst>
                </a:gridCol>
              </a:tblGrid>
              <a:tr h="304221">
                <a:tc>
                  <a:txBody>
                    <a:bodyPr/>
                    <a:lstStyle/>
                    <a:p>
                      <a:r>
                        <a:rPr lang="en-US" sz="1100" b="0" dirty="0">
                          <a:solidFill>
                            <a:schemeClr val="tx1"/>
                          </a:solidFill>
                        </a:rPr>
                        <a:t>S.N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100" b="0" dirty="0">
                          <a:solidFill>
                            <a:schemeClr val="tx1"/>
                          </a:solidFill>
                        </a:rPr>
                        <a:t>RIGHT method of Gauge Inspection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100" b="0" dirty="0">
                          <a:solidFill>
                            <a:schemeClr val="tx1"/>
                          </a:solidFill>
                        </a:rPr>
                        <a:t>WRONG method of Gauge Inspection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24622892"/>
                  </a:ext>
                </a:extLst>
              </a:tr>
              <a:tr h="413781">
                <a:tc>
                  <a:txBody>
                    <a:bodyPr/>
                    <a:lstStyle/>
                    <a:p>
                      <a:pPr algn="ctr"/>
                      <a:r>
                        <a:rPr lang="en-US" sz="900" b="0" dirty="0">
                          <a:solidFill>
                            <a:schemeClr val="tx1"/>
                          </a:solidFill>
                        </a:rPr>
                        <a:t>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000" dirty="0"/>
                        <a:t>Pick up the gauge from the PLC-interlocked sensor stand</a:t>
                      </a:r>
                      <a:endParaRPr lang="en-US" sz="10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000" dirty="0"/>
                        <a:t>Pick up the gauge from the PLC-interlocked sensor stand</a:t>
                      </a:r>
                      <a:endParaRPr lang="en-US" sz="10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89359444"/>
                  </a:ext>
                </a:extLst>
              </a:tr>
              <a:tr h="465279">
                <a:tc>
                  <a:txBody>
                    <a:bodyPr/>
                    <a:lstStyle/>
                    <a:p>
                      <a:pPr algn="ctr"/>
                      <a:r>
                        <a:rPr lang="en-US" sz="900" b="0" dirty="0">
                          <a:solidFill>
                            <a:schemeClr val="tx1"/>
                          </a:solidFill>
                        </a:rPr>
                        <a:t>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000" dirty="0"/>
                        <a:t>Insert the gauge through the upper shaft and rest it on the top of the C-ring.</a:t>
                      </a:r>
                      <a:endParaRPr lang="en-US" sz="10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000" dirty="0"/>
                        <a:t>Insert the gauge through the upper shaft and rest it on the top of the C-ring.</a:t>
                      </a:r>
                      <a:endParaRPr lang="en-US" sz="10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89012704"/>
                  </a:ext>
                </a:extLst>
              </a:tr>
              <a:tr h="300932">
                <a:tc>
                  <a:txBody>
                    <a:bodyPr/>
                    <a:lstStyle/>
                    <a:p>
                      <a:pPr algn="ctr"/>
                      <a:r>
                        <a:rPr lang="en-US" sz="900" b="0" dirty="0">
                          <a:solidFill>
                            <a:schemeClr val="tx1"/>
                          </a:solidFill>
                        </a:rPr>
                        <a:t>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000" b="1" dirty="0">
                          <a:solidFill>
                            <a:srgbClr val="0000FF"/>
                          </a:solidFill>
                        </a:rPr>
                        <a:t>Rotate the gauge until the C-ring gap locks into the gauge slot</a:t>
                      </a:r>
                      <a:r>
                        <a:rPr lang="en-US" sz="1000" b="1" dirty="0"/>
                        <a:t>.</a:t>
                      </a:r>
                      <a:endParaRPr lang="en-US" sz="10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000" b="1" dirty="0">
                          <a:solidFill>
                            <a:srgbClr val="FF3300"/>
                          </a:solidFill>
                        </a:rPr>
                        <a:t>Without Rotate and lock - Judgement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94101204"/>
                  </a:ext>
                </a:extLst>
              </a:tr>
            </a:tbl>
          </a:graphicData>
        </a:graphic>
      </p:graphicFrame>
      <p:sp>
        <p:nvSpPr>
          <p:cNvPr id="7" name="Rectangle 6"/>
          <p:cNvSpPr/>
          <p:nvPr/>
        </p:nvSpPr>
        <p:spPr bwMode="auto">
          <a:xfrm>
            <a:off x="179512" y="1196752"/>
            <a:ext cx="4473798" cy="3836680"/>
          </a:xfrm>
          <a:prstGeom prst="rect">
            <a:avLst/>
          </a:prstGeom>
          <a:noFill/>
          <a:ln w="19050" cap="flat" cmpd="sng" algn="ctr">
            <a:solidFill>
              <a:srgbClr val="FFCCFF"/>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96" name="Can 95"/>
          <p:cNvSpPr/>
          <p:nvPr/>
        </p:nvSpPr>
        <p:spPr bwMode="auto">
          <a:xfrm rot="10800000">
            <a:off x="1845722" y="1268760"/>
            <a:ext cx="220244" cy="548640"/>
          </a:xfrm>
          <a:prstGeom prst="can">
            <a:avLst/>
          </a:prstGeom>
          <a:pattFill prst="ltVert">
            <a:fgClr>
              <a:schemeClr val="bg1"/>
            </a:fgClr>
            <a:bgClr>
              <a:schemeClr val="bg2"/>
            </a:bgClr>
          </a:patt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grpSp>
        <p:nvGrpSpPr>
          <p:cNvPr id="97" name="Group 96"/>
          <p:cNvGrpSpPr/>
          <p:nvPr/>
        </p:nvGrpSpPr>
        <p:grpSpPr>
          <a:xfrm>
            <a:off x="1465231" y="2581006"/>
            <a:ext cx="993847" cy="297898"/>
            <a:chOff x="1057873" y="3124402"/>
            <a:chExt cx="1211560" cy="329118"/>
          </a:xfrm>
        </p:grpSpPr>
        <p:sp>
          <p:nvSpPr>
            <p:cNvPr id="98" name="Rounded Rectangle 97"/>
            <p:cNvSpPr/>
            <p:nvPr/>
          </p:nvSpPr>
          <p:spPr bwMode="auto">
            <a:xfrm>
              <a:off x="1293689" y="3124402"/>
              <a:ext cx="129810" cy="327310"/>
            </a:xfrm>
            <a:prstGeom prst="roundRect">
              <a:avLst/>
            </a:prstGeom>
            <a:pattFill prst="ltDnDiag">
              <a:fgClr>
                <a:srgbClr val="C00000"/>
              </a:fgClr>
              <a:bgClr>
                <a:schemeClr val="bg1"/>
              </a:bgClr>
            </a:pattFill>
            <a:ln w="12700"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99" name="Rounded Rectangle 98"/>
            <p:cNvSpPr/>
            <p:nvPr/>
          </p:nvSpPr>
          <p:spPr bwMode="auto">
            <a:xfrm>
              <a:off x="1057873" y="3126210"/>
              <a:ext cx="129810" cy="327310"/>
            </a:xfrm>
            <a:prstGeom prst="roundRect">
              <a:avLst/>
            </a:prstGeom>
            <a:pattFill prst="ltUpDiag">
              <a:fgClr>
                <a:srgbClr val="C00000"/>
              </a:fgClr>
              <a:bgClr>
                <a:schemeClr val="bg1"/>
              </a:bgClr>
            </a:pattFill>
            <a:ln w="12700"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00" name="Oval 99"/>
            <p:cNvSpPr/>
            <p:nvPr/>
          </p:nvSpPr>
          <p:spPr bwMode="auto">
            <a:xfrm>
              <a:off x="1154146" y="3208037"/>
              <a:ext cx="173080" cy="163655"/>
            </a:xfrm>
            <a:prstGeom prst="ellipse">
              <a:avLst/>
            </a:prstGeom>
            <a:solidFill>
              <a:schemeClr val="bg1"/>
            </a:solidFill>
            <a:ln w="12700" cap="flat" cmpd="sng" algn="ctr">
              <a:solidFill>
                <a:srgbClr val="C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cxnSp>
          <p:nvCxnSpPr>
            <p:cNvPr id="101" name="Straight Connector 100"/>
            <p:cNvCxnSpPr/>
            <p:nvPr/>
          </p:nvCxnSpPr>
          <p:spPr bwMode="auto">
            <a:xfrm>
              <a:off x="1057873" y="3124402"/>
              <a:ext cx="1211560" cy="0"/>
            </a:xfrm>
            <a:prstGeom prst="line">
              <a:avLst/>
            </a:prstGeom>
            <a:solidFill>
              <a:schemeClr val="accent1"/>
            </a:solidFill>
            <a:ln w="9525" cap="flat" cmpd="sng" algn="ctr">
              <a:solidFill>
                <a:srgbClr val="C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02" name="Rounded Rectangle 101"/>
            <p:cNvSpPr/>
            <p:nvPr/>
          </p:nvSpPr>
          <p:spPr bwMode="auto">
            <a:xfrm>
              <a:off x="2139623" y="3124402"/>
              <a:ext cx="129810" cy="327310"/>
            </a:xfrm>
            <a:prstGeom prst="roundRect">
              <a:avLst/>
            </a:prstGeom>
            <a:pattFill prst="ltDnDiag">
              <a:fgClr>
                <a:srgbClr val="C00000"/>
              </a:fgClr>
              <a:bgClr>
                <a:schemeClr val="bg1"/>
              </a:bgClr>
            </a:pattFill>
            <a:ln w="12700"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03" name="Rounded Rectangle 102"/>
            <p:cNvSpPr/>
            <p:nvPr/>
          </p:nvSpPr>
          <p:spPr bwMode="auto">
            <a:xfrm>
              <a:off x="1903807" y="3126210"/>
              <a:ext cx="129810" cy="327310"/>
            </a:xfrm>
            <a:prstGeom prst="roundRect">
              <a:avLst/>
            </a:prstGeom>
            <a:pattFill prst="ltUpDiag">
              <a:fgClr>
                <a:srgbClr val="C00000"/>
              </a:fgClr>
              <a:bgClr>
                <a:schemeClr val="bg1"/>
              </a:bgClr>
            </a:pattFill>
            <a:ln w="12700"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04" name="Oval 103"/>
            <p:cNvSpPr/>
            <p:nvPr/>
          </p:nvSpPr>
          <p:spPr bwMode="auto">
            <a:xfrm>
              <a:off x="2000080" y="3208037"/>
              <a:ext cx="173080" cy="163655"/>
            </a:xfrm>
            <a:prstGeom prst="ellipse">
              <a:avLst/>
            </a:prstGeom>
            <a:solidFill>
              <a:schemeClr val="bg1"/>
            </a:solidFill>
            <a:ln w="12700" cap="flat" cmpd="sng" algn="ctr">
              <a:solidFill>
                <a:srgbClr val="C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cxnSp>
          <p:nvCxnSpPr>
            <p:cNvPr id="105" name="Straight Connector 104"/>
            <p:cNvCxnSpPr/>
            <p:nvPr/>
          </p:nvCxnSpPr>
          <p:spPr bwMode="auto">
            <a:xfrm>
              <a:off x="1057873" y="3452404"/>
              <a:ext cx="1211560" cy="0"/>
            </a:xfrm>
            <a:prstGeom prst="line">
              <a:avLst/>
            </a:prstGeom>
            <a:solidFill>
              <a:schemeClr val="accent1"/>
            </a:solidFill>
            <a:ln w="9525" cap="flat" cmpd="sng" algn="ctr">
              <a:solidFill>
                <a:srgbClr val="C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grpSp>
      <p:grpSp>
        <p:nvGrpSpPr>
          <p:cNvPr id="106" name="Group 105"/>
          <p:cNvGrpSpPr/>
          <p:nvPr/>
        </p:nvGrpSpPr>
        <p:grpSpPr>
          <a:xfrm>
            <a:off x="1326291" y="2033425"/>
            <a:ext cx="1343701" cy="1440161"/>
            <a:chOff x="1572115" y="3327260"/>
            <a:chExt cx="1721471" cy="1536777"/>
          </a:xfrm>
        </p:grpSpPr>
        <p:cxnSp>
          <p:nvCxnSpPr>
            <p:cNvPr id="107" name="Straight Connector 106"/>
            <p:cNvCxnSpPr/>
            <p:nvPr/>
          </p:nvCxnSpPr>
          <p:spPr bwMode="auto">
            <a:xfrm flipH="1">
              <a:off x="1642270" y="4193803"/>
              <a:ext cx="0" cy="460334"/>
            </a:xfrm>
            <a:prstGeom prst="line">
              <a:avLst/>
            </a:pr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08" name="Flowchart: Punched Tape 107"/>
            <p:cNvSpPr/>
            <p:nvPr/>
          </p:nvSpPr>
          <p:spPr bwMode="auto">
            <a:xfrm>
              <a:off x="1572115" y="3327261"/>
              <a:ext cx="214537" cy="1536776"/>
            </a:xfrm>
            <a:prstGeom prst="flowChartPunchedTape">
              <a:avLst/>
            </a:pr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endParaRPr lang="en-US"/>
            </a:p>
          </p:txBody>
        </p:sp>
        <p:sp>
          <p:nvSpPr>
            <p:cNvPr id="109" name="Flowchart: Punched Tape 108"/>
            <p:cNvSpPr/>
            <p:nvPr/>
          </p:nvSpPr>
          <p:spPr bwMode="auto">
            <a:xfrm flipV="1">
              <a:off x="3045214" y="3327260"/>
              <a:ext cx="248372" cy="1511180"/>
            </a:xfrm>
            <a:prstGeom prst="flowChartPunchedTape">
              <a:avLst/>
            </a:pr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endParaRPr lang="en-US"/>
            </a:p>
          </p:txBody>
        </p:sp>
        <p:sp>
          <p:nvSpPr>
            <p:cNvPr id="110" name="Freeform 109"/>
            <p:cNvSpPr/>
            <p:nvPr/>
          </p:nvSpPr>
          <p:spPr bwMode="auto">
            <a:xfrm>
              <a:off x="1674796" y="4263996"/>
              <a:ext cx="288758" cy="577515"/>
            </a:xfrm>
            <a:custGeom>
              <a:avLst/>
              <a:gdLst>
                <a:gd name="connsiteX0" fmla="*/ 134753 w 288758"/>
                <a:gd name="connsiteY0" fmla="*/ 0 h 577515"/>
                <a:gd name="connsiteX1" fmla="*/ 269507 w 288758"/>
                <a:gd name="connsiteY1" fmla="*/ 9625 h 577515"/>
                <a:gd name="connsiteX2" fmla="*/ 279132 w 288758"/>
                <a:gd name="connsiteY2" fmla="*/ 38501 h 577515"/>
                <a:gd name="connsiteX3" fmla="*/ 288758 w 288758"/>
                <a:gd name="connsiteY3" fmla="*/ 105877 h 577515"/>
                <a:gd name="connsiteX4" fmla="*/ 279132 w 288758"/>
                <a:gd name="connsiteY4" fmla="*/ 346509 h 577515"/>
                <a:gd name="connsiteX5" fmla="*/ 240631 w 288758"/>
                <a:gd name="connsiteY5" fmla="*/ 433136 h 577515"/>
                <a:gd name="connsiteX6" fmla="*/ 221381 w 288758"/>
                <a:gd name="connsiteY6" fmla="*/ 462012 h 577515"/>
                <a:gd name="connsiteX7" fmla="*/ 125128 w 288758"/>
                <a:gd name="connsiteY7" fmla="*/ 500513 h 577515"/>
                <a:gd name="connsiteX8" fmla="*/ 67377 w 288758"/>
                <a:gd name="connsiteY8" fmla="*/ 519764 h 577515"/>
                <a:gd name="connsiteX9" fmla="*/ 38501 w 288758"/>
                <a:gd name="connsiteY9" fmla="*/ 548640 h 577515"/>
                <a:gd name="connsiteX10" fmla="*/ 19250 w 288758"/>
                <a:gd name="connsiteY10" fmla="*/ 577515 h 577515"/>
                <a:gd name="connsiteX11" fmla="*/ 0 w 288758"/>
                <a:gd name="connsiteY11" fmla="*/ 548640 h 577515"/>
                <a:gd name="connsiteX12" fmla="*/ 38501 w 288758"/>
                <a:gd name="connsiteY12" fmla="*/ 490888 h 577515"/>
                <a:gd name="connsiteX13" fmla="*/ 57751 w 288758"/>
                <a:gd name="connsiteY13" fmla="*/ 462012 h 577515"/>
                <a:gd name="connsiteX14" fmla="*/ 77002 w 288758"/>
                <a:gd name="connsiteY14" fmla="*/ 385010 h 577515"/>
                <a:gd name="connsiteX15" fmla="*/ 105878 w 288758"/>
                <a:gd name="connsiteY15" fmla="*/ 327259 h 577515"/>
                <a:gd name="connsiteX16" fmla="*/ 115503 w 288758"/>
                <a:gd name="connsiteY16" fmla="*/ 96252 h 577515"/>
                <a:gd name="connsiteX17" fmla="*/ 125128 w 288758"/>
                <a:gd name="connsiteY17" fmla="*/ 67376 h 577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88758" h="577515">
                  <a:moveTo>
                    <a:pt x="134753" y="0"/>
                  </a:moveTo>
                  <a:cubicBezTo>
                    <a:pt x="179671" y="3208"/>
                    <a:pt x="225995" y="-1978"/>
                    <a:pt x="269507" y="9625"/>
                  </a:cubicBezTo>
                  <a:cubicBezTo>
                    <a:pt x="279310" y="12239"/>
                    <a:pt x="277142" y="28552"/>
                    <a:pt x="279132" y="38501"/>
                  </a:cubicBezTo>
                  <a:cubicBezTo>
                    <a:pt x="283581" y="60747"/>
                    <a:pt x="285549" y="83418"/>
                    <a:pt x="288758" y="105877"/>
                  </a:cubicBezTo>
                  <a:cubicBezTo>
                    <a:pt x="285549" y="186088"/>
                    <a:pt x="283988" y="266381"/>
                    <a:pt x="279132" y="346509"/>
                  </a:cubicBezTo>
                  <a:cubicBezTo>
                    <a:pt x="273971" y="431671"/>
                    <a:pt x="291802" y="416079"/>
                    <a:pt x="240631" y="433136"/>
                  </a:cubicBezTo>
                  <a:cubicBezTo>
                    <a:pt x="234214" y="442761"/>
                    <a:pt x="229561" y="453832"/>
                    <a:pt x="221381" y="462012"/>
                  </a:cubicBezTo>
                  <a:cubicBezTo>
                    <a:pt x="195337" y="488057"/>
                    <a:pt x="158228" y="490583"/>
                    <a:pt x="125128" y="500513"/>
                  </a:cubicBezTo>
                  <a:cubicBezTo>
                    <a:pt x="105692" y="506344"/>
                    <a:pt x="67377" y="519764"/>
                    <a:pt x="67377" y="519764"/>
                  </a:cubicBezTo>
                  <a:cubicBezTo>
                    <a:pt x="57752" y="529389"/>
                    <a:pt x="47215" y="538183"/>
                    <a:pt x="38501" y="548640"/>
                  </a:cubicBezTo>
                  <a:cubicBezTo>
                    <a:pt x="31095" y="557527"/>
                    <a:pt x="30818" y="577515"/>
                    <a:pt x="19250" y="577515"/>
                  </a:cubicBezTo>
                  <a:cubicBezTo>
                    <a:pt x="7682" y="577515"/>
                    <a:pt x="6417" y="558265"/>
                    <a:pt x="0" y="548640"/>
                  </a:cubicBezTo>
                  <a:lnTo>
                    <a:pt x="38501" y="490888"/>
                  </a:lnTo>
                  <a:lnTo>
                    <a:pt x="57751" y="462012"/>
                  </a:lnTo>
                  <a:cubicBezTo>
                    <a:pt x="61412" y="443710"/>
                    <a:pt x="67137" y="404740"/>
                    <a:pt x="77002" y="385010"/>
                  </a:cubicBezTo>
                  <a:cubicBezTo>
                    <a:pt x="114324" y="310364"/>
                    <a:pt x="81680" y="399847"/>
                    <a:pt x="105878" y="327259"/>
                  </a:cubicBezTo>
                  <a:cubicBezTo>
                    <a:pt x="109086" y="250257"/>
                    <a:pt x="109810" y="173111"/>
                    <a:pt x="115503" y="96252"/>
                  </a:cubicBezTo>
                  <a:cubicBezTo>
                    <a:pt x="116252" y="86134"/>
                    <a:pt x="125128" y="67376"/>
                    <a:pt x="125128" y="67376"/>
                  </a:cubicBezTo>
                </a:path>
              </a:pathLst>
            </a:cu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endParaRPr lang="en-US"/>
            </a:p>
          </p:txBody>
        </p:sp>
        <p:sp>
          <p:nvSpPr>
            <p:cNvPr id="111" name="Freeform 110"/>
            <p:cNvSpPr/>
            <p:nvPr/>
          </p:nvSpPr>
          <p:spPr bwMode="auto">
            <a:xfrm flipH="1">
              <a:off x="2917989" y="4246293"/>
              <a:ext cx="254454" cy="577515"/>
            </a:xfrm>
            <a:custGeom>
              <a:avLst/>
              <a:gdLst>
                <a:gd name="connsiteX0" fmla="*/ 134753 w 288758"/>
                <a:gd name="connsiteY0" fmla="*/ 0 h 577515"/>
                <a:gd name="connsiteX1" fmla="*/ 269507 w 288758"/>
                <a:gd name="connsiteY1" fmla="*/ 9625 h 577515"/>
                <a:gd name="connsiteX2" fmla="*/ 279132 w 288758"/>
                <a:gd name="connsiteY2" fmla="*/ 38501 h 577515"/>
                <a:gd name="connsiteX3" fmla="*/ 288758 w 288758"/>
                <a:gd name="connsiteY3" fmla="*/ 105877 h 577515"/>
                <a:gd name="connsiteX4" fmla="*/ 279132 w 288758"/>
                <a:gd name="connsiteY4" fmla="*/ 346509 h 577515"/>
                <a:gd name="connsiteX5" fmla="*/ 240631 w 288758"/>
                <a:gd name="connsiteY5" fmla="*/ 433136 h 577515"/>
                <a:gd name="connsiteX6" fmla="*/ 221381 w 288758"/>
                <a:gd name="connsiteY6" fmla="*/ 462012 h 577515"/>
                <a:gd name="connsiteX7" fmla="*/ 125128 w 288758"/>
                <a:gd name="connsiteY7" fmla="*/ 500513 h 577515"/>
                <a:gd name="connsiteX8" fmla="*/ 67377 w 288758"/>
                <a:gd name="connsiteY8" fmla="*/ 519764 h 577515"/>
                <a:gd name="connsiteX9" fmla="*/ 38501 w 288758"/>
                <a:gd name="connsiteY9" fmla="*/ 548640 h 577515"/>
                <a:gd name="connsiteX10" fmla="*/ 19250 w 288758"/>
                <a:gd name="connsiteY10" fmla="*/ 577515 h 577515"/>
                <a:gd name="connsiteX11" fmla="*/ 0 w 288758"/>
                <a:gd name="connsiteY11" fmla="*/ 548640 h 577515"/>
                <a:gd name="connsiteX12" fmla="*/ 38501 w 288758"/>
                <a:gd name="connsiteY12" fmla="*/ 490888 h 577515"/>
                <a:gd name="connsiteX13" fmla="*/ 57751 w 288758"/>
                <a:gd name="connsiteY13" fmla="*/ 462012 h 577515"/>
                <a:gd name="connsiteX14" fmla="*/ 77002 w 288758"/>
                <a:gd name="connsiteY14" fmla="*/ 385010 h 577515"/>
                <a:gd name="connsiteX15" fmla="*/ 105878 w 288758"/>
                <a:gd name="connsiteY15" fmla="*/ 327259 h 577515"/>
                <a:gd name="connsiteX16" fmla="*/ 115503 w 288758"/>
                <a:gd name="connsiteY16" fmla="*/ 96252 h 577515"/>
                <a:gd name="connsiteX17" fmla="*/ 125128 w 288758"/>
                <a:gd name="connsiteY17" fmla="*/ 67376 h 577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88758" h="577515">
                  <a:moveTo>
                    <a:pt x="134753" y="0"/>
                  </a:moveTo>
                  <a:cubicBezTo>
                    <a:pt x="179671" y="3208"/>
                    <a:pt x="225995" y="-1978"/>
                    <a:pt x="269507" y="9625"/>
                  </a:cubicBezTo>
                  <a:cubicBezTo>
                    <a:pt x="279310" y="12239"/>
                    <a:pt x="277142" y="28552"/>
                    <a:pt x="279132" y="38501"/>
                  </a:cubicBezTo>
                  <a:cubicBezTo>
                    <a:pt x="283581" y="60747"/>
                    <a:pt x="285549" y="83418"/>
                    <a:pt x="288758" y="105877"/>
                  </a:cubicBezTo>
                  <a:cubicBezTo>
                    <a:pt x="285549" y="186088"/>
                    <a:pt x="283988" y="266381"/>
                    <a:pt x="279132" y="346509"/>
                  </a:cubicBezTo>
                  <a:cubicBezTo>
                    <a:pt x="273971" y="431671"/>
                    <a:pt x="291802" y="416079"/>
                    <a:pt x="240631" y="433136"/>
                  </a:cubicBezTo>
                  <a:cubicBezTo>
                    <a:pt x="234214" y="442761"/>
                    <a:pt x="229561" y="453832"/>
                    <a:pt x="221381" y="462012"/>
                  </a:cubicBezTo>
                  <a:cubicBezTo>
                    <a:pt x="195337" y="488057"/>
                    <a:pt x="158228" y="490583"/>
                    <a:pt x="125128" y="500513"/>
                  </a:cubicBezTo>
                  <a:cubicBezTo>
                    <a:pt x="105692" y="506344"/>
                    <a:pt x="67377" y="519764"/>
                    <a:pt x="67377" y="519764"/>
                  </a:cubicBezTo>
                  <a:cubicBezTo>
                    <a:pt x="57752" y="529389"/>
                    <a:pt x="47215" y="538183"/>
                    <a:pt x="38501" y="548640"/>
                  </a:cubicBezTo>
                  <a:cubicBezTo>
                    <a:pt x="31095" y="557527"/>
                    <a:pt x="30818" y="577515"/>
                    <a:pt x="19250" y="577515"/>
                  </a:cubicBezTo>
                  <a:cubicBezTo>
                    <a:pt x="7682" y="577515"/>
                    <a:pt x="6417" y="558265"/>
                    <a:pt x="0" y="548640"/>
                  </a:cubicBezTo>
                  <a:lnTo>
                    <a:pt x="38501" y="490888"/>
                  </a:lnTo>
                  <a:lnTo>
                    <a:pt x="57751" y="462012"/>
                  </a:lnTo>
                  <a:cubicBezTo>
                    <a:pt x="61412" y="443710"/>
                    <a:pt x="67137" y="404740"/>
                    <a:pt x="77002" y="385010"/>
                  </a:cubicBezTo>
                  <a:cubicBezTo>
                    <a:pt x="114324" y="310364"/>
                    <a:pt x="81680" y="399847"/>
                    <a:pt x="105878" y="327259"/>
                  </a:cubicBezTo>
                  <a:cubicBezTo>
                    <a:pt x="109086" y="250257"/>
                    <a:pt x="109810" y="173111"/>
                    <a:pt x="115503" y="96252"/>
                  </a:cubicBezTo>
                  <a:cubicBezTo>
                    <a:pt x="116252" y="86134"/>
                    <a:pt x="125128" y="67376"/>
                    <a:pt x="125128" y="67376"/>
                  </a:cubicBezTo>
                </a:path>
              </a:pathLst>
            </a:cu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endParaRPr lang="en-US"/>
            </a:p>
          </p:txBody>
        </p:sp>
      </p:grpSp>
      <p:sp>
        <p:nvSpPr>
          <p:cNvPr id="112" name="Rectangle 111"/>
          <p:cNvSpPr/>
          <p:nvPr/>
        </p:nvSpPr>
        <p:spPr bwMode="auto">
          <a:xfrm>
            <a:off x="1793729" y="1881713"/>
            <a:ext cx="343337" cy="1989820"/>
          </a:xfrm>
          <a:prstGeom prst="rect">
            <a:avLst/>
          </a:prstGeom>
          <a:solidFill>
            <a:schemeClr val="bg2"/>
          </a:solidFill>
          <a:ln w="9525" cap="flat" cmpd="sng" algn="ctr">
            <a:solidFill>
              <a:schemeClr val="bg2"/>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13" name="Rectangle 112"/>
          <p:cNvSpPr/>
          <p:nvPr/>
        </p:nvSpPr>
        <p:spPr bwMode="auto">
          <a:xfrm>
            <a:off x="1901211" y="3871532"/>
            <a:ext cx="120709" cy="295252"/>
          </a:xfrm>
          <a:prstGeom prst="rect">
            <a:avLst/>
          </a:prstGeom>
          <a:solidFill>
            <a:schemeClr val="bg2"/>
          </a:solidFill>
          <a:ln w="9525" cap="flat" cmpd="sng" algn="ctr">
            <a:solidFill>
              <a:schemeClr val="bg2"/>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cxnSp>
        <p:nvCxnSpPr>
          <p:cNvPr id="114" name="Straight Connector 113"/>
          <p:cNvCxnSpPr>
            <a:endCxn id="112" idx="2"/>
          </p:cNvCxnSpPr>
          <p:nvPr/>
        </p:nvCxnSpPr>
        <p:spPr bwMode="auto">
          <a:xfrm flipH="1">
            <a:off x="1965398" y="3345610"/>
            <a:ext cx="190908" cy="525923"/>
          </a:xfrm>
          <a:prstGeom prst="line">
            <a:avLst/>
          </a:prstGeom>
          <a:solidFill>
            <a:schemeClr val="accent1"/>
          </a:solidFill>
          <a:ln w="285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15" name="Straight Connector 114"/>
          <p:cNvCxnSpPr/>
          <p:nvPr/>
        </p:nvCxnSpPr>
        <p:spPr bwMode="auto">
          <a:xfrm flipH="1">
            <a:off x="1849025" y="3244663"/>
            <a:ext cx="240124" cy="611337"/>
          </a:xfrm>
          <a:prstGeom prst="line">
            <a:avLst/>
          </a:prstGeom>
          <a:solidFill>
            <a:schemeClr val="accent1"/>
          </a:solidFill>
          <a:ln w="285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17" name="Straight Connector 116"/>
          <p:cNvCxnSpPr/>
          <p:nvPr/>
        </p:nvCxnSpPr>
        <p:spPr bwMode="auto">
          <a:xfrm flipH="1">
            <a:off x="2031984" y="3566482"/>
            <a:ext cx="133655" cy="389873"/>
          </a:xfrm>
          <a:prstGeom prst="line">
            <a:avLst/>
          </a:prstGeom>
          <a:solidFill>
            <a:schemeClr val="accent1"/>
          </a:solidFill>
          <a:ln w="285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18" name="Straight Connector 117"/>
          <p:cNvCxnSpPr/>
          <p:nvPr/>
        </p:nvCxnSpPr>
        <p:spPr bwMode="auto">
          <a:xfrm flipH="1">
            <a:off x="1764167" y="3229911"/>
            <a:ext cx="133655" cy="389873"/>
          </a:xfrm>
          <a:prstGeom prst="line">
            <a:avLst/>
          </a:prstGeom>
          <a:solidFill>
            <a:schemeClr val="accent1"/>
          </a:solidFill>
          <a:ln w="285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grpSp>
        <p:nvGrpSpPr>
          <p:cNvPr id="119" name="Group 118"/>
          <p:cNvGrpSpPr/>
          <p:nvPr/>
        </p:nvGrpSpPr>
        <p:grpSpPr>
          <a:xfrm>
            <a:off x="1571715" y="3888219"/>
            <a:ext cx="693923" cy="380750"/>
            <a:chOff x="5123750" y="5116722"/>
            <a:chExt cx="1079936" cy="680469"/>
          </a:xfrm>
        </p:grpSpPr>
        <p:grpSp>
          <p:nvGrpSpPr>
            <p:cNvPr id="120" name="Group 119"/>
            <p:cNvGrpSpPr/>
            <p:nvPr/>
          </p:nvGrpSpPr>
          <p:grpSpPr>
            <a:xfrm>
              <a:off x="5123750" y="5116722"/>
              <a:ext cx="1079936" cy="674951"/>
              <a:chOff x="1057873" y="3124402"/>
              <a:chExt cx="1211560" cy="329118"/>
            </a:xfrm>
          </p:grpSpPr>
          <p:sp>
            <p:nvSpPr>
              <p:cNvPr id="123" name="Rounded Rectangle 122"/>
              <p:cNvSpPr/>
              <p:nvPr/>
            </p:nvSpPr>
            <p:spPr bwMode="auto">
              <a:xfrm>
                <a:off x="1440047" y="3124402"/>
                <a:ext cx="129810" cy="327310"/>
              </a:xfrm>
              <a:prstGeom prst="roundRect">
                <a:avLst/>
              </a:prstGeom>
              <a:pattFill prst="ltDnDiag">
                <a:fgClr>
                  <a:srgbClr val="C00000"/>
                </a:fgClr>
                <a:bgClr>
                  <a:schemeClr val="bg1"/>
                </a:bgClr>
              </a:pattFill>
              <a:ln w="12700"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24" name="Rounded Rectangle 123"/>
              <p:cNvSpPr/>
              <p:nvPr/>
            </p:nvSpPr>
            <p:spPr bwMode="auto">
              <a:xfrm>
                <a:off x="1057873" y="3126210"/>
                <a:ext cx="129810" cy="327310"/>
              </a:xfrm>
              <a:prstGeom prst="roundRect">
                <a:avLst/>
              </a:prstGeom>
              <a:pattFill prst="ltUpDiag">
                <a:fgClr>
                  <a:srgbClr val="C00000"/>
                </a:fgClr>
                <a:bgClr>
                  <a:schemeClr val="bg1"/>
                </a:bgClr>
              </a:pattFill>
              <a:ln w="12700"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cxnSp>
            <p:nvCxnSpPr>
              <p:cNvPr id="125" name="Straight Connector 124"/>
              <p:cNvCxnSpPr/>
              <p:nvPr/>
            </p:nvCxnSpPr>
            <p:spPr bwMode="auto">
              <a:xfrm>
                <a:off x="1057873" y="3124402"/>
                <a:ext cx="1211560" cy="0"/>
              </a:xfrm>
              <a:prstGeom prst="line">
                <a:avLst/>
              </a:prstGeom>
              <a:solidFill>
                <a:schemeClr val="accent1"/>
              </a:solidFill>
              <a:ln w="9525" cap="flat" cmpd="sng" algn="ctr">
                <a:solidFill>
                  <a:srgbClr val="C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26" name="Rounded Rectangle 125"/>
              <p:cNvSpPr/>
              <p:nvPr/>
            </p:nvSpPr>
            <p:spPr bwMode="auto">
              <a:xfrm>
                <a:off x="2139623" y="3124402"/>
                <a:ext cx="129810" cy="327310"/>
              </a:xfrm>
              <a:prstGeom prst="roundRect">
                <a:avLst/>
              </a:prstGeom>
              <a:pattFill prst="ltDnDiag">
                <a:fgClr>
                  <a:srgbClr val="C00000"/>
                </a:fgClr>
                <a:bgClr>
                  <a:schemeClr val="bg1"/>
                </a:bgClr>
              </a:pattFill>
              <a:ln w="12700"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27" name="Rounded Rectangle 126"/>
              <p:cNvSpPr/>
              <p:nvPr/>
            </p:nvSpPr>
            <p:spPr bwMode="auto">
              <a:xfrm>
                <a:off x="1812210" y="3126210"/>
                <a:ext cx="129810" cy="327310"/>
              </a:xfrm>
              <a:prstGeom prst="roundRect">
                <a:avLst/>
              </a:prstGeom>
              <a:pattFill prst="ltUpDiag">
                <a:fgClr>
                  <a:srgbClr val="C00000"/>
                </a:fgClr>
                <a:bgClr>
                  <a:schemeClr val="bg1"/>
                </a:bgClr>
              </a:pattFill>
              <a:ln w="12700"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cxnSp>
            <p:nvCxnSpPr>
              <p:cNvPr id="128" name="Straight Connector 127"/>
              <p:cNvCxnSpPr/>
              <p:nvPr/>
            </p:nvCxnSpPr>
            <p:spPr bwMode="auto">
              <a:xfrm>
                <a:off x="1057873" y="3452404"/>
                <a:ext cx="1211560" cy="0"/>
              </a:xfrm>
              <a:prstGeom prst="line">
                <a:avLst/>
              </a:prstGeom>
              <a:solidFill>
                <a:schemeClr val="accent1"/>
              </a:solidFill>
              <a:ln w="9525" cap="flat" cmpd="sng" algn="ctr">
                <a:solidFill>
                  <a:srgbClr val="C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grpSp>
        <p:sp>
          <p:nvSpPr>
            <p:cNvPr id="121" name="Flowchart: Terminator 120"/>
            <p:cNvSpPr/>
            <p:nvPr/>
          </p:nvSpPr>
          <p:spPr bwMode="auto">
            <a:xfrm>
              <a:off x="5883760" y="5129785"/>
              <a:ext cx="204220" cy="655891"/>
            </a:xfrm>
            <a:prstGeom prst="flowChartTerminator">
              <a:avLst/>
            </a:prstGeom>
            <a:ln>
              <a:headEnd type="none" w="med" len="med"/>
              <a:tailEnd type="none" w="med" len="med"/>
            </a:ln>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22" name="Flowchart: Terminator 121"/>
            <p:cNvSpPr/>
            <p:nvPr/>
          </p:nvSpPr>
          <p:spPr bwMode="auto">
            <a:xfrm>
              <a:off x="5251261" y="5141300"/>
              <a:ext cx="204220" cy="655891"/>
            </a:xfrm>
            <a:prstGeom prst="flowChartTerminator">
              <a:avLst/>
            </a:prstGeom>
            <a:ln>
              <a:headEnd type="none" w="med" len="med"/>
              <a:tailEnd type="none" w="med" len="med"/>
            </a:ln>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grpSp>
      <p:sp>
        <p:nvSpPr>
          <p:cNvPr id="129" name="L-Shape 128"/>
          <p:cNvSpPr/>
          <p:nvPr/>
        </p:nvSpPr>
        <p:spPr bwMode="auto">
          <a:xfrm>
            <a:off x="1393661" y="3725331"/>
            <a:ext cx="1098765" cy="720278"/>
          </a:xfrm>
          <a:prstGeom prst="corner">
            <a:avLst/>
          </a:pr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30" name="L-Shape 129"/>
          <p:cNvSpPr/>
          <p:nvPr/>
        </p:nvSpPr>
        <p:spPr bwMode="auto">
          <a:xfrm flipH="1">
            <a:off x="2109605" y="3749302"/>
            <a:ext cx="374924" cy="696307"/>
          </a:xfrm>
          <a:prstGeom prst="corner">
            <a:avLst/>
          </a:pr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31" name="Rectangle 130"/>
          <p:cNvSpPr/>
          <p:nvPr/>
        </p:nvSpPr>
        <p:spPr bwMode="auto">
          <a:xfrm>
            <a:off x="1653649" y="4286398"/>
            <a:ext cx="537640" cy="148821"/>
          </a:xfrm>
          <a:prstGeom prst="rect">
            <a:avLst/>
          </a:prstGeom>
          <a:solidFill>
            <a:schemeClr val="accent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32" name="Freeform 131"/>
          <p:cNvSpPr/>
          <p:nvPr/>
        </p:nvSpPr>
        <p:spPr bwMode="auto">
          <a:xfrm>
            <a:off x="1323083" y="3306184"/>
            <a:ext cx="317645" cy="431658"/>
          </a:xfrm>
          <a:custGeom>
            <a:avLst/>
            <a:gdLst>
              <a:gd name="connsiteX0" fmla="*/ 9636 w 317645"/>
              <a:gd name="connsiteY0" fmla="*/ 163629 h 431658"/>
              <a:gd name="connsiteX1" fmla="*/ 11 w 317645"/>
              <a:gd name="connsiteY1" fmla="*/ 269507 h 431658"/>
              <a:gd name="connsiteX2" fmla="*/ 298394 w 317645"/>
              <a:gd name="connsiteY2" fmla="*/ 404261 h 431658"/>
              <a:gd name="connsiteX3" fmla="*/ 308019 w 317645"/>
              <a:gd name="connsiteY3" fmla="*/ 250256 h 431658"/>
              <a:gd name="connsiteX4" fmla="*/ 317645 w 317645"/>
              <a:gd name="connsiteY4" fmla="*/ 221381 h 431658"/>
              <a:gd name="connsiteX5" fmla="*/ 308019 w 317645"/>
              <a:gd name="connsiteY5" fmla="*/ 115503 h 431658"/>
              <a:gd name="connsiteX6" fmla="*/ 298394 w 317645"/>
              <a:gd name="connsiteY6" fmla="*/ 86627 h 431658"/>
              <a:gd name="connsiteX7" fmla="*/ 298394 w 317645"/>
              <a:gd name="connsiteY7" fmla="*/ 0 h 4316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7645" h="431658">
                <a:moveTo>
                  <a:pt x="9636" y="163629"/>
                </a:moveTo>
                <a:cubicBezTo>
                  <a:pt x="6428" y="198922"/>
                  <a:pt x="11" y="234069"/>
                  <a:pt x="11" y="269507"/>
                </a:cubicBezTo>
                <a:cubicBezTo>
                  <a:pt x="11" y="510513"/>
                  <a:pt x="-6562" y="414426"/>
                  <a:pt x="298394" y="404261"/>
                </a:cubicBezTo>
                <a:cubicBezTo>
                  <a:pt x="301602" y="352926"/>
                  <a:pt x="302634" y="301409"/>
                  <a:pt x="308019" y="250256"/>
                </a:cubicBezTo>
                <a:cubicBezTo>
                  <a:pt x="309081" y="240166"/>
                  <a:pt x="317645" y="231527"/>
                  <a:pt x="317645" y="221381"/>
                </a:cubicBezTo>
                <a:cubicBezTo>
                  <a:pt x="317645" y="185943"/>
                  <a:pt x="313031" y="150585"/>
                  <a:pt x="308019" y="115503"/>
                </a:cubicBezTo>
                <a:cubicBezTo>
                  <a:pt x="306584" y="105459"/>
                  <a:pt x="299237" y="96738"/>
                  <a:pt x="298394" y="86627"/>
                </a:cubicBezTo>
                <a:cubicBezTo>
                  <a:pt x="295996" y="57851"/>
                  <a:pt x="298394" y="28876"/>
                  <a:pt x="298394" y="0"/>
                </a:cubicBezTo>
              </a:path>
            </a:pathLst>
          </a:cu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endParaRPr lang="en-US"/>
          </a:p>
        </p:txBody>
      </p:sp>
      <p:sp>
        <p:nvSpPr>
          <p:cNvPr id="133" name="Freeform 132"/>
          <p:cNvSpPr/>
          <p:nvPr/>
        </p:nvSpPr>
        <p:spPr bwMode="auto">
          <a:xfrm>
            <a:off x="2279217" y="3306184"/>
            <a:ext cx="362450" cy="472492"/>
          </a:xfrm>
          <a:custGeom>
            <a:avLst/>
            <a:gdLst>
              <a:gd name="connsiteX0" fmla="*/ 16029 w 463429"/>
              <a:gd name="connsiteY0" fmla="*/ 385011 h 405116"/>
              <a:gd name="connsiteX1" fmla="*/ 314413 w 463429"/>
              <a:gd name="connsiteY1" fmla="*/ 385011 h 405116"/>
              <a:gd name="connsiteX2" fmla="*/ 343288 w 463429"/>
              <a:gd name="connsiteY2" fmla="*/ 375386 h 405116"/>
              <a:gd name="connsiteX3" fmla="*/ 429916 w 463429"/>
              <a:gd name="connsiteY3" fmla="*/ 327259 h 405116"/>
              <a:gd name="connsiteX4" fmla="*/ 449166 w 463429"/>
              <a:gd name="connsiteY4" fmla="*/ 298384 h 405116"/>
              <a:gd name="connsiteX5" fmla="*/ 449166 w 463429"/>
              <a:gd name="connsiteY5" fmla="*/ 125129 h 405116"/>
              <a:gd name="connsiteX6" fmla="*/ 391415 w 463429"/>
              <a:gd name="connsiteY6" fmla="*/ 105878 h 405116"/>
              <a:gd name="connsiteX7" fmla="*/ 362539 w 463429"/>
              <a:gd name="connsiteY7" fmla="*/ 86628 h 405116"/>
              <a:gd name="connsiteX8" fmla="*/ 295162 w 463429"/>
              <a:gd name="connsiteY8" fmla="*/ 77003 h 405116"/>
              <a:gd name="connsiteX9" fmla="*/ 237411 w 463429"/>
              <a:gd name="connsiteY9" fmla="*/ 57752 h 405116"/>
              <a:gd name="connsiteX10" fmla="*/ 131533 w 463429"/>
              <a:gd name="connsiteY10" fmla="*/ 0 h 405116"/>
              <a:gd name="connsiteX11" fmla="*/ 112282 w 463429"/>
              <a:gd name="connsiteY11" fmla="*/ 57752 h 405116"/>
              <a:gd name="connsiteX12" fmla="*/ 73781 w 463429"/>
              <a:gd name="connsiteY12" fmla="*/ 115504 h 405116"/>
              <a:gd name="connsiteX13" fmla="*/ 64156 w 463429"/>
              <a:gd name="connsiteY13" fmla="*/ 144379 h 405116"/>
              <a:gd name="connsiteX14" fmla="*/ 44905 w 463429"/>
              <a:gd name="connsiteY14" fmla="*/ 173255 h 405116"/>
              <a:gd name="connsiteX15" fmla="*/ 16029 w 463429"/>
              <a:gd name="connsiteY15" fmla="*/ 385011 h 405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3429" h="405116">
                <a:moveTo>
                  <a:pt x="16029" y="385011"/>
                </a:moveTo>
                <a:cubicBezTo>
                  <a:pt x="60947" y="420304"/>
                  <a:pt x="180289" y="401776"/>
                  <a:pt x="314413" y="385011"/>
                </a:cubicBezTo>
                <a:cubicBezTo>
                  <a:pt x="324480" y="383753"/>
                  <a:pt x="333663" y="378594"/>
                  <a:pt x="343288" y="375386"/>
                </a:cubicBezTo>
                <a:cubicBezTo>
                  <a:pt x="409482" y="331257"/>
                  <a:pt x="379091" y="344202"/>
                  <a:pt x="429916" y="327259"/>
                </a:cubicBezTo>
                <a:cubicBezTo>
                  <a:pt x="436333" y="317634"/>
                  <a:pt x="443993" y="308731"/>
                  <a:pt x="449166" y="298384"/>
                </a:cubicBezTo>
                <a:cubicBezTo>
                  <a:pt x="473512" y="249693"/>
                  <a:pt x="462003" y="156305"/>
                  <a:pt x="449166" y="125129"/>
                </a:cubicBezTo>
                <a:cubicBezTo>
                  <a:pt x="441440" y="106366"/>
                  <a:pt x="408299" y="117134"/>
                  <a:pt x="391415" y="105878"/>
                </a:cubicBezTo>
                <a:cubicBezTo>
                  <a:pt x="381790" y="99461"/>
                  <a:pt x="373619" y="89952"/>
                  <a:pt x="362539" y="86628"/>
                </a:cubicBezTo>
                <a:cubicBezTo>
                  <a:pt x="340809" y="80109"/>
                  <a:pt x="317621" y="80211"/>
                  <a:pt x="295162" y="77003"/>
                </a:cubicBezTo>
                <a:cubicBezTo>
                  <a:pt x="275912" y="70586"/>
                  <a:pt x="255560" y="66827"/>
                  <a:pt x="237411" y="57752"/>
                </a:cubicBezTo>
                <a:cubicBezTo>
                  <a:pt x="150061" y="14078"/>
                  <a:pt x="184285" y="35170"/>
                  <a:pt x="131533" y="0"/>
                </a:cubicBezTo>
                <a:lnTo>
                  <a:pt x="112282" y="57752"/>
                </a:lnTo>
                <a:cubicBezTo>
                  <a:pt x="104966" y="79701"/>
                  <a:pt x="73781" y="115504"/>
                  <a:pt x="73781" y="115504"/>
                </a:cubicBezTo>
                <a:cubicBezTo>
                  <a:pt x="70573" y="125129"/>
                  <a:pt x="68693" y="135304"/>
                  <a:pt x="64156" y="144379"/>
                </a:cubicBezTo>
                <a:cubicBezTo>
                  <a:pt x="58982" y="154726"/>
                  <a:pt x="46915" y="161863"/>
                  <a:pt x="44905" y="173255"/>
                </a:cubicBezTo>
                <a:cubicBezTo>
                  <a:pt x="33680" y="236864"/>
                  <a:pt x="-28889" y="349718"/>
                  <a:pt x="16029" y="385011"/>
                </a:cubicBezTo>
                <a:close/>
              </a:path>
            </a:pathLst>
          </a:cu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34" name="Flowchart: Magnetic Disk 133"/>
          <p:cNvSpPr/>
          <p:nvPr/>
        </p:nvSpPr>
        <p:spPr bwMode="auto">
          <a:xfrm>
            <a:off x="1502249" y="2427946"/>
            <a:ext cx="951788" cy="158291"/>
          </a:xfrm>
          <a:prstGeom prst="flowChartMagneticDisk">
            <a:avLst/>
          </a:prstGeom>
          <a:solidFill>
            <a:srgbClr val="0000FF"/>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dirty="0">
              <a:ln>
                <a:noFill/>
              </a:ln>
              <a:solidFill>
                <a:schemeClr val="tx1"/>
              </a:solidFill>
              <a:effectLst/>
              <a:highlight>
                <a:srgbClr val="FFFF00"/>
              </a:highlight>
              <a:latin typeface="Times New Roman" pitchFamily="18" charset="0"/>
              <a:ea typeface="ＭＳ Ｐゴシック" charset="-128"/>
            </a:endParaRPr>
          </a:p>
        </p:txBody>
      </p:sp>
      <p:grpSp>
        <p:nvGrpSpPr>
          <p:cNvPr id="161" name="Group 160"/>
          <p:cNvGrpSpPr/>
          <p:nvPr/>
        </p:nvGrpSpPr>
        <p:grpSpPr>
          <a:xfrm>
            <a:off x="2893295" y="2397607"/>
            <a:ext cx="504056" cy="832741"/>
            <a:chOff x="1289743" y="1331264"/>
            <a:chExt cx="504056" cy="1078414"/>
          </a:xfrm>
        </p:grpSpPr>
        <p:sp>
          <p:nvSpPr>
            <p:cNvPr id="162" name="Can 161"/>
            <p:cNvSpPr/>
            <p:nvPr/>
          </p:nvSpPr>
          <p:spPr bwMode="auto">
            <a:xfrm>
              <a:off x="1289743" y="1338572"/>
              <a:ext cx="504056" cy="1071106"/>
            </a:xfrm>
            <a:prstGeom prst="can">
              <a:avLst/>
            </a:prstGeom>
            <a:pattFill prst="openDmnd">
              <a:fgClr>
                <a:schemeClr val="tx1"/>
              </a:fgClr>
              <a:bgClr>
                <a:schemeClr val="bg1"/>
              </a:bgClr>
            </a:patt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grpSp>
          <p:nvGrpSpPr>
            <p:cNvPr id="163" name="Group 162"/>
            <p:cNvGrpSpPr/>
            <p:nvPr/>
          </p:nvGrpSpPr>
          <p:grpSpPr>
            <a:xfrm>
              <a:off x="1397755" y="1331264"/>
              <a:ext cx="288032" cy="1071106"/>
              <a:chOff x="3851920" y="2553266"/>
              <a:chExt cx="288032" cy="1071106"/>
            </a:xfrm>
          </p:grpSpPr>
          <p:sp>
            <p:nvSpPr>
              <p:cNvPr id="164" name="Can 163"/>
              <p:cNvSpPr/>
              <p:nvPr/>
            </p:nvSpPr>
            <p:spPr bwMode="auto">
              <a:xfrm>
                <a:off x="3851920" y="2553266"/>
                <a:ext cx="288032" cy="1071106"/>
              </a:xfrm>
              <a:prstGeom prst="can">
                <a:avLst/>
              </a:prstGeom>
              <a:solidFill>
                <a:schemeClr val="bg2"/>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dirty="0">
                  <a:ln>
                    <a:noFill/>
                  </a:ln>
                  <a:solidFill>
                    <a:schemeClr val="tx1"/>
                  </a:solidFill>
                  <a:effectLst/>
                  <a:latin typeface="Times New Roman" pitchFamily="18" charset="0"/>
                  <a:ea typeface="ＭＳ Ｐゴシック" charset="-128"/>
                </a:endParaRPr>
              </a:p>
            </p:txBody>
          </p:sp>
          <p:sp>
            <p:nvSpPr>
              <p:cNvPr id="165" name="Round Diagonal Corner Rectangle 164"/>
              <p:cNvSpPr/>
              <p:nvPr/>
            </p:nvSpPr>
            <p:spPr bwMode="auto">
              <a:xfrm>
                <a:off x="3853691" y="2565950"/>
                <a:ext cx="151870" cy="96690"/>
              </a:xfrm>
              <a:prstGeom prst="round2DiagRect">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grpSp>
      </p:grpSp>
      <p:sp>
        <p:nvSpPr>
          <p:cNvPr id="166" name="Flowchart: Manual Operation 165"/>
          <p:cNvSpPr/>
          <p:nvPr/>
        </p:nvSpPr>
        <p:spPr bwMode="auto">
          <a:xfrm rot="10800000">
            <a:off x="1784210" y="1772816"/>
            <a:ext cx="341468" cy="108896"/>
          </a:xfrm>
          <a:prstGeom prst="flowChartManualOperation">
            <a:avLst/>
          </a:prstGeom>
          <a:solidFill>
            <a:schemeClr val="bg2"/>
          </a:solidFill>
          <a:ln w="9525" cap="flat" cmpd="sng" algn="ctr">
            <a:solidFill>
              <a:schemeClr val="bg2"/>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endParaRPr lang="en-US"/>
          </a:p>
        </p:txBody>
      </p:sp>
      <p:sp>
        <p:nvSpPr>
          <p:cNvPr id="167" name="TextBox 166"/>
          <p:cNvSpPr txBox="1"/>
          <p:nvPr/>
        </p:nvSpPr>
        <p:spPr>
          <a:xfrm>
            <a:off x="2671856" y="3285142"/>
            <a:ext cx="1368152" cy="415498"/>
          </a:xfrm>
          <a:prstGeom prst="rect">
            <a:avLst/>
          </a:prstGeom>
          <a:noFill/>
        </p:spPr>
        <p:txBody>
          <a:bodyPr wrap="square" rtlCol="0">
            <a:spAutoFit/>
          </a:bodyPr>
          <a:lstStyle/>
          <a:p>
            <a:r>
              <a:rPr lang="en-US" sz="1050" dirty="0"/>
              <a:t>C-Ring Position checking Gauge</a:t>
            </a:r>
          </a:p>
        </p:txBody>
      </p:sp>
      <p:cxnSp>
        <p:nvCxnSpPr>
          <p:cNvPr id="168" name="Straight Arrow Connector 167"/>
          <p:cNvCxnSpPr/>
          <p:nvPr/>
        </p:nvCxnSpPr>
        <p:spPr bwMode="auto">
          <a:xfrm>
            <a:off x="1048763" y="3130369"/>
            <a:ext cx="274320" cy="0"/>
          </a:xfrm>
          <a:prstGeom prst="straightConnector1">
            <a:avLst/>
          </a:prstGeom>
          <a:solidFill>
            <a:schemeClr val="accent1"/>
          </a:solidFill>
          <a:ln w="9525" cap="flat" cmpd="sng" algn="ctr">
            <a:solidFill>
              <a:srgbClr val="00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69" name="TextBox 168"/>
          <p:cNvSpPr txBox="1"/>
          <p:nvPr/>
        </p:nvSpPr>
        <p:spPr>
          <a:xfrm>
            <a:off x="378723" y="2989358"/>
            <a:ext cx="720080" cy="430887"/>
          </a:xfrm>
          <a:prstGeom prst="rect">
            <a:avLst/>
          </a:prstGeom>
          <a:noFill/>
        </p:spPr>
        <p:txBody>
          <a:bodyPr wrap="square" rtlCol="0">
            <a:spAutoFit/>
          </a:bodyPr>
          <a:lstStyle/>
          <a:p>
            <a:r>
              <a:rPr lang="en-US" sz="1100" b="0" dirty="0"/>
              <a:t>Outer Tube </a:t>
            </a:r>
          </a:p>
        </p:txBody>
      </p:sp>
      <p:cxnSp>
        <p:nvCxnSpPr>
          <p:cNvPr id="172" name="Straight Arrow Connector 171"/>
          <p:cNvCxnSpPr/>
          <p:nvPr/>
        </p:nvCxnSpPr>
        <p:spPr bwMode="auto">
          <a:xfrm>
            <a:off x="1048763" y="2725022"/>
            <a:ext cx="469448" cy="0"/>
          </a:xfrm>
          <a:prstGeom prst="straightConnector1">
            <a:avLst/>
          </a:prstGeom>
          <a:solidFill>
            <a:schemeClr val="accent1"/>
          </a:solidFill>
          <a:ln w="9525" cap="flat" cmpd="sng" algn="ctr">
            <a:solidFill>
              <a:srgbClr val="00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73" name="TextBox 172"/>
          <p:cNvSpPr txBox="1"/>
          <p:nvPr/>
        </p:nvSpPr>
        <p:spPr>
          <a:xfrm>
            <a:off x="395536" y="2568129"/>
            <a:ext cx="720080" cy="430887"/>
          </a:xfrm>
          <a:prstGeom prst="rect">
            <a:avLst/>
          </a:prstGeom>
          <a:noFill/>
        </p:spPr>
        <p:txBody>
          <a:bodyPr wrap="square" rtlCol="0">
            <a:spAutoFit/>
          </a:bodyPr>
          <a:lstStyle/>
          <a:p>
            <a:r>
              <a:rPr lang="en-US" sz="1100" b="0" dirty="0"/>
              <a:t>Ball Bearing</a:t>
            </a:r>
          </a:p>
        </p:txBody>
      </p:sp>
      <p:cxnSp>
        <p:nvCxnSpPr>
          <p:cNvPr id="174" name="Straight Arrow Connector 173"/>
          <p:cNvCxnSpPr/>
          <p:nvPr/>
        </p:nvCxnSpPr>
        <p:spPr bwMode="auto">
          <a:xfrm>
            <a:off x="1048763" y="2430020"/>
            <a:ext cx="536301" cy="0"/>
          </a:xfrm>
          <a:prstGeom prst="straightConnector1">
            <a:avLst/>
          </a:prstGeom>
          <a:solidFill>
            <a:schemeClr val="accent1"/>
          </a:solidFill>
          <a:ln w="9525" cap="flat" cmpd="sng" algn="ctr">
            <a:solidFill>
              <a:srgbClr val="00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75" name="TextBox 174"/>
          <p:cNvSpPr txBox="1"/>
          <p:nvPr/>
        </p:nvSpPr>
        <p:spPr>
          <a:xfrm>
            <a:off x="416176" y="2284453"/>
            <a:ext cx="720080" cy="261610"/>
          </a:xfrm>
          <a:prstGeom prst="rect">
            <a:avLst/>
          </a:prstGeom>
          <a:noFill/>
        </p:spPr>
        <p:txBody>
          <a:bodyPr wrap="square" rtlCol="0">
            <a:spAutoFit/>
          </a:bodyPr>
          <a:lstStyle/>
          <a:p>
            <a:r>
              <a:rPr lang="en-US" sz="1100" b="0" dirty="0"/>
              <a:t>C-Ring</a:t>
            </a:r>
          </a:p>
        </p:txBody>
      </p:sp>
      <p:cxnSp>
        <p:nvCxnSpPr>
          <p:cNvPr id="176" name="Straight Arrow Connector 175"/>
          <p:cNvCxnSpPr/>
          <p:nvPr/>
        </p:nvCxnSpPr>
        <p:spPr bwMode="auto">
          <a:xfrm>
            <a:off x="1085816" y="1994564"/>
            <a:ext cx="791223" cy="0"/>
          </a:xfrm>
          <a:prstGeom prst="straightConnector1">
            <a:avLst/>
          </a:prstGeom>
          <a:solidFill>
            <a:schemeClr val="accent1"/>
          </a:solidFill>
          <a:ln w="9525" cap="flat" cmpd="sng" algn="ctr">
            <a:solidFill>
              <a:srgbClr val="00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77" name="TextBox 176"/>
          <p:cNvSpPr txBox="1"/>
          <p:nvPr/>
        </p:nvSpPr>
        <p:spPr>
          <a:xfrm>
            <a:off x="250181" y="1863759"/>
            <a:ext cx="880251" cy="261610"/>
          </a:xfrm>
          <a:prstGeom prst="rect">
            <a:avLst/>
          </a:prstGeom>
          <a:noFill/>
        </p:spPr>
        <p:txBody>
          <a:bodyPr wrap="square" rtlCol="0">
            <a:spAutoFit/>
          </a:bodyPr>
          <a:lstStyle/>
          <a:p>
            <a:r>
              <a:rPr lang="en-US" sz="1100" b="0" dirty="0"/>
              <a:t>Upper Shaft</a:t>
            </a:r>
          </a:p>
        </p:txBody>
      </p:sp>
      <p:cxnSp>
        <p:nvCxnSpPr>
          <p:cNvPr id="178" name="Straight Connector 177"/>
          <p:cNvCxnSpPr/>
          <p:nvPr/>
        </p:nvCxnSpPr>
        <p:spPr bwMode="auto">
          <a:xfrm flipH="1">
            <a:off x="1815171" y="3213225"/>
            <a:ext cx="194725" cy="482832"/>
          </a:xfrm>
          <a:prstGeom prst="line">
            <a:avLst/>
          </a:prstGeom>
          <a:solidFill>
            <a:schemeClr val="accent1"/>
          </a:solidFill>
          <a:ln w="285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80" name="Text Box 5"/>
          <p:cNvSpPr txBox="1">
            <a:spLocks noChangeArrowheads="1"/>
          </p:cNvSpPr>
          <p:nvPr/>
        </p:nvSpPr>
        <p:spPr bwMode="auto">
          <a:xfrm>
            <a:off x="31692" y="188640"/>
            <a:ext cx="7237510" cy="424651"/>
          </a:xfrm>
          <a:prstGeom prst="rect">
            <a:avLst/>
          </a:prstGeom>
          <a:noFill/>
          <a:ln w="9525">
            <a:noFill/>
            <a:miter lim="800000"/>
            <a:headEnd/>
            <a:tailEnd/>
          </a:ln>
        </p:spPr>
        <p:txBody>
          <a:bodyPr wrap="square" lIns="91357" tIns="45680" rIns="91357" bIns="45680">
            <a:spAutoFit/>
          </a:bodyPr>
          <a:lstStyle>
            <a:defPPr>
              <a:defRPr lang="ja-JP"/>
            </a:defPPr>
            <a:lvl1pPr algn="l">
              <a:lnSpc>
                <a:spcPct val="90000"/>
              </a:lnSpc>
              <a:spcBef>
                <a:spcPct val="20000"/>
              </a:spcBef>
              <a:defRPr sz="2400" b="0" i="1">
                <a:latin typeface="Calibri" panose="020F0502020204030204" pitchFamily="34" charset="0"/>
              </a:defRPr>
            </a:lvl1pPr>
          </a:lstStyle>
          <a:p>
            <a:r>
              <a:rPr lang="en-US" dirty="0"/>
              <a:t>Illustration of Gauge Inspection : Right &amp; Wrong method</a:t>
            </a:r>
          </a:p>
        </p:txBody>
      </p:sp>
      <p:sp>
        <p:nvSpPr>
          <p:cNvPr id="184" name="TextBox 183"/>
          <p:cNvSpPr txBox="1"/>
          <p:nvPr/>
        </p:nvSpPr>
        <p:spPr>
          <a:xfrm>
            <a:off x="392835" y="1185054"/>
            <a:ext cx="1448474" cy="430887"/>
          </a:xfrm>
          <a:prstGeom prst="rect">
            <a:avLst/>
          </a:prstGeom>
          <a:noFill/>
        </p:spPr>
        <p:txBody>
          <a:bodyPr wrap="square" rtlCol="0">
            <a:spAutoFit/>
          </a:bodyPr>
          <a:lstStyle/>
          <a:p>
            <a:pPr algn="l"/>
            <a:r>
              <a:rPr lang="en-US" sz="1100" b="0" dirty="0"/>
              <a:t>Gauge Inspection</a:t>
            </a:r>
          </a:p>
          <a:p>
            <a:pPr algn="l"/>
            <a:r>
              <a:rPr lang="en-US" sz="1100" b="0" dirty="0"/>
              <a:t>[ Judgement by Man ]</a:t>
            </a:r>
          </a:p>
        </p:txBody>
      </p:sp>
      <p:sp>
        <p:nvSpPr>
          <p:cNvPr id="5" name="Rectangle 4">
            <a:extLst>
              <a:ext uri="{FF2B5EF4-FFF2-40B4-BE49-F238E27FC236}">
                <a16:creationId xmlns:a16="http://schemas.microsoft.com/office/drawing/2014/main" id="{BA0E612E-3D1D-4EB8-BA5A-DCD648BE392D}"/>
              </a:ext>
            </a:extLst>
          </p:cNvPr>
          <p:cNvSpPr/>
          <p:nvPr/>
        </p:nvSpPr>
        <p:spPr bwMode="auto">
          <a:xfrm>
            <a:off x="1835696" y="2479526"/>
            <a:ext cx="183275" cy="76874"/>
          </a:xfrm>
          <a:prstGeom prst="rect">
            <a:avLst/>
          </a:pr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pic>
        <p:nvPicPr>
          <p:cNvPr id="185" name="Picture 184">
            <a:extLst>
              <a:ext uri="{FF2B5EF4-FFF2-40B4-BE49-F238E27FC236}">
                <a16:creationId xmlns:a16="http://schemas.microsoft.com/office/drawing/2014/main" id="{C3A6B4E7-4827-43E7-8F44-E2B5D4D11136}"/>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5277" t="5659" r="22481"/>
          <a:stretch/>
        </p:blipFill>
        <p:spPr>
          <a:xfrm rot="5400000">
            <a:off x="3647048" y="3862036"/>
            <a:ext cx="1097261" cy="806014"/>
          </a:xfrm>
          <a:prstGeom prst="rect">
            <a:avLst/>
          </a:prstGeom>
        </p:spPr>
      </p:pic>
      <p:pic>
        <p:nvPicPr>
          <p:cNvPr id="186" name="Picture 185">
            <a:extLst>
              <a:ext uri="{FF2B5EF4-FFF2-40B4-BE49-F238E27FC236}">
                <a16:creationId xmlns:a16="http://schemas.microsoft.com/office/drawing/2014/main" id="{8CB8501B-800B-4595-84D5-276E5B0A3D4A}"/>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l="2907" t="8333" r="8719" b="4167"/>
          <a:stretch/>
        </p:blipFill>
        <p:spPr>
          <a:xfrm>
            <a:off x="3798715" y="1206054"/>
            <a:ext cx="818423" cy="1130474"/>
          </a:xfrm>
          <a:prstGeom prst="rect">
            <a:avLst/>
          </a:prstGeom>
        </p:spPr>
      </p:pic>
      <p:sp>
        <p:nvSpPr>
          <p:cNvPr id="187" name="TextBox 186">
            <a:extLst>
              <a:ext uri="{FF2B5EF4-FFF2-40B4-BE49-F238E27FC236}">
                <a16:creationId xmlns:a16="http://schemas.microsoft.com/office/drawing/2014/main" id="{4EB1C55A-B128-4027-8A07-6C3D417E8226}"/>
              </a:ext>
            </a:extLst>
          </p:cNvPr>
          <p:cNvSpPr txBox="1"/>
          <p:nvPr/>
        </p:nvSpPr>
        <p:spPr>
          <a:xfrm>
            <a:off x="3533020" y="2278410"/>
            <a:ext cx="1368152" cy="253916"/>
          </a:xfrm>
          <a:prstGeom prst="rect">
            <a:avLst/>
          </a:prstGeom>
          <a:noFill/>
        </p:spPr>
        <p:txBody>
          <a:bodyPr wrap="square" rtlCol="0">
            <a:spAutoFit/>
          </a:bodyPr>
          <a:lstStyle/>
          <a:p>
            <a:r>
              <a:rPr lang="en-US" sz="1050" dirty="0"/>
              <a:t>C-Ring Gauge</a:t>
            </a:r>
          </a:p>
        </p:txBody>
      </p:sp>
      <p:sp>
        <p:nvSpPr>
          <p:cNvPr id="188" name="TextBox 187">
            <a:extLst>
              <a:ext uri="{FF2B5EF4-FFF2-40B4-BE49-F238E27FC236}">
                <a16:creationId xmlns:a16="http://schemas.microsoft.com/office/drawing/2014/main" id="{B9B2B962-14E7-4E6D-8E65-95210A20BE8C}"/>
              </a:ext>
            </a:extLst>
          </p:cNvPr>
          <p:cNvSpPr txBox="1"/>
          <p:nvPr/>
        </p:nvSpPr>
        <p:spPr>
          <a:xfrm>
            <a:off x="3498958" y="4786249"/>
            <a:ext cx="1368152" cy="253916"/>
          </a:xfrm>
          <a:prstGeom prst="rect">
            <a:avLst/>
          </a:prstGeom>
          <a:noFill/>
        </p:spPr>
        <p:txBody>
          <a:bodyPr wrap="square" rtlCol="0">
            <a:spAutoFit/>
          </a:bodyPr>
          <a:lstStyle/>
          <a:p>
            <a:r>
              <a:rPr lang="en-US" sz="1050" dirty="0"/>
              <a:t>Column Assy.</a:t>
            </a:r>
          </a:p>
        </p:txBody>
      </p:sp>
      <p:sp>
        <p:nvSpPr>
          <p:cNvPr id="190" name="Rectangle 189">
            <a:extLst>
              <a:ext uri="{FF2B5EF4-FFF2-40B4-BE49-F238E27FC236}">
                <a16:creationId xmlns:a16="http://schemas.microsoft.com/office/drawing/2014/main" id="{F95ED644-BC06-40FD-B3B3-4B3895F19D6F}"/>
              </a:ext>
            </a:extLst>
          </p:cNvPr>
          <p:cNvSpPr/>
          <p:nvPr/>
        </p:nvSpPr>
        <p:spPr bwMode="auto">
          <a:xfrm>
            <a:off x="4778722" y="1169581"/>
            <a:ext cx="4473798" cy="3836680"/>
          </a:xfrm>
          <a:prstGeom prst="rect">
            <a:avLst/>
          </a:prstGeom>
          <a:noFill/>
          <a:ln w="19050" cap="flat" cmpd="sng" algn="ctr">
            <a:solidFill>
              <a:srgbClr val="FFCCFF"/>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91" name="Can 95">
            <a:extLst>
              <a:ext uri="{FF2B5EF4-FFF2-40B4-BE49-F238E27FC236}">
                <a16:creationId xmlns:a16="http://schemas.microsoft.com/office/drawing/2014/main" id="{640EA051-3B1F-4FB8-BE76-A535E6864648}"/>
              </a:ext>
            </a:extLst>
          </p:cNvPr>
          <p:cNvSpPr/>
          <p:nvPr/>
        </p:nvSpPr>
        <p:spPr bwMode="auto">
          <a:xfrm rot="10800000">
            <a:off x="6444932" y="1241589"/>
            <a:ext cx="220244" cy="548640"/>
          </a:xfrm>
          <a:prstGeom prst="can">
            <a:avLst/>
          </a:prstGeom>
          <a:pattFill prst="ltVert">
            <a:fgClr>
              <a:schemeClr val="bg1"/>
            </a:fgClr>
            <a:bgClr>
              <a:schemeClr val="bg2"/>
            </a:bgClr>
          </a:patt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grpSp>
        <p:nvGrpSpPr>
          <p:cNvPr id="192" name="Group 191">
            <a:extLst>
              <a:ext uri="{FF2B5EF4-FFF2-40B4-BE49-F238E27FC236}">
                <a16:creationId xmlns:a16="http://schemas.microsoft.com/office/drawing/2014/main" id="{60184C88-425D-420A-90B3-9231825D92B7}"/>
              </a:ext>
            </a:extLst>
          </p:cNvPr>
          <p:cNvGrpSpPr/>
          <p:nvPr/>
        </p:nvGrpSpPr>
        <p:grpSpPr>
          <a:xfrm>
            <a:off x="6064441" y="2553835"/>
            <a:ext cx="993847" cy="297898"/>
            <a:chOff x="1057873" y="3124402"/>
            <a:chExt cx="1211560" cy="329118"/>
          </a:xfrm>
        </p:grpSpPr>
        <p:sp>
          <p:nvSpPr>
            <p:cNvPr id="193" name="Rounded Rectangle 97">
              <a:extLst>
                <a:ext uri="{FF2B5EF4-FFF2-40B4-BE49-F238E27FC236}">
                  <a16:creationId xmlns:a16="http://schemas.microsoft.com/office/drawing/2014/main" id="{19073F1E-5E70-4833-A55F-94D2EB0DAF4F}"/>
                </a:ext>
              </a:extLst>
            </p:cNvPr>
            <p:cNvSpPr/>
            <p:nvPr/>
          </p:nvSpPr>
          <p:spPr bwMode="auto">
            <a:xfrm>
              <a:off x="1293689" y="3124402"/>
              <a:ext cx="129810" cy="327310"/>
            </a:xfrm>
            <a:prstGeom prst="roundRect">
              <a:avLst/>
            </a:prstGeom>
            <a:pattFill prst="ltDnDiag">
              <a:fgClr>
                <a:srgbClr val="C00000"/>
              </a:fgClr>
              <a:bgClr>
                <a:schemeClr val="bg1"/>
              </a:bgClr>
            </a:pattFill>
            <a:ln w="12700"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94" name="Rounded Rectangle 98">
              <a:extLst>
                <a:ext uri="{FF2B5EF4-FFF2-40B4-BE49-F238E27FC236}">
                  <a16:creationId xmlns:a16="http://schemas.microsoft.com/office/drawing/2014/main" id="{8A907C34-C733-491A-B372-A58AAF167279}"/>
                </a:ext>
              </a:extLst>
            </p:cNvPr>
            <p:cNvSpPr/>
            <p:nvPr/>
          </p:nvSpPr>
          <p:spPr bwMode="auto">
            <a:xfrm>
              <a:off x="1057873" y="3126210"/>
              <a:ext cx="129810" cy="327310"/>
            </a:xfrm>
            <a:prstGeom prst="roundRect">
              <a:avLst/>
            </a:prstGeom>
            <a:pattFill prst="ltUpDiag">
              <a:fgClr>
                <a:srgbClr val="C00000"/>
              </a:fgClr>
              <a:bgClr>
                <a:schemeClr val="bg1"/>
              </a:bgClr>
            </a:pattFill>
            <a:ln w="12700"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95" name="Oval 194">
              <a:extLst>
                <a:ext uri="{FF2B5EF4-FFF2-40B4-BE49-F238E27FC236}">
                  <a16:creationId xmlns:a16="http://schemas.microsoft.com/office/drawing/2014/main" id="{4A1EE806-099C-44E5-85AB-386E6B4A6DE7}"/>
                </a:ext>
              </a:extLst>
            </p:cNvPr>
            <p:cNvSpPr/>
            <p:nvPr/>
          </p:nvSpPr>
          <p:spPr bwMode="auto">
            <a:xfrm>
              <a:off x="1154146" y="3208037"/>
              <a:ext cx="173080" cy="163655"/>
            </a:xfrm>
            <a:prstGeom prst="ellipse">
              <a:avLst/>
            </a:prstGeom>
            <a:solidFill>
              <a:schemeClr val="bg1"/>
            </a:solidFill>
            <a:ln w="12700" cap="flat" cmpd="sng" algn="ctr">
              <a:solidFill>
                <a:srgbClr val="C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cxnSp>
          <p:nvCxnSpPr>
            <p:cNvPr id="196" name="Straight Connector 195">
              <a:extLst>
                <a:ext uri="{FF2B5EF4-FFF2-40B4-BE49-F238E27FC236}">
                  <a16:creationId xmlns:a16="http://schemas.microsoft.com/office/drawing/2014/main" id="{2F5C89D9-DF7F-4A13-A0F2-7939FA5B5529}"/>
                </a:ext>
              </a:extLst>
            </p:cNvPr>
            <p:cNvCxnSpPr/>
            <p:nvPr/>
          </p:nvCxnSpPr>
          <p:spPr bwMode="auto">
            <a:xfrm>
              <a:off x="1057873" y="3124402"/>
              <a:ext cx="1211560" cy="0"/>
            </a:xfrm>
            <a:prstGeom prst="line">
              <a:avLst/>
            </a:prstGeom>
            <a:solidFill>
              <a:schemeClr val="accent1"/>
            </a:solidFill>
            <a:ln w="9525" cap="flat" cmpd="sng" algn="ctr">
              <a:solidFill>
                <a:srgbClr val="C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97" name="Rounded Rectangle 101">
              <a:extLst>
                <a:ext uri="{FF2B5EF4-FFF2-40B4-BE49-F238E27FC236}">
                  <a16:creationId xmlns:a16="http://schemas.microsoft.com/office/drawing/2014/main" id="{B22857A5-0D0D-45B2-82D1-AC035E1AC10C}"/>
                </a:ext>
              </a:extLst>
            </p:cNvPr>
            <p:cNvSpPr/>
            <p:nvPr/>
          </p:nvSpPr>
          <p:spPr bwMode="auto">
            <a:xfrm>
              <a:off x="2139623" y="3124402"/>
              <a:ext cx="129810" cy="327310"/>
            </a:xfrm>
            <a:prstGeom prst="roundRect">
              <a:avLst/>
            </a:prstGeom>
            <a:pattFill prst="ltDnDiag">
              <a:fgClr>
                <a:srgbClr val="C00000"/>
              </a:fgClr>
              <a:bgClr>
                <a:schemeClr val="bg1"/>
              </a:bgClr>
            </a:pattFill>
            <a:ln w="12700"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98" name="Rounded Rectangle 102">
              <a:extLst>
                <a:ext uri="{FF2B5EF4-FFF2-40B4-BE49-F238E27FC236}">
                  <a16:creationId xmlns:a16="http://schemas.microsoft.com/office/drawing/2014/main" id="{B540701A-28C1-455E-BE2B-ED1BAFE155C8}"/>
                </a:ext>
              </a:extLst>
            </p:cNvPr>
            <p:cNvSpPr/>
            <p:nvPr/>
          </p:nvSpPr>
          <p:spPr bwMode="auto">
            <a:xfrm>
              <a:off x="1903807" y="3126210"/>
              <a:ext cx="129810" cy="327310"/>
            </a:xfrm>
            <a:prstGeom prst="roundRect">
              <a:avLst/>
            </a:prstGeom>
            <a:pattFill prst="ltUpDiag">
              <a:fgClr>
                <a:srgbClr val="C00000"/>
              </a:fgClr>
              <a:bgClr>
                <a:schemeClr val="bg1"/>
              </a:bgClr>
            </a:pattFill>
            <a:ln w="12700"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99" name="Oval 198">
              <a:extLst>
                <a:ext uri="{FF2B5EF4-FFF2-40B4-BE49-F238E27FC236}">
                  <a16:creationId xmlns:a16="http://schemas.microsoft.com/office/drawing/2014/main" id="{8EB89162-1859-4706-A4DA-657B265FF0F9}"/>
                </a:ext>
              </a:extLst>
            </p:cNvPr>
            <p:cNvSpPr/>
            <p:nvPr/>
          </p:nvSpPr>
          <p:spPr bwMode="auto">
            <a:xfrm>
              <a:off x="2000080" y="3208037"/>
              <a:ext cx="173080" cy="163655"/>
            </a:xfrm>
            <a:prstGeom prst="ellipse">
              <a:avLst/>
            </a:prstGeom>
            <a:solidFill>
              <a:schemeClr val="bg1"/>
            </a:solidFill>
            <a:ln w="12700" cap="flat" cmpd="sng" algn="ctr">
              <a:solidFill>
                <a:srgbClr val="C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cxnSp>
          <p:nvCxnSpPr>
            <p:cNvPr id="200" name="Straight Connector 199">
              <a:extLst>
                <a:ext uri="{FF2B5EF4-FFF2-40B4-BE49-F238E27FC236}">
                  <a16:creationId xmlns:a16="http://schemas.microsoft.com/office/drawing/2014/main" id="{F4E34C64-7C34-4F08-AD05-996C22B578CF}"/>
                </a:ext>
              </a:extLst>
            </p:cNvPr>
            <p:cNvCxnSpPr/>
            <p:nvPr/>
          </p:nvCxnSpPr>
          <p:spPr bwMode="auto">
            <a:xfrm>
              <a:off x="1057873" y="3452404"/>
              <a:ext cx="1211560" cy="0"/>
            </a:xfrm>
            <a:prstGeom prst="line">
              <a:avLst/>
            </a:prstGeom>
            <a:solidFill>
              <a:schemeClr val="accent1"/>
            </a:solidFill>
            <a:ln w="9525" cap="flat" cmpd="sng" algn="ctr">
              <a:solidFill>
                <a:srgbClr val="C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grpSp>
      <p:grpSp>
        <p:nvGrpSpPr>
          <p:cNvPr id="201" name="Group 200">
            <a:extLst>
              <a:ext uri="{FF2B5EF4-FFF2-40B4-BE49-F238E27FC236}">
                <a16:creationId xmlns:a16="http://schemas.microsoft.com/office/drawing/2014/main" id="{D3B50E61-68CC-4AB7-9C65-883C35BAF575}"/>
              </a:ext>
            </a:extLst>
          </p:cNvPr>
          <p:cNvGrpSpPr/>
          <p:nvPr/>
        </p:nvGrpSpPr>
        <p:grpSpPr>
          <a:xfrm>
            <a:off x="5925501" y="2006254"/>
            <a:ext cx="1343701" cy="1440161"/>
            <a:chOff x="1572115" y="3327260"/>
            <a:chExt cx="1721471" cy="1536777"/>
          </a:xfrm>
        </p:grpSpPr>
        <p:cxnSp>
          <p:nvCxnSpPr>
            <p:cNvPr id="202" name="Straight Connector 201">
              <a:extLst>
                <a:ext uri="{FF2B5EF4-FFF2-40B4-BE49-F238E27FC236}">
                  <a16:creationId xmlns:a16="http://schemas.microsoft.com/office/drawing/2014/main" id="{FC14FF07-77A6-4DE7-A3E3-D7E26788584B}"/>
                </a:ext>
              </a:extLst>
            </p:cNvPr>
            <p:cNvCxnSpPr/>
            <p:nvPr/>
          </p:nvCxnSpPr>
          <p:spPr bwMode="auto">
            <a:xfrm flipH="1">
              <a:off x="1642270" y="4193803"/>
              <a:ext cx="0" cy="460334"/>
            </a:xfrm>
            <a:prstGeom prst="line">
              <a:avLst/>
            </a:pr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203" name="Flowchart: Punched Tape 202">
              <a:extLst>
                <a:ext uri="{FF2B5EF4-FFF2-40B4-BE49-F238E27FC236}">
                  <a16:creationId xmlns:a16="http://schemas.microsoft.com/office/drawing/2014/main" id="{A700C02F-1B5B-4823-9607-DBB22938F616}"/>
                </a:ext>
              </a:extLst>
            </p:cNvPr>
            <p:cNvSpPr/>
            <p:nvPr/>
          </p:nvSpPr>
          <p:spPr bwMode="auto">
            <a:xfrm>
              <a:off x="1572115" y="3327261"/>
              <a:ext cx="214537" cy="1536776"/>
            </a:xfrm>
            <a:prstGeom prst="flowChartPunchedTape">
              <a:avLst/>
            </a:pr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endParaRPr lang="en-US"/>
            </a:p>
          </p:txBody>
        </p:sp>
        <p:sp>
          <p:nvSpPr>
            <p:cNvPr id="204" name="Flowchart: Punched Tape 203">
              <a:extLst>
                <a:ext uri="{FF2B5EF4-FFF2-40B4-BE49-F238E27FC236}">
                  <a16:creationId xmlns:a16="http://schemas.microsoft.com/office/drawing/2014/main" id="{CBC27E68-71F6-4CE2-8250-59A91E2B9EDD}"/>
                </a:ext>
              </a:extLst>
            </p:cNvPr>
            <p:cNvSpPr/>
            <p:nvPr/>
          </p:nvSpPr>
          <p:spPr bwMode="auto">
            <a:xfrm flipV="1">
              <a:off x="3045214" y="3327260"/>
              <a:ext cx="248372" cy="1511180"/>
            </a:xfrm>
            <a:prstGeom prst="flowChartPunchedTape">
              <a:avLst/>
            </a:pr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endParaRPr lang="en-US"/>
            </a:p>
          </p:txBody>
        </p:sp>
        <p:sp>
          <p:nvSpPr>
            <p:cNvPr id="205" name="Freeform 109">
              <a:extLst>
                <a:ext uri="{FF2B5EF4-FFF2-40B4-BE49-F238E27FC236}">
                  <a16:creationId xmlns:a16="http://schemas.microsoft.com/office/drawing/2014/main" id="{A25BF6A7-1D25-424A-8865-03C5F52DFD79}"/>
                </a:ext>
              </a:extLst>
            </p:cNvPr>
            <p:cNvSpPr/>
            <p:nvPr/>
          </p:nvSpPr>
          <p:spPr bwMode="auto">
            <a:xfrm>
              <a:off x="1674796" y="4263996"/>
              <a:ext cx="288758" cy="577515"/>
            </a:xfrm>
            <a:custGeom>
              <a:avLst/>
              <a:gdLst>
                <a:gd name="connsiteX0" fmla="*/ 134753 w 288758"/>
                <a:gd name="connsiteY0" fmla="*/ 0 h 577515"/>
                <a:gd name="connsiteX1" fmla="*/ 269507 w 288758"/>
                <a:gd name="connsiteY1" fmla="*/ 9625 h 577515"/>
                <a:gd name="connsiteX2" fmla="*/ 279132 w 288758"/>
                <a:gd name="connsiteY2" fmla="*/ 38501 h 577515"/>
                <a:gd name="connsiteX3" fmla="*/ 288758 w 288758"/>
                <a:gd name="connsiteY3" fmla="*/ 105877 h 577515"/>
                <a:gd name="connsiteX4" fmla="*/ 279132 w 288758"/>
                <a:gd name="connsiteY4" fmla="*/ 346509 h 577515"/>
                <a:gd name="connsiteX5" fmla="*/ 240631 w 288758"/>
                <a:gd name="connsiteY5" fmla="*/ 433136 h 577515"/>
                <a:gd name="connsiteX6" fmla="*/ 221381 w 288758"/>
                <a:gd name="connsiteY6" fmla="*/ 462012 h 577515"/>
                <a:gd name="connsiteX7" fmla="*/ 125128 w 288758"/>
                <a:gd name="connsiteY7" fmla="*/ 500513 h 577515"/>
                <a:gd name="connsiteX8" fmla="*/ 67377 w 288758"/>
                <a:gd name="connsiteY8" fmla="*/ 519764 h 577515"/>
                <a:gd name="connsiteX9" fmla="*/ 38501 w 288758"/>
                <a:gd name="connsiteY9" fmla="*/ 548640 h 577515"/>
                <a:gd name="connsiteX10" fmla="*/ 19250 w 288758"/>
                <a:gd name="connsiteY10" fmla="*/ 577515 h 577515"/>
                <a:gd name="connsiteX11" fmla="*/ 0 w 288758"/>
                <a:gd name="connsiteY11" fmla="*/ 548640 h 577515"/>
                <a:gd name="connsiteX12" fmla="*/ 38501 w 288758"/>
                <a:gd name="connsiteY12" fmla="*/ 490888 h 577515"/>
                <a:gd name="connsiteX13" fmla="*/ 57751 w 288758"/>
                <a:gd name="connsiteY13" fmla="*/ 462012 h 577515"/>
                <a:gd name="connsiteX14" fmla="*/ 77002 w 288758"/>
                <a:gd name="connsiteY14" fmla="*/ 385010 h 577515"/>
                <a:gd name="connsiteX15" fmla="*/ 105878 w 288758"/>
                <a:gd name="connsiteY15" fmla="*/ 327259 h 577515"/>
                <a:gd name="connsiteX16" fmla="*/ 115503 w 288758"/>
                <a:gd name="connsiteY16" fmla="*/ 96252 h 577515"/>
                <a:gd name="connsiteX17" fmla="*/ 125128 w 288758"/>
                <a:gd name="connsiteY17" fmla="*/ 67376 h 577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88758" h="577515">
                  <a:moveTo>
                    <a:pt x="134753" y="0"/>
                  </a:moveTo>
                  <a:cubicBezTo>
                    <a:pt x="179671" y="3208"/>
                    <a:pt x="225995" y="-1978"/>
                    <a:pt x="269507" y="9625"/>
                  </a:cubicBezTo>
                  <a:cubicBezTo>
                    <a:pt x="279310" y="12239"/>
                    <a:pt x="277142" y="28552"/>
                    <a:pt x="279132" y="38501"/>
                  </a:cubicBezTo>
                  <a:cubicBezTo>
                    <a:pt x="283581" y="60747"/>
                    <a:pt x="285549" y="83418"/>
                    <a:pt x="288758" y="105877"/>
                  </a:cubicBezTo>
                  <a:cubicBezTo>
                    <a:pt x="285549" y="186088"/>
                    <a:pt x="283988" y="266381"/>
                    <a:pt x="279132" y="346509"/>
                  </a:cubicBezTo>
                  <a:cubicBezTo>
                    <a:pt x="273971" y="431671"/>
                    <a:pt x="291802" y="416079"/>
                    <a:pt x="240631" y="433136"/>
                  </a:cubicBezTo>
                  <a:cubicBezTo>
                    <a:pt x="234214" y="442761"/>
                    <a:pt x="229561" y="453832"/>
                    <a:pt x="221381" y="462012"/>
                  </a:cubicBezTo>
                  <a:cubicBezTo>
                    <a:pt x="195337" y="488057"/>
                    <a:pt x="158228" y="490583"/>
                    <a:pt x="125128" y="500513"/>
                  </a:cubicBezTo>
                  <a:cubicBezTo>
                    <a:pt x="105692" y="506344"/>
                    <a:pt x="67377" y="519764"/>
                    <a:pt x="67377" y="519764"/>
                  </a:cubicBezTo>
                  <a:cubicBezTo>
                    <a:pt x="57752" y="529389"/>
                    <a:pt x="47215" y="538183"/>
                    <a:pt x="38501" y="548640"/>
                  </a:cubicBezTo>
                  <a:cubicBezTo>
                    <a:pt x="31095" y="557527"/>
                    <a:pt x="30818" y="577515"/>
                    <a:pt x="19250" y="577515"/>
                  </a:cubicBezTo>
                  <a:cubicBezTo>
                    <a:pt x="7682" y="577515"/>
                    <a:pt x="6417" y="558265"/>
                    <a:pt x="0" y="548640"/>
                  </a:cubicBezTo>
                  <a:lnTo>
                    <a:pt x="38501" y="490888"/>
                  </a:lnTo>
                  <a:lnTo>
                    <a:pt x="57751" y="462012"/>
                  </a:lnTo>
                  <a:cubicBezTo>
                    <a:pt x="61412" y="443710"/>
                    <a:pt x="67137" y="404740"/>
                    <a:pt x="77002" y="385010"/>
                  </a:cubicBezTo>
                  <a:cubicBezTo>
                    <a:pt x="114324" y="310364"/>
                    <a:pt x="81680" y="399847"/>
                    <a:pt x="105878" y="327259"/>
                  </a:cubicBezTo>
                  <a:cubicBezTo>
                    <a:pt x="109086" y="250257"/>
                    <a:pt x="109810" y="173111"/>
                    <a:pt x="115503" y="96252"/>
                  </a:cubicBezTo>
                  <a:cubicBezTo>
                    <a:pt x="116252" y="86134"/>
                    <a:pt x="125128" y="67376"/>
                    <a:pt x="125128" y="67376"/>
                  </a:cubicBezTo>
                </a:path>
              </a:pathLst>
            </a:cu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endParaRPr lang="en-US"/>
            </a:p>
          </p:txBody>
        </p:sp>
        <p:sp>
          <p:nvSpPr>
            <p:cNvPr id="206" name="Freeform 110">
              <a:extLst>
                <a:ext uri="{FF2B5EF4-FFF2-40B4-BE49-F238E27FC236}">
                  <a16:creationId xmlns:a16="http://schemas.microsoft.com/office/drawing/2014/main" id="{3261C940-0287-4ADE-B45F-3B579A29E424}"/>
                </a:ext>
              </a:extLst>
            </p:cNvPr>
            <p:cNvSpPr/>
            <p:nvPr/>
          </p:nvSpPr>
          <p:spPr bwMode="auto">
            <a:xfrm flipH="1">
              <a:off x="2917989" y="4246293"/>
              <a:ext cx="254454" cy="577515"/>
            </a:xfrm>
            <a:custGeom>
              <a:avLst/>
              <a:gdLst>
                <a:gd name="connsiteX0" fmla="*/ 134753 w 288758"/>
                <a:gd name="connsiteY0" fmla="*/ 0 h 577515"/>
                <a:gd name="connsiteX1" fmla="*/ 269507 w 288758"/>
                <a:gd name="connsiteY1" fmla="*/ 9625 h 577515"/>
                <a:gd name="connsiteX2" fmla="*/ 279132 w 288758"/>
                <a:gd name="connsiteY2" fmla="*/ 38501 h 577515"/>
                <a:gd name="connsiteX3" fmla="*/ 288758 w 288758"/>
                <a:gd name="connsiteY3" fmla="*/ 105877 h 577515"/>
                <a:gd name="connsiteX4" fmla="*/ 279132 w 288758"/>
                <a:gd name="connsiteY4" fmla="*/ 346509 h 577515"/>
                <a:gd name="connsiteX5" fmla="*/ 240631 w 288758"/>
                <a:gd name="connsiteY5" fmla="*/ 433136 h 577515"/>
                <a:gd name="connsiteX6" fmla="*/ 221381 w 288758"/>
                <a:gd name="connsiteY6" fmla="*/ 462012 h 577515"/>
                <a:gd name="connsiteX7" fmla="*/ 125128 w 288758"/>
                <a:gd name="connsiteY7" fmla="*/ 500513 h 577515"/>
                <a:gd name="connsiteX8" fmla="*/ 67377 w 288758"/>
                <a:gd name="connsiteY8" fmla="*/ 519764 h 577515"/>
                <a:gd name="connsiteX9" fmla="*/ 38501 w 288758"/>
                <a:gd name="connsiteY9" fmla="*/ 548640 h 577515"/>
                <a:gd name="connsiteX10" fmla="*/ 19250 w 288758"/>
                <a:gd name="connsiteY10" fmla="*/ 577515 h 577515"/>
                <a:gd name="connsiteX11" fmla="*/ 0 w 288758"/>
                <a:gd name="connsiteY11" fmla="*/ 548640 h 577515"/>
                <a:gd name="connsiteX12" fmla="*/ 38501 w 288758"/>
                <a:gd name="connsiteY12" fmla="*/ 490888 h 577515"/>
                <a:gd name="connsiteX13" fmla="*/ 57751 w 288758"/>
                <a:gd name="connsiteY13" fmla="*/ 462012 h 577515"/>
                <a:gd name="connsiteX14" fmla="*/ 77002 w 288758"/>
                <a:gd name="connsiteY14" fmla="*/ 385010 h 577515"/>
                <a:gd name="connsiteX15" fmla="*/ 105878 w 288758"/>
                <a:gd name="connsiteY15" fmla="*/ 327259 h 577515"/>
                <a:gd name="connsiteX16" fmla="*/ 115503 w 288758"/>
                <a:gd name="connsiteY16" fmla="*/ 96252 h 577515"/>
                <a:gd name="connsiteX17" fmla="*/ 125128 w 288758"/>
                <a:gd name="connsiteY17" fmla="*/ 67376 h 577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88758" h="577515">
                  <a:moveTo>
                    <a:pt x="134753" y="0"/>
                  </a:moveTo>
                  <a:cubicBezTo>
                    <a:pt x="179671" y="3208"/>
                    <a:pt x="225995" y="-1978"/>
                    <a:pt x="269507" y="9625"/>
                  </a:cubicBezTo>
                  <a:cubicBezTo>
                    <a:pt x="279310" y="12239"/>
                    <a:pt x="277142" y="28552"/>
                    <a:pt x="279132" y="38501"/>
                  </a:cubicBezTo>
                  <a:cubicBezTo>
                    <a:pt x="283581" y="60747"/>
                    <a:pt x="285549" y="83418"/>
                    <a:pt x="288758" y="105877"/>
                  </a:cubicBezTo>
                  <a:cubicBezTo>
                    <a:pt x="285549" y="186088"/>
                    <a:pt x="283988" y="266381"/>
                    <a:pt x="279132" y="346509"/>
                  </a:cubicBezTo>
                  <a:cubicBezTo>
                    <a:pt x="273971" y="431671"/>
                    <a:pt x="291802" y="416079"/>
                    <a:pt x="240631" y="433136"/>
                  </a:cubicBezTo>
                  <a:cubicBezTo>
                    <a:pt x="234214" y="442761"/>
                    <a:pt x="229561" y="453832"/>
                    <a:pt x="221381" y="462012"/>
                  </a:cubicBezTo>
                  <a:cubicBezTo>
                    <a:pt x="195337" y="488057"/>
                    <a:pt x="158228" y="490583"/>
                    <a:pt x="125128" y="500513"/>
                  </a:cubicBezTo>
                  <a:cubicBezTo>
                    <a:pt x="105692" y="506344"/>
                    <a:pt x="67377" y="519764"/>
                    <a:pt x="67377" y="519764"/>
                  </a:cubicBezTo>
                  <a:cubicBezTo>
                    <a:pt x="57752" y="529389"/>
                    <a:pt x="47215" y="538183"/>
                    <a:pt x="38501" y="548640"/>
                  </a:cubicBezTo>
                  <a:cubicBezTo>
                    <a:pt x="31095" y="557527"/>
                    <a:pt x="30818" y="577515"/>
                    <a:pt x="19250" y="577515"/>
                  </a:cubicBezTo>
                  <a:cubicBezTo>
                    <a:pt x="7682" y="577515"/>
                    <a:pt x="6417" y="558265"/>
                    <a:pt x="0" y="548640"/>
                  </a:cubicBezTo>
                  <a:lnTo>
                    <a:pt x="38501" y="490888"/>
                  </a:lnTo>
                  <a:lnTo>
                    <a:pt x="57751" y="462012"/>
                  </a:lnTo>
                  <a:cubicBezTo>
                    <a:pt x="61412" y="443710"/>
                    <a:pt x="67137" y="404740"/>
                    <a:pt x="77002" y="385010"/>
                  </a:cubicBezTo>
                  <a:cubicBezTo>
                    <a:pt x="114324" y="310364"/>
                    <a:pt x="81680" y="399847"/>
                    <a:pt x="105878" y="327259"/>
                  </a:cubicBezTo>
                  <a:cubicBezTo>
                    <a:pt x="109086" y="250257"/>
                    <a:pt x="109810" y="173111"/>
                    <a:pt x="115503" y="96252"/>
                  </a:cubicBezTo>
                  <a:cubicBezTo>
                    <a:pt x="116252" y="86134"/>
                    <a:pt x="125128" y="67376"/>
                    <a:pt x="125128" y="67376"/>
                  </a:cubicBezTo>
                </a:path>
              </a:pathLst>
            </a:cu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endParaRPr lang="en-US"/>
            </a:p>
          </p:txBody>
        </p:sp>
      </p:grpSp>
      <p:sp>
        <p:nvSpPr>
          <p:cNvPr id="207" name="Rectangle 206">
            <a:extLst>
              <a:ext uri="{FF2B5EF4-FFF2-40B4-BE49-F238E27FC236}">
                <a16:creationId xmlns:a16="http://schemas.microsoft.com/office/drawing/2014/main" id="{C6ABEFD3-1E09-4BDA-B0A8-3B887E84FC6F}"/>
              </a:ext>
            </a:extLst>
          </p:cNvPr>
          <p:cNvSpPr/>
          <p:nvPr/>
        </p:nvSpPr>
        <p:spPr bwMode="auto">
          <a:xfrm>
            <a:off x="6392939" y="1854542"/>
            <a:ext cx="343337" cy="1989820"/>
          </a:xfrm>
          <a:prstGeom prst="rect">
            <a:avLst/>
          </a:prstGeom>
          <a:solidFill>
            <a:schemeClr val="bg2"/>
          </a:solidFill>
          <a:ln w="9525" cap="flat" cmpd="sng" algn="ctr">
            <a:solidFill>
              <a:schemeClr val="bg2"/>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208" name="Rectangle 207">
            <a:extLst>
              <a:ext uri="{FF2B5EF4-FFF2-40B4-BE49-F238E27FC236}">
                <a16:creationId xmlns:a16="http://schemas.microsoft.com/office/drawing/2014/main" id="{E6298BE5-668A-48E1-9CAC-605E7800EEEB}"/>
              </a:ext>
            </a:extLst>
          </p:cNvPr>
          <p:cNvSpPr/>
          <p:nvPr/>
        </p:nvSpPr>
        <p:spPr bwMode="auto">
          <a:xfrm>
            <a:off x="6500421" y="3844361"/>
            <a:ext cx="120709" cy="295252"/>
          </a:xfrm>
          <a:prstGeom prst="rect">
            <a:avLst/>
          </a:prstGeom>
          <a:solidFill>
            <a:schemeClr val="bg2"/>
          </a:solidFill>
          <a:ln w="9525" cap="flat" cmpd="sng" algn="ctr">
            <a:solidFill>
              <a:schemeClr val="bg2"/>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cxnSp>
        <p:nvCxnSpPr>
          <p:cNvPr id="209" name="Straight Connector 208">
            <a:extLst>
              <a:ext uri="{FF2B5EF4-FFF2-40B4-BE49-F238E27FC236}">
                <a16:creationId xmlns:a16="http://schemas.microsoft.com/office/drawing/2014/main" id="{B6EBE56D-B620-452B-8FE4-2B4D92F08E8C}"/>
              </a:ext>
            </a:extLst>
          </p:cNvPr>
          <p:cNvCxnSpPr>
            <a:endCxn id="207" idx="2"/>
          </p:cNvCxnSpPr>
          <p:nvPr/>
        </p:nvCxnSpPr>
        <p:spPr bwMode="auto">
          <a:xfrm flipH="1">
            <a:off x="6564608" y="3318439"/>
            <a:ext cx="190908" cy="525923"/>
          </a:xfrm>
          <a:prstGeom prst="line">
            <a:avLst/>
          </a:prstGeom>
          <a:solidFill>
            <a:schemeClr val="accent1"/>
          </a:solidFill>
          <a:ln w="285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10" name="Straight Connector 209">
            <a:extLst>
              <a:ext uri="{FF2B5EF4-FFF2-40B4-BE49-F238E27FC236}">
                <a16:creationId xmlns:a16="http://schemas.microsoft.com/office/drawing/2014/main" id="{0E0E4AE0-29F5-4554-AB10-5E8A0BA040D7}"/>
              </a:ext>
            </a:extLst>
          </p:cNvPr>
          <p:cNvCxnSpPr/>
          <p:nvPr/>
        </p:nvCxnSpPr>
        <p:spPr bwMode="auto">
          <a:xfrm flipH="1">
            <a:off x="6448235" y="3217492"/>
            <a:ext cx="240124" cy="611337"/>
          </a:xfrm>
          <a:prstGeom prst="line">
            <a:avLst/>
          </a:prstGeom>
          <a:solidFill>
            <a:schemeClr val="accent1"/>
          </a:solidFill>
          <a:ln w="285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11" name="Straight Connector 210">
            <a:extLst>
              <a:ext uri="{FF2B5EF4-FFF2-40B4-BE49-F238E27FC236}">
                <a16:creationId xmlns:a16="http://schemas.microsoft.com/office/drawing/2014/main" id="{C53E5460-45DD-4C3A-ACB1-F45C437A5C54}"/>
              </a:ext>
            </a:extLst>
          </p:cNvPr>
          <p:cNvCxnSpPr/>
          <p:nvPr/>
        </p:nvCxnSpPr>
        <p:spPr bwMode="auto">
          <a:xfrm flipH="1">
            <a:off x="6631194" y="3539311"/>
            <a:ext cx="133655" cy="389873"/>
          </a:xfrm>
          <a:prstGeom prst="line">
            <a:avLst/>
          </a:prstGeom>
          <a:solidFill>
            <a:schemeClr val="accent1"/>
          </a:solidFill>
          <a:ln w="285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12" name="Straight Connector 211">
            <a:extLst>
              <a:ext uri="{FF2B5EF4-FFF2-40B4-BE49-F238E27FC236}">
                <a16:creationId xmlns:a16="http://schemas.microsoft.com/office/drawing/2014/main" id="{E0DA8FC1-B082-4939-9AF6-935D06012759}"/>
              </a:ext>
            </a:extLst>
          </p:cNvPr>
          <p:cNvCxnSpPr/>
          <p:nvPr/>
        </p:nvCxnSpPr>
        <p:spPr bwMode="auto">
          <a:xfrm flipH="1">
            <a:off x="6363377" y="3202740"/>
            <a:ext cx="133655" cy="389873"/>
          </a:xfrm>
          <a:prstGeom prst="line">
            <a:avLst/>
          </a:prstGeom>
          <a:solidFill>
            <a:schemeClr val="accent1"/>
          </a:solidFill>
          <a:ln w="285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grpSp>
        <p:nvGrpSpPr>
          <p:cNvPr id="213" name="Group 212">
            <a:extLst>
              <a:ext uri="{FF2B5EF4-FFF2-40B4-BE49-F238E27FC236}">
                <a16:creationId xmlns:a16="http://schemas.microsoft.com/office/drawing/2014/main" id="{2D4CB64E-BE83-4CCE-B05F-9ABCEF26B96B}"/>
              </a:ext>
            </a:extLst>
          </p:cNvPr>
          <p:cNvGrpSpPr/>
          <p:nvPr/>
        </p:nvGrpSpPr>
        <p:grpSpPr>
          <a:xfrm>
            <a:off x="6170925" y="3861048"/>
            <a:ext cx="693923" cy="380750"/>
            <a:chOff x="5123750" y="5116722"/>
            <a:chExt cx="1079936" cy="680469"/>
          </a:xfrm>
        </p:grpSpPr>
        <p:grpSp>
          <p:nvGrpSpPr>
            <p:cNvPr id="214" name="Group 213">
              <a:extLst>
                <a:ext uri="{FF2B5EF4-FFF2-40B4-BE49-F238E27FC236}">
                  <a16:creationId xmlns:a16="http://schemas.microsoft.com/office/drawing/2014/main" id="{31533A2F-615C-4582-A7C5-847B247B2B55}"/>
                </a:ext>
              </a:extLst>
            </p:cNvPr>
            <p:cNvGrpSpPr/>
            <p:nvPr/>
          </p:nvGrpSpPr>
          <p:grpSpPr>
            <a:xfrm>
              <a:off x="5123750" y="5116722"/>
              <a:ext cx="1079936" cy="674951"/>
              <a:chOff x="1057873" y="3124402"/>
              <a:chExt cx="1211560" cy="329118"/>
            </a:xfrm>
          </p:grpSpPr>
          <p:sp>
            <p:nvSpPr>
              <p:cNvPr id="217" name="Rounded Rectangle 122">
                <a:extLst>
                  <a:ext uri="{FF2B5EF4-FFF2-40B4-BE49-F238E27FC236}">
                    <a16:creationId xmlns:a16="http://schemas.microsoft.com/office/drawing/2014/main" id="{589B1246-4D3C-4313-84CB-EC2DFF9DF331}"/>
                  </a:ext>
                </a:extLst>
              </p:cNvPr>
              <p:cNvSpPr/>
              <p:nvPr/>
            </p:nvSpPr>
            <p:spPr bwMode="auto">
              <a:xfrm>
                <a:off x="1440047" y="3124402"/>
                <a:ext cx="129810" cy="327310"/>
              </a:xfrm>
              <a:prstGeom prst="roundRect">
                <a:avLst/>
              </a:prstGeom>
              <a:pattFill prst="ltDnDiag">
                <a:fgClr>
                  <a:srgbClr val="C00000"/>
                </a:fgClr>
                <a:bgClr>
                  <a:schemeClr val="bg1"/>
                </a:bgClr>
              </a:pattFill>
              <a:ln w="12700"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218" name="Rounded Rectangle 123">
                <a:extLst>
                  <a:ext uri="{FF2B5EF4-FFF2-40B4-BE49-F238E27FC236}">
                    <a16:creationId xmlns:a16="http://schemas.microsoft.com/office/drawing/2014/main" id="{FC997208-FE63-4135-AC1B-411B7EA2BC0D}"/>
                  </a:ext>
                </a:extLst>
              </p:cNvPr>
              <p:cNvSpPr/>
              <p:nvPr/>
            </p:nvSpPr>
            <p:spPr bwMode="auto">
              <a:xfrm>
                <a:off x="1057873" y="3126210"/>
                <a:ext cx="129810" cy="327310"/>
              </a:xfrm>
              <a:prstGeom prst="roundRect">
                <a:avLst/>
              </a:prstGeom>
              <a:pattFill prst="ltUpDiag">
                <a:fgClr>
                  <a:srgbClr val="C00000"/>
                </a:fgClr>
                <a:bgClr>
                  <a:schemeClr val="bg1"/>
                </a:bgClr>
              </a:pattFill>
              <a:ln w="12700"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cxnSp>
            <p:nvCxnSpPr>
              <p:cNvPr id="219" name="Straight Connector 218">
                <a:extLst>
                  <a:ext uri="{FF2B5EF4-FFF2-40B4-BE49-F238E27FC236}">
                    <a16:creationId xmlns:a16="http://schemas.microsoft.com/office/drawing/2014/main" id="{5A18252E-2F2C-43E5-B202-8D6BD3500D34}"/>
                  </a:ext>
                </a:extLst>
              </p:cNvPr>
              <p:cNvCxnSpPr/>
              <p:nvPr/>
            </p:nvCxnSpPr>
            <p:spPr bwMode="auto">
              <a:xfrm>
                <a:off x="1057873" y="3124402"/>
                <a:ext cx="1211560" cy="0"/>
              </a:xfrm>
              <a:prstGeom prst="line">
                <a:avLst/>
              </a:prstGeom>
              <a:solidFill>
                <a:schemeClr val="accent1"/>
              </a:solidFill>
              <a:ln w="9525" cap="flat" cmpd="sng" algn="ctr">
                <a:solidFill>
                  <a:srgbClr val="C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220" name="Rounded Rectangle 125">
                <a:extLst>
                  <a:ext uri="{FF2B5EF4-FFF2-40B4-BE49-F238E27FC236}">
                    <a16:creationId xmlns:a16="http://schemas.microsoft.com/office/drawing/2014/main" id="{76704303-CFFE-4A82-995C-8A02F1F0BA07}"/>
                  </a:ext>
                </a:extLst>
              </p:cNvPr>
              <p:cNvSpPr/>
              <p:nvPr/>
            </p:nvSpPr>
            <p:spPr bwMode="auto">
              <a:xfrm>
                <a:off x="2139623" y="3124402"/>
                <a:ext cx="129810" cy="327310"/>
              </a:xfrm>
              <a:prstGeom prst="roundRect">
                <a:avLst/>
              </a:prstGeom>
              <a:pattFill prst="ltDnDiag">
                <a:fgClr>
                  <a:srgbClr val="C00000"/>
                </a:fgClr>
                <a:bgClr>
                  <a:schemeClr val="bg1"/>
                </a:bgClr>
              </a:pattFill>
              <a:ln w="12700"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221" name="Rounded Rectangle 126">
                <a:extLst>
                  <a:ext uri="{FF2B5EF4-FFF2-40B4-BE49-F238E27FC236}">
                    <a16:creationId xmlns:a16="http://schemas.microsoft.com/office/drawing/2014/main" id="{17081A58-6D1E-43A8-B68C-D0C7F524941A}"/>
                  </a:ext>
                </a:extLst>
              </p:cNvPr>
              <p:cNvSpPr/>
              <p:nvPr/>
            </p:nvSpPr>
            <p:spPr bwMode="auto">
              <a:xfrm>
                <a:off x="1812210" y="3126210"/>
                <a:ext cx="129810" cy="327310"/>
              </a:xfrm>
              <a:prstGeom prst="roundRect">
                <a:avLst/>
              </a:prstGeom>
              <a:pattFill prst="ltUpDiag">
                <a:fgClr>
                  <a:srgbClr val="C00000"/>
                </a:fgClr>
                <a:bgClr>
                  <a:schemeClr val="bg1"/>
                </a:bgClr>
              </a:pattFill>
              <a:ln w="12700"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cxnSp>
            <p:nvCxnSpPr>
              <p:cNvPr id="223" name="Straight Connector 222">
                <a:extLst>
                  <a:ext uri="{FF2B5EF4-FFF2-40B4-BE49-F238E27FC236}">
                    <a16:creationId xmlns:a16="http://schemas.microsoft.com/office/drawing/2014/main" id="{AD682358-8B83-4216-9CBA-C27F8767EDF0}"/>
                  </a:ext>
                </a:extLst>
              </p:cNvPr>
              <p:cNvCxnSpPr/>
              <p:nvPr/>
            </p:nvCxnSpPr>
            <p:spPr bwMode="auto">
              <a:xfrm>
                <a:off x="1057873" y="3452404"/>
                <a:ext cx="1211560" cy="0"/>
              </a:xfrm>
              <a:prstGeom prst="line">
                <a:avLst/>
              </a:prstGeom>
              <a:solidFill>
                <a:schemeClr val="accent1"/>
              </a:solidFill>
              <a:ln w="9525" cap="flat" cmpd="sng" algn="ctr">
                <a:solidFill>
                  <a:srgbClr val="C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grpSp>
        <p:sp>
          <p:nvSpPr>
            <p:cNvPr id="215" name="Flowchart: Terminator 214">
              <a:extLst>
                <a:ext uri="{FF2B5EF4-FFF2-40B4-BE49-F238E27FC236}">
                  <a16:creationId xmlns:a16="http://schemas.microsoft.com/office/drawing/2014/main" id="{B0340652-398B-4150-B811-BBAB4CE0E514}"/>
                </a:ext>
              </a:extLst>
            </p:cNvPr>
            <p:cNvSpPr/>
            <p:nvPr/>
          </p:nvSpPr>
          <p:spPr bwMode="auto">
            <a:xfrm>
              <a:off x="5883760" y="5129785"/>
              <a:ext cx="204220" cy="655891"/>
            </a:xfrm>
            <a:prstGeom prst="flowChartTerminator">
              <a:avLst/>
            </a:prstGeom>
            <a:ln>
              <a:headEnd type="none" w="med" len="med"/>
              <a:tailEnd type="none" w="med" len="med"/>
            </a:ln>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216" name="Flowchart: Terminator 215">
              <a:extLst>
                <a:ext uri="{FF2B5EF4-FFF2-40B4-BE49-F238E27FC236}">
                  <a16:creationId xmlns:a16="http://schemas.microsoft.com/office/drawing/2014/main" id="{C017E6FD-3B1A-466B-840F-150CF6A44B81}"/>
                </a:ext>
              </a:extLst>
            </p:cNvPr>
            <p:cNvSpPr/>
            <p:nvPr/>
          </p:nvSpPr>
          <p:spPr bwMode="auto">
            <a:xfrm>
              <a:off x="5251261" y="5141300"/>
              <a:ext cx="204220" cy="655891"/>
            </a:xfrm>
            <a:prstGeom prst="flowChartTerminator">
              <a:avLst/>
            </a:prstGeom>
            <a:ln>
              <a:headEnd type="none" w="med" len="med"/>
              <a:tailEnd type="none" w="med" len="med"/>
            </a:ln>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grpSp>
      <p:sp>
        <p:nvSpPr>
          <p:cNvPr id="224" name="L-Shape 223">
            <a:extLst>
              <a:ext uri="{FF2B5EF4-FFF2-40B4-BE49-F238E27FC236}">
                <a16:creationId xmlns:a16="http://schemas.microsoft.com/office/drawing/2014/main" id="{A5FA15BF-B5E2-4693-90CD-A54DEC3935CF}"/>
              </a:ext>
            </a:extLst>
          </p:cNvPr>
          <p:cNvSpPr/>
          <p:nvPr/>
        </p:nvSpPr>
        <p:spPr bwMode="auto">
          <a:xfrm>
            <a:off x="5992871" y="3698160"/>
            <a:ext cx="1098765" cy="720278"/>
          </a:xfrm>
          <a:prstGeom prst="corner">
            <a:avLst/>
          </a:pr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225" name="L-Shape 224">
            <a:extLst>
              <a:ext uri="{FF2B5EF4-FFF2-40B4-BE49-F238E27FC236}">
                <a16:creationId xmlns:a16="http://schemas.microsoft.com/office/drawing/2014/main" id="{777D61FC-9C44-410F-8F70-176F300E7E55}"/>
              </a:ext>
            </a:extLst>
          </p:cNvPr>
          <p:cNvSpPr/>
          <p:nvPr/>
        </p:nvSpPr>
        <p:spPr bwMode="auto">
          <a:xfrm flipH="1">
            <a:off x="6708815" y="3722131"/>
            <a:ext cx="374924" cy="696307"/>
          </a:xfrm>
          <a:prstGeom prst="corner">
            <a:avLst/>
          </a:pr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226" name="Rectangle 225">
            <a:extLst>
              <a:ext uri="{FF2B5EF4-FFF2-40B4-BE49-F238E27FC236}">
                <a16:creationId xmlns:a16="http://schemas.microsoft.com/office/drawing/2014/main" id="{17DA29F2-9AA4-41B3-8E1E-37D6597CF3E9}"/>
              </a:ext>
            </a:extLst>
          </p:cNvPr>
          <p:cNvSpPr/>
          <p:nvPr/>
        </p:nvSpPr>
        <p:spPr bwMode="auto">
          <a:xfrm>
            <a:off x="6252859" y="4259227"/>
            <a:ext cx="537640" cy="148821"/>
          </a:xfrm>
          <a:prstGeom prst="rect">
            <a:avLst/>
          </a:prstGeom>
          <a:solidFill>
            <a:schemeClr val="accent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228" name="Freeform 131">
            <a:extLst>
              <a:ext uri="{FF2B5EF4-FFF2-40B4-BE49-F238E27FC236}">
                <a16:creationId xmlns:a16="http://schemas.microsoft.com/office/drawing/2014/main" id="{51066CDB-4AA0-45E0-AB75-835F28AEF841}"/>
              </a:ext>
            </a:extLst>
          </p:cNvPr>
          <p:cNvSpPr/>
          <p:nvPr/>
        </p:nvSpPr>
        <p:spPr bwMode="auto">
          <a:xfrm>
            <a:off x="5922293" y="3279013"/>
            <a:ext cx="317645" cy="431658"/>
          </a:xfrm>
          <a:custGeom>
            <a:avLst/>
            <a:gdLst>
              <a:gd name="connsiteX0" fmla="*/ 9636 w 317645"/>
              <a:gd name="connsiteY0" fmla="*/ 163629 h 431658"/>
              <a:gd name="connsiteX1" fmla="*/ 11 w 317645"/>
              <a:gd name="connsiteY1" fmla="*/ 269507 h 431658"/>
              <a:gd name="connsiteX2" fmla="*/ 298394 w 317645"/>
              <a:gd name="connsiteY2" fmla="*/ 404261 h 431658"/>
              <a:gd name="connsiteX3" fmla="*/ 308019 w 317645"/>
              <a:gd name="connsiteY3" fmla="*/ 250256 h 431658"/>
              <a:gd name="connsiteX4" fmla="*/ 317645 w 317645"/>
              <a:gd name="connsiteY4" fmla="*/ 221381 h 431658"/>
              <a:gd name="connsiteX5" fmla="*/ 308019 w 317645"/>
              <a:gd name="connsiteY5" fmla="*/ 115503 h 431658"/>
              <a:gd name="connsiteX6" fmla="*/ 298394 w 317645"/>
              <a:gd name="connsiteY6" fmla="*/ 86627 h 431658"/>
              <a:gd name="connsiteX7" fmla="*/ 298394 w 317645"/>
              <a:gd name="connsiteY7" fmla="*/ 0 h 4316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7645" h="431658">
                <a:moveTo>
                  <a:pt x="9636" y="163629"/>
                </a:moveTo>
                <a:cubicBezTo>
                  <a:pt x="6428" y="198922"/>
                  <a:pt x="11" y="234069"/>
                  <a:pt x="11" y="269507"/>
                </a:cubicBezTo>
                <a:cubicBezTo>
                  <a:pt x="11" y="510513"/>
                  <a:pt x="-6562" y="414426"/>
                  <a:pt x="298394" y="404261"/>
                </a:cubicBezTo>
                <a:cubicBezTo>
                  <a:pt x="301602" y="352926"/>
                  <a:pt x="302634" y="301409"/>
                  <a:pt x="308019" y="250256"/>
                </a:cubicBezTo>
                <a:cubicBezTo>
                  <a:pt x="309081" y="240166"/>
                  <a:pt x="317645" y="231527"/>
                  <a:pt x="317645" y="221381"/>
                </a:cubicBezTo>
                <a:cubicBezTo>
                  <a:pt x="317645" y="185943"/>
                  <a:pt x="313031" y="150585"/>
                  <a:pt x="308019" y="115503"/>
                </a:cubicBezTo>
                <a:cubicBezTo>
                  <a:pt x="306584" y="105459"/>
                  <a:pt x="299237" y="96738"/>
                  <a:pt x="298394" y="86627"/>
                </a:cubicBezTo>
                <a:cubicBezTo>
                  <a:pt x="295996" y="57851"/>
                  <a:pt x="298394" y="28876"/>
                  <a:pt x="298394" y="0"/>
                </a:cubicBezTo>
              </a:path>
            </a:pathLst>
          </a:cu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endParaRPr lang="en-US"/>
          </a:p>
        </p:txBody>
      </p:sp>
      <p:sp>
        <p:nvSpPr>
          <p:cNvPr id="229" name="Freeform 132">
            <a:extLst>
              <a:ext uri="{FF2B5EF4-FFF2-40B4-BE49-F238E27FC236}">
                <a16:creationId xmlns:a16="http://schemas.microsoft.com/office/drawing/2014/main" id="{195AFF6F-9589-44E0-B45D-6BF1A14C8F39}"/>
              </a:ext>
            </a:extLst>
          </p:cNvPr>
          <p:cNvSpPr/>
          <p:nvPr/>
        </p:nvSpPr>
        <p:spPr bwMode="auto">
          <a:xfrm>
            <a:off x="6878427" y="3279013"/>
            <a:ext cx="362450" cy="472492"/>
          </a:xfrm>
          <a:custGeom>
            <a:avLst/>
            <a:gdLst>
              <a:gd name="connsiteX0" fmla="*/ 16029 w 463429"/>
              <a:gd name="connsiteY0" fmla="*/ 385011 h 405116"/>
              <a:gd name="connsiteX1" fmla="*/ 314413 w 463429"/>
              <a:gd name="connsiteY1" fmla="*/ 385011 h 405116"/>
              <a:gd name="connsiteX2" fmla="*/ 343288 w 463429"/>
              <a:gd name="connsiteY2" fmla="*/ 375386 h 405116"/>
              <a:gd name="connsiteX3" fmla="*/ 429916 w 463429"/>
              <a:gd name="connsiteY3" fmla="*/ 327259 h 405116"/>
              <a:gd name="connsiteX4" fmla="*/ 449166 w 463429"/>
              <a:gd name="connsiteY4" fmla="*/ 298384 h 405116"/>
              <a:gd name="connsiteX5" fmla="*/ 449166 w 463429"/>
              <a:gd name="connsiteY5" fmla="*/ 125129 h 405116"/>
              <a:gd name="connsiteX6" fmla="*/ 391415 w 463429"/>
              <a:gd name="connsiteY6" fmla="*/ 105878 h 405116"/>
              <a:gd name="connsiteX7" fmla="*/ 362539 w 463429"/>
              <a:gd name="connsiteY7" fmla="*/ 86628 h 405116"/>
              <a:gd name="connsiteX8" fmla="*/ 295162 w 463429"/>
              <a:gd name="connsiteY8" fmla="*/ 77003 h 405116"/>
              <a:gd name="connsiteX9" fmla="*/ 237411 w 463429"/>
              <a:gd name="connsiteY9" fmla="*/ 57752 h 405116"/>
              <a:gd name="connsiteX10" fmla="*/ 131533 w 463429"/>
              <a:gd name="connsiteY10" fmla="*/ 0 h 405116"/>
              <a:gd name="connsiteX11" fmla="*/ 112282 w 463429"/>
              <a:gd name="connsiteY11" fmla="*/ 57752 h 405116"/>
              <a:gd name="connsiteX12" fmla="*/ 73781 w 463429"/>
              <a:gd name="connsiteY12" fmla="*/ 115504 h 405116"/>
              <a:gd name="connsiteX13" fmla="*/ 64156 w 463429"/>
              <a:gd name="connsiteY13" fmla="*/ 144379 h 405116"/>
              <a:gd name="connsiteX14" fmla="*/ 44905 w 463429"/>
              <a:gd name="connsiteY14" fmla="*/ 173255 h 405116"/>
              <a:gd name="connsiteX15" fmla="*/ 16029 w 463429"/>
              <a:gd name="connsiteY15" fmla="*/ 385011 h 405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3429" h="405116">
                <a:moveTo>
                  <a:pt x="16029" y="385011"/>
                </a:moveTo>
                <a:cubicBezTo>
                  <a:pt x="60947" y="420304"/>
                  <a:pt x="180289" y="401776"/>
                  <a:pt x="314413" y="385011"/>
                </a:cubicBezTo>
                <a:cubicBezTo>
                  <a:pt x="324480" y="383753"/>
                  <a:pt x="333663" y="378594"/>
                  <a:pt x="343288" y="375386"/>
                </a:cubicBezTo>
                <a:cubicBezTo>
                  <a:pt x="409482" y="331257"/>
                  <a:pt x="379091" y="344202"/>
                  <a:pt x="429916" y="327259"/>
                </a:cubicBezTo>
                <a:cubicBezTo>
                  <a:pt x="436333" y="317634"/>
                  <a:pt x="443993" y="308731"/>
                  <a:pt x="449166" y="298384"/>
                </a:cubicBezTo>
                <a:cubicBezTo>
                  <a:pt x="473512" y="249693"/>
                  <a:pt x="462003" y="156305"/>
                  <a:pt x="449166" y="125129"/>
                </a:cubicBezTo>
                <a:cubicBezTo>
                  <a:pt x="441440" y="106366"/>
                  <a:pt x="408299" y="117134"/>
                  <a:pt x="391415" y="105878"/>
                </a:cubicBezTo>
                <a:cubicBezTo>
                  <a:pt x="381790" y="99461"/>
                  <a:pt x="373619" y="89952"/>
                  <a:pt x="362539" y="86628"/>
                </a:cubicBezTo>
                <a:cubicBezTo>
                  <a:pt x="340809" y="80109"/>
                  <a:pt x="317621" y="80211"/>
                  <a:pt x="295162" y="77003"/>
                </a:cubicBezTo>
                <a:cubicBezTo>
                  <a:pt x="275912" y="70586"/>
                  <a:pt x="255560" y="66827"/>
                  <a:pt x="237411" y="57752"/>
                </a:cubicBezTo>
                <a:cubicBezTo>
                  <a:pt x="150061" y="14078"/>
                  <a:pt x="184285" y="35170"/>
                  <a:pt x="131533" y="0"/>
                </a:cubicBezTo>
                <a:lnTo>
                  <a:pt x="112282" y="57752"/>
                </a:lnTo>
                <a:cubicBezTo>
                  <a:pt x="104966" y="79701"/>
                  <a:pt x="73781" y="115504"/>
                  <a:pt x="73781" y="115504"/>
                </a:cubicBezTo>
                <a:cubicBezTo>
                  <a:pt x="70573" y="125129"/>
                  <a:pt x="68693" y="135304"/>
                  <a:pt x="64156" y="144379"/>
                </a:cubicBezTo>
                <a:cubicBezTo>
                  <a:pt x="58982" y="154726"/>
                  <a:pt x="46915" y="161863"/>
                  <a:pt x="44905" y="173255"/>
                </a:cubicBezTo>
                <a:cubicBezTo>
                  <a:pt x="33680" y="236864"/>
                  <a:pt x="-28889" y="349718"/>
                  <a:pt x="16029" y="385011"/>
                </a:cubicBezTo>
                <a:close/>
              </a:path>
            </a:pathLst>
          </a:cu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230" name="Flowchart: Magnetic Disk 229">
            <a:extLst>
              <a:ext uri="{FF2B5EF4-FFF2-40B4-BE49-F238E27FC236}">
                <a16:creationId xmlns:a16="http://schemas.microsoft.com/office/drawing/2014/main" id="{9E24D402-A823-4DA9-A04E-F1BEB57036BA}"/>
              </a:ext>
            </a:extLst>
          </p:cNvPr>
          <p:cNvSpPr/>
          <p:nvPr/>
        </p:nvSpPr>
        <p:spPr bwMode="auto">
          <a:xfrm>
            <a:off x="6101459" y="2400775"/>
            <a:ext cx="951788" cy="158291"/>
          </a:xfrm>
          <a:prstGeom prst="flowChartMagneticDisk">
            <a:avLst/>
          </a:prstGeom>
          <a:solidFill>
            <a:srgbClr val="0000FF"/>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dirty="0">
              <a:ln>
                <a:noFill/>
              </a:ln>
              <a:solidFill>
                <a:schemeClr val="tx1"/>
              </a:solidFill>
              <a:effectLst/>
              <a:highlight>
                <a:srgbClr val="FFFF00"/>
              </a:highlight>
              <a:latin typeface="Times New Roman" pitchFamily="18" charset="0"/>
              <a:ea typeface="ＭＳ Ｐゴシック" charset="-128"/>
            </a:endParaRPr>
          </a:p>
        </p:txBody>
      </p:sp>
      <p:grpSp>
        <p:nvGrpSpPr>
          <p:cNvPr id="231" name="Group 230">
            <a:extLst>
              <a:ext uri="{FF2B5EF4-FFF2-40B4-BE49-F238E27FC236}">
                <a16:creationId xmlns:a16="http://schemas.microsoft.com/office/drawing/2014/main" id="{E9B8EEF1-B102-43B8-B22A-4B27444D6AC9}"/>
              </a:ext>
            </a:extLst>
          </p:cNvPr>
          <p:cNvGrpSpPr/>
          <p:nvPr/>
        </p:nvGrpSpPr>
        <p:grpSpPr>
          <a:xfrm>
            <a:off x="7492505" y="2370436"/>
            <a:ext cx="504056" cy="832741"/>
            <a:chOff x="1289743" y="1331264"/>
            <a:chExt cx="504056" cy="1078414"/>
          </a:xfrm>
        </p:grpSpPr>
        <p:sp>
          <p:nvSpPr>
            <p:cNvPr id="232" name="Can 161">
              <a:extLst>
                <a:ext uri="{FF2B5EF4-FFF2-40B4-BE49-F238E27FC236}">
                  <a16:creationId xmlns:a16="http://schemas.microsoft.com/office/drawing/2014/main" id="{966F47FE-3981-4EC4-8AB7-5194B2499CF3}"/>
                </a:ext>
              </a:extLst>
            </p:cNvPr>
            <p:cNvSpPr/>
            <p:nvPr/>
          </p:nvSpPr>
          <p:spPr bwMode="auto">
            <a:xfrm>
              <a:off x="1289743" y="1338572"/>
              <a:ext cx="504056" cy="1071106"/>
            </a:xfrm>
            <a:prstGeom prst="can">
              <a:avLst/>
            </a:prstGeom>
            <a:pattFill prst="openDmnd">
              <a:fgClr>
                <a:schemeClr val="tx1"/>
              </a:fgClr>
              <a:bgClr>
                <a:schemeClr val="bg1"/>
              </a:bgClr>
            </a:patt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grpSp>
          <p:nvGrpSpPr>
            <p:cNvPr id="233" name="Group 232">
              <a:extLst>
                <a:ext uri="{FF2B5EF4-FFF2-40B4-BE49-F238E27FC236}">
                  <a16:creationId xmlns:a16="http://schemas.microsoft.com/office/drawing/2014/main" id="{1A49FCD9-192E-4B8A-8C70-6DAFAA3A2A9F}"/>
                </a:ext>
              </a:extLst>
            </p:cNvPr>
            <p:cNvGrpSpPr/>
            <p:nvPr/>
          </p:nvGrpSpPr>
          <p:grpSpPr>
            <a:xfrm>
              <a:off x="1397755" y="1331264"/>
              <a:ext cx="288032" cy="1071106"/>
              <a:chOff x="3851920" y="2553266"/>
              <a:chExt cx="288032" cy="1071106"/>
            </a:xfrm>
          </p:grpSpPr>
          <p:sp>
            <p:nvSpPr>
              <p:cNvPr id="234" name="Can 163">
                <a:extLst>
                  <a:ext uri="{FF2B5EF4-FFF2-40B4-BE49-F238E27FC236}">
                    <a16:creationId xmlns:a16="http://schemas.microsoft.com/office/drawing/2014/main" id="{9D337317-0C3D-40E7-90E7-07E9D89C422A}"/>
                  </a:ext>
                </a:extLst>
              </p:cNvPr>
              <p:cNvSpPr/>
              <p:nvPr/>
            </p:nvSpPr>
            <p:spPr bwMode="auto">
              <a:xfrm>
                <a:off x="3851920" y="2553266"/>
                <a:ext cx="288032" cy="1071106"/>
              </a:xfrm>
              <a:prstGeom prst="can">
                <a:avLst/>
              </a:prstGeom>
              <a:solidFill>
                <a:schemeClr val="bg2"/>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235" name="Round Diagonal Corner Rectangle 164">
                <a:extLst>
                  <a:ext uri="{FF2B5EF4-FFF2-40B4-BE49-F238E27FC236}">
                    <a16:creationId xmlns:a16="http://schemas.microsoft.com/office/drawing/2014/main" id="{C7278D6D-912B-4694-831E-D7CC26C5B968}"/>
                  </a:ext>
                </a:extLst>
              </p:cNvPr>
              <p:cNvSpPr/>
              <p:nvPr/>
            </p:nvSpPr>
            <p:spPr bwMode="auto">
              <a:xfrm>
                <a:off x="3853691" y="2565950"/>
                <a:ext cx="151870" cy="96690"/>
              </a:xfrm>
              <a:prstGeom prst="round2DiagRect">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grpSp>
      </p:grpSp>
      <p:sp>
        <p:nvSpPr>
          <p:cNvPr id="236" name="Flowchart: Manual Operation 235">
            <a:extLst>
              <a:ext uri="{FF2B5EF4-FFF2-40B4-BE49-F238E27FC236}">
                <a16:creationId xmlns:a16="http://schemas.microsoft.com/office/drawing/2014/main" id="{25988B87-D500-46BB-BBB3-3923F01D7A05}"/>
              </a:ext>
            </a:extLst>
          </p:cNvPr>
          <p:cNvSpPr/>
          <p:nvPr/>
        </p:nvSpPr>
        <p:spPr bwMode="auto">
          <a:xfrm rot="10800000">
            <a:off x="6383420" y="1745645"/>
            <a:ext cx="341468" cy="108896"/>
          </a:xfrm>
          <a:prstGeom prst="flowChartManualOperation">
            <a:avLst/>
          </a:prstGeom>
          <a:solidFill>
            <a:schemeClr val="bg2"/>
          </a:solidFill>
          <a:ln w="9525" cap="flat" cmpd="sng" algn="ctr">
            <a:solidFill>
              <a:schemeClr val="bg2"/>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endParaRPr lang="en-US"/>
          </a:p>
        </p:txBody>
      </p:sp>
      <p:sp>
        <p:nvSpPr>
          <p:cNvPr id="237" name="TextBox 236">
            <a:extLst>
              <a:ext uri="{FF2B5EF4-FFF2-40B4-BE49-F238E27FC236}">
                <a16:creationId xmlns:a16="http://schemas.microsoft.com/office/drawing/2014/main" id="{64428AFD-939A-416E-900A-C1F9B4E06285}"/>
              </a:ext>
            </a:extLst>
          </p:cNvPr>
          <p:cNvSpPr txBox="1"/>
          <p:nvPr/>
        </p:nvSpPr>
        <p:spPr>
          <a:xfrm>
            <a:off x="7271066" y="3257971"/>
            <a:ext cx="1368152" cy="415498"/>
          </a:xfrm>
          <a:prstGeom prst="rect">
            <a:avLst/>
          </a:prstGeom>
          <a:noFill/>
        </p:spPr>
        <p:txBody>
          <a:bodyPr wrap="square" rtlCol="0">
            <a:spAutoFit/>
          </a:bodyPr>
          <a:lstStyle/>
          <a:p>
            <a:r>
              <a:rPr lang="en-US" sz="1050" dirty="0"/>
              <a:t>C-Ring Position checking Gauge</a:t>
            </a:r>
          </a:p>
        </p:txBody>
      </p:sp>
      <p:cxnSp>
        <p:nvCxnSpPr>
          <p:cNvPr id="246" name="Straight Connector 245">
            <a:extLst>
              <a:ext uri="{FF2B5EF4-FFF2-40B4-BE49-F238E27FC236}">
                <a16:creationId xmlns:a16="http://schemas.microsoft.com/office/drawing/2014/main" id="{26A6DC87-6FCB-4740-AEC1-EAB88D928D53}"/>
              </a:ext>
            </a:extLst>
          </p:cNvPr>
          <p:cNvCxnSpPr/>
          <p:nvPr/>
        </p:nvCxnSpPr>
        <p:spPr bwMode="auto">
          <a:xfrm flipH="1">
            <a:off x="6414381" y="3186054"/>
            <a:ext cx="194725" cy="482832"/>
          </a:xfrm>
          <a:prstGeom prst="line">
            <a:avLst/>
          </a:prstGeom>
          <a:solidFill>
            <a:schemeClr val="accent1"/>
          </a:solidFill>
          <a:ln w="285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248" name="Rectangle 247">
            <a:extLst>
              <a:ext uri="{FF2B5EF4-FFF2-40B4-BE49-F238E27FC236}">
                <a16:creationId xmlns:a16="http://schemas.microsoft.com/office/drawing/2014/main" id="{BAE85C80-CC5D-487F-9106-824D960BE0AE}"/>
              </a:ext>
            </a:extLst>
          </p:cNvPr>
          <p:cNvSpPr/>
          <p:nvPr/>
        </p:nvSpPr>
        <p:spPr bwMode="auto">
          <a:xfrm>
            <a:off x="6434906" y="2452355"/>
            <a:ext cx="183275" cy="76874"/>
          </a:xfrm>
          <a:prstGeom prst="rect">
            <a:avLst/>
          </a:pr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253" name="TextBox 252">
            <a:extLst>
              <a:ext uri="{FF2B5EF4-FFF2-40B4-BE49-F238E27FC236}">
                <a16:creationId xmlns:a16="http://schemas.microsoft.com/office/drawing/2014/main" id="{15B5B1F8-9C3E-4AF5-8F41-BB8268D07837}"/>
              </a:ext>
            </a:extLst>
          </p:cNvPr>
          <p:cNvSpPr txBox="1"/>
          <p:nvPr/>
        </p:nvSpPr>
        <p:spPr>
          <a:xfrm>
            <a:off x="2300727" y="1509681"/>
            <a:ext cx="880251" cy="600164"/>
          </a:xfrm>
          <a:prstGeom prst="rect">
            <a:avLst/>
          </a:prstGeom>
          <a:noFill/>
        </p:spPr>
        <p:txBody>
          <a:bodyPr wrap="square" rtlCol="0">
            <a:spAutoFit/>
          </a:bodyPr>
          <a:lstStyle/>
          <a:p>
            <a:r>
              <a:rPr lang="en-US" sz="1100" b="0" dirty="0">
                <a:highlight>
                  <a:srgbClr val="00FF00"/>
                </a:highlight>
              </a:rPr>
              <a:t>Must to Rotate one time</a:t>
            </a:r>
          </a:p>
        </p:txBody>
      </p:sp>
      <p:pic>
        <p:nvPicPr>
          <p:cNvPr id="1028" name="Picture 4" descr="Check mark and cross mark icon. Yes and No or Approved and Declined or Right and Wrong square icons symbol. Green tick and red cross icon isolated on white background. Simple image.">
            <a:extLst>
              <a:ext uri="{FF2B5EF4-FFF2-40B4-BE49-F238E27FC236}">
                <a16:creationId xmlns:a16="http://schemas.microsoft.com/office/drawing/2014/main" id="{971EE91C-CEC2-4856-B1B2-F6400DA1667E}"/>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50006"/>
          <a:stretch/>
        </p:blipFill>
        <p:spPr bwMode="auto">
          <a:xfrm>
            <a:off x="8243904" y="1294955"/>
            <a:ext cx="727385" cy="727476"/>
          </a:xfrm>
          <a:prstGeom prst="rect">
            <a:avLst/>
          </a:prstGeom>
          <a:noFill/>
          <a:extLst>
            <a:ext uri="{909E8E84-426E-40DD-AFC4-6F175D3DCCD1}">
              <a14:hiddenFill xmlns:a14="http://schemas.microsoft.com/office/drawing/2010/main">
                <a:solidFill>
                  <a:srgbClr val="FFFFFF"/>
                </a:solidFill>
              </a14:hiddenFill>
            </a:ext>
          </a:extLst>
        </p:spPr>
      </p:pic>
      <p:pic>
        <p:nvPicPr>
          <p:cNvPr id="254" name="Picture 4" descr="Check mark and cross mark icon. Yes and No or Approved and Declined or Right and Wrong square icons symbol. Green tick and red cross icon isolated on white background. Simple image.">
            <a:extLst>
              <a:ext uri="{FF2B5EF4-FFF2-40B4-BE49-F238E27FC236}">
                <a16:creationId xmlns:a16="http://schemas.microsoft.com/office/drawing/2014/main" id="{BFA60BE9-6337-4A14-A836-F7D5A75DB421}"/>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r="50942"/>
          <a:stretch/>
        </p:blipFill>
        <p:spPr bwMode="auto">
          <a:xfrm>
            <a:off x="3132154" y="1295776"/>
            <a:ext cx="681066" cy="694142"/>
          </a:xfrm>
          <a:prstGeom prst="rect">
            <a:avLst/>
          </a:prstGeom>
          <a:noFill/>
          <a:extLst>
            <a:ext uri="{909E8E84-426E-40DD-AFC4-6F175D3DCCD1}">
              <a14:hiddenFill xmlns:a14="http://schemas.microsoft.com/office/drawing/2010/main">
                <a:solidFill>
                  <a:srgbClr val="FFFFFF"/>
                </a:solidFill>
              </a14:hiddenFill>
            </a:ext>
          </a:extLst>
        </p:spPr>
      </p:pic>
      <p:sp>
        <p:nvSpPr>
          <p:cNvPr id="255" name="TextBox 254">
            <a:extLst>
              <a:ext uri="{FF2B5EF4-FFF2-40B4-BE49-F238E27FC236}">
                <a16:creationId xmlns:a16="http://schemas.microsoft.com/office/drawing/2014/main" id="{17BBCD3B-3FB9-4116-A7E4-576D33DB1A1E}"/>
              </a:ext>
            </a:extLst>
          </p:cNvPr>
          <p:cNvSpPr txBox="1"/>
          <p:nvPr/>
        </p:nvSpPr>
        <p:spPr>
          <a:xfrm>
            <a:off x="7026096" y="1495945"/>
            <a:ext cx="880251" cy="430887"/>
          </a:xfrm>
          <a:prstGeom prst="rect">
            <a:avLst/>
          </a:prstGeom>
          <a:noFill/>
        </p:spPr>
        <p:txBody>
          <a:bodyPr wrap="square" rtlCol="0">
            <a:spAutoFit/>
          </a:bodyPr>
          <a:lstStyle/>
          <a:p>
            <a:r>
              <a:rPr lang="en-US" sz="1100" b="0" dirty="0">
                <a:highlight>
                  <a:srgbClr val="FF00FF"/>
                </a:highlight>
              </a:rPr>
              <a:t>Failed to Rotate </a:t>
            </a:r>
          </a:p>
        </p:txBody>
      </p:sp>
    </p:spTree>
    <p:extLst>
      <p:ext uri="{BB962C8B-B14F-4D97-AF65-F5344CB8AC3E}">
        <p14:creationId xmlns:p14="http://schemas.microsoft.com/office/powerpoint/2010/main" val="4283710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0.00017 -0.11413 L -0.00017 -0.11389 C -3.61111E-6 -0.11575 0.00018 -0.11737 0.00052 -0.11922 C 0.00052 -0.11991 0.00105 -0.12014 0.00122 -0.12061 C 0.00157 -0.12385 0.00157 -0.12709 0.00209 -0.13033 C 0.00157 -0.14028 0.00174 -0.14977 0.00122 -0.15996 C 0.00105 -0.16112 0.00018 -0.16204 -0.00017 -0.16343 C -0.00086 -0.16482 -0.00086 -0.16551 -0.00156 -0.1669 C -0.00208 -0.16783 -0.0026 -0.16875 -0.00295 -0.16991 C -0.00347 -0.17084 -0.00399 -0.172 -0.00434 -0.17292 C -0.00468 -0.17338 -0.00486 -0.17385 -0.00503 -0.17431 C -0.00538 -0.17593 -0.00573 -0.17732 -0.00625 -0.17825 C -0.00677 -0.17917 -0.00729 -0.17987 -0.00764 -0.18056 C -0.00798 -0.18079 -0.00816 -0.18195 -0.00833 -0.18241 C -0.00885 -0.18264 -0.00954 -0.18334 -0.00972 -0.1838 C -0.01041 -0.18473 -0.01024 -0.18612 -0.01111 -0.18704 C -0.0125 -0.18843 -0.01354 -0.18889 -0.01441 -0.19028 C -0.01475 -0.19051 -0.01493 -0.19121 -0.0151 -0.1919 C -0.01562 -0.1926 -0.01614 -0.19283 -0.01649 -0.19329 C -0.01684 -0.19375 -0.01684 -0.19491 -0.01718 -0.19514 C -0.01805 -0.1963 -0.01927 -0.197 -0.01979 -0.19838 C -0.01996 -0.19838 -0.01996 -0.19931 -0.02031 -0.19977 C -0.02118 -0.20163 -0.02257 -0.20186 -0.02309 -0.20325 C -0.02343 -0.20371 -0.02343 -0.2044 -0.02378 -0.20463 C -0.02448 -0.2051 -0.02534 -0.20556 -0.02586 -0.20579 C -0.02656 -0.20625 -0.02725 -0.20718 -0.02777 -0.20741 C -0.02864 -0.20834 -0.02916 -0.2088 -0.02986 -0.20973 C -0.03125 -0.21042 -0.03246 -0.21112 -0.03385 -0.21112 C -0.03524 -0.21227 -0.03628 -0.21413 -0.03802 -0.21482 C -0.04079 -0.21528 -0.03958 -0.21482 -0.04201 -0.21621 C -0.0434 -0.2176 -0.04323 -0.2176 -0.04548 -0.21922 C -0.04618 -0.21922 -0.04687 -0.21922 -0.04739 -0.21945 C -0.04895 -0.22014 -0.05017 -0.22084 -0.05156 -0.22153 C -0.05225 -0.222 -0.05295 -0.22223 -0.05364 -0.22269 C -0.05451 -0.22269 -0.05538 -0.22292 -0.05625 -0.22315 C -0.06024 -0.22362 -0.05989 -0.22362 -0.06371 -0.22431 C -0.06475 -0.22431 -0.06597 -0.22454 -0.06701 -0.22477 C -0.06736 -0.22477 -0.09566 -0.22593 -0.10555 -0.22315 C -0.11007 -0.222 -0.10451 -0.22338 -0.11076 -0.222 C -0.11163 -0.222 -0.11215 -0.22176 -0.11284 -0.22153 C -0.11389 -0.22153 -0.11475 -0.22153 -0.11562 -0.22084 C -0.11701 -0.22061 -0.11823 -0.22038 -0.11961 -0.22014 L -0.1217 -0.21945 C -0.12274 -0.21806 -0.12378 -0.2169 -0.125 -0.21551 C -0.12569 -0.21505 -0.12639 -0.21482 -0.12708 -0.21413 C -0.1276 -0.21297 -0.12829 -0.21158 -0.12847 -0.21042 C -0.12951 -0.2051 -0.12916 -0.20857 -0.12951 -0.20163 C -0.12951 -0.19538 -0.12951 -0.18913 -0.12916 -0.18264 C -0.12864 -0.172 -0.12795 -0.18982 -0.12777 -0.17385 C -0.1276 -0.15186 -0.12777 -0.1294 -0.12777 -0.10718 L -0.12777 -0.10625 " pathEditMode="relative" rAng="0" ptsTypes="AAAAAAAAAAAAAAAAAAAAAAAAAAAAAAAAAAAAAAAAAAAAAAAAAAA">
                                      <p:cBhvr>
                                        <p:cTn id="6" dur="2000" fill="hold"/>
                                        <p:tgtEl>
                                          <p:spTgt spid="161"/>
                                        </p:tgtEl>
                                        <p:attrNameLst>
                                          <p:attrName>ppt_x</p:attrName>
                                          <p:attrName>ppt_y</p:attrName>
                                        </p:attrNameLst>
                                      </p:cBhvr>
                                      <p:rCtr x="-6354" y="-5162"/>
                                    </p:animMotion>
                                  </p:childTnLst>
                                </p:cTn>
                              </p:par>
                              <p:par>
                                <p:cTn id="7" presetID="1" presetClass="exit" presetSubtype="0" fill="hold" grpId="0" nodeType="withEffect">
                                  <p:stCondLst>
                                    <p:cond delay="0"/>
                                  </p:stCondLst>
                                  <p:childTnLst>
                                    <p:set>
                                      <p:cBhvr>
                                        <p:cTn id="8" dur="1" fill="hold">
                                          <p:stCondLst>
                                            <p:cond delay="0"/>
                                          </p:stCondLst>
                                        </p:cTn>
                                        <p:tgtEl>
                                          <p:spTgt spid="167"/>
                                        </p:tgtEl>
                                        <p:attrNameLst>
                                          <p:attrName>style.visibility</p:attrName>
                                        </p:attrNameLst>
                                      </p:cBhvr>
                                      <p:to>
                                        <p:strVal val="hidden"/>
                                      </p:to>
                                    </p:set>
                                  </p:childTnLst>
                                </p:cTn>
                              </p:par>
                              <p:par>
                                <p:cTn id="9" presetID="1" presetClass="exit" presetSubtype="0" fill="hold" grpId="0" nodeType="withEffect">
                                  <p:stCondLst>
                                    <p:cond delay="0"/>
                                  </p:stCondLst>
                                  <p:childTnLst>
                                    <p:set>
                                      <p:cBhvr>
                                        <p:cTn id="10" dur="1" fill="hold">
                                          <p:stCondLst>
                                            <p:cond delay="0"/>
                                          </p:stCondLst>
                                        </p:cTn>
                                        <p:tgtEl>
                                          <p:spTgt spid="187"/>
                                        </p:tgtEl>
                                        <p:attrNameLst>
                                          <p:attrName>style.visibility</p:attrName>
                                        </p:attrNameLst>
                                      </p:cBhvr>
                                      <p:to>
                                        <p:strVal val="hidden"/>
                                      </p:to>
                                    </p:set>
                                  </p:childTnLst>
                                </p:cTn>
                              </p:par>
                              <p:par>
                                <p:cTn id="11" presetID="1" presetClass="exit" presetSubtype="0" fill="hold" grpId="0" nodeType="withEffect">
                                  <p:stCondLst>
                                    <p:cond delay="0"/>
                                  </p:stCondLst>
                                  <p:childTnLst>
                                    <p:set>
                                      <p:cBhvr>
                                        <p:cTn id="12" dur="1" fill="hold">
                                          <p:stCondLst>
                                            <p:cond delay="0"/>
                                          </p:stCondLst>
                                        </p:cTn>
                                        <p:tgtEl>
                                          <p:spTgt spid="188"/>
                                        </p:tgtEl>
                                        <p:attrNameLst>
                                          <p:attrName>style.visibility</p:attrName>
                                        </p:attrNameLst>
                                      </p:cBhvr>
                                      <p:to>
                                        <p:strVal val="hidden"/>
                                      </p:to>
                                    </p:set>
                                  </p:childTnLst>
                                </p:cTn>
                              </p:par>
                              <p:par>
                                <p:cTn id="13" presetID="55" presetClass="exit" presetSubtype="0" repeatCount="2000" fill="hold" nodeType="withEffect">
                                  <p:stCondLst>
                                    <p:cond delay="1500"/>
                                  </p:stCondLst>
                                  <p:childTnLst>
                                    <p:anim calcmode="lin" valueType="num">
                                      <p:cBhvr>
                                        <p:cTn id="14" dur="1000"/>
                                        <p:tgtEl>
                                          <p:spTgt spid="161"/>
                                        </p:tgtEl>
                                        <p:attrNameLst>
                                          <p:attrName>ppt_w</p:attrName>
                                        </p:attrNameLst>
                                      </p:cBhvr>
                                      <p:tavLst>
                                        <p:tav tm="0">
                                          <p:val>
                                            <p:strVal val="ppt_w"/>
                                          </p:val>
                                        </p:tav>
                                        <p:tav tm="100000">
                                          <p:val>
                                            <p:strVal val="ppt_w*0.70"/>
                                          </p:val>
                                        </p:tav>
                                      </p:tavLst>
                                    </p:anim>
                                    <p:anim calcmode="lin" valueType="num">
                                      <p:cBhvr>
                                        <p:cTn id="15" dur="1000"/>
                                        <p:tgtEl>
                                          <p:spTgt spid="161"/>
                                        </p:tgtEl>
                                        <p:attrNameLst>
                                          <p:attrName>ppt_h</p:attrName>
                                        </p:attrNameLst>
                                      </p:cBhvr>
                                      <p:tavLst>
                                        <p:tav tm="0">
                                          <p:val>
                                            <p:strVal val="ppt_h"/>
                                          </p:val>
                                        </p:tav>
                                        <p:tav tm="100000">
                                          <p:val>
                                            <p:strVal val="ppt_h"/>
                                          </p:val>
                                        </p:tav>
                                      </p:tavLst>
                                    </p:anim>
                                    <p:animEffect transition="out" filter="fade">
                                      <p:cBhvr>
                                        <p:cTn id="16" dur="1000"/>
                                        <p:tgtEl>
                                          <p:spTgt spid="161"/>
                                        </p:tgtEl>
                                      </p:cBhvr>
                                    </p:animEffect>
                                    <p:set>
                                      <p:cBhvr>
                                        <p:cTn id="17" dur="1" fill="hold">
                                          <p:stCondLst>
                                            <p:cond delay="999"/>
                                          </p:stCondLst>
                                        </p:cTn>
                                        <p:tgtEl>
                                          <p:spTgt spid="161"/>
                                        </p:tgtEl>
                                        <p:attrNameLst>
                                          <p:attrName>style.visibility</p:attrName>
                                        </p:attrNameLst>
                                      </p:cBhvr>
                                      <p:to>
                                        <p:strVal val="hidden"/>
                                      </p:to>
                                    </p:set>
                                  </p:childTnLst>
                                </p:cTn>
                              </p:par>
                              <p:par>
                                <p:cTn id="18" presetID="1" presetClass="entr" presetSubtype="0" fill="hold" nodeType="withEffect">
                                  <p:stCondLst>
                                    <p:cond delay="2500"/>
                                  </p:stCondLst>
                                  <p:childTnLst>
                                    <p:set>
                                      <p:cBhvr>
                                        <p:cTn id="19" dur="1" fill="hold">
                                          <p:stCondLst>
                                            <p:cond delay="0"/>
                                          </p:stCondLst>
                                        </p:cTn>
                                        <p:tgtEl>
                                          <p:spTgt spid="161"/>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0" presetClass="path" presetSubtype="0" accel="50000" decel="50000" fill="hold" nodeType="clickEffect">
                                  <p:stCondLst>
                                    <p:cond delay="0"/>
                                  </p:stCondLst>
                                  <p:childTnLst>
                                    <p:animMotion origin="layout" path="M -0.00017 -0.11412 L -0.00017 -0.11389 C 5E-6 -0.11574 0.00018 -0.11736 0.00052 -0.11921 C 0.00052 -0.11991 0.00105 -0.12014 0.00122 -0.1206 C 0.00157 -0.12384 0.00157 -0.12708 0.00209 -0.13032 C 0.00157 -0.14028 0.00174 -0.14977 0.00122 -0.15995 C 0.00105 -0.16111 0.00018 -0.16204 -0.00017 -0.16343 C -0.00087 -0.16481 -0.00087 -0.16551 -0.00157 -0.1669 C -0.00208 -0.16782 -0.0026 -0.16875 -0.00295 -0.16991 C -0.00348 -0.17083 -0.00399 -0.17199 -0.00435 -0.17292 C -0.00468 -0.17338 -0.00487 -0.17384 -0.00503 -0.17431 C -0.00538 -0.17593 -0.00572 -0.17731 -0.00624 -0.17824 C -0.00677 -0.17917 -0.0073 -0.17986 -0.00763 -0.18056 C -0.00798 -0.18079 -0.00815 -0.18194 -0.00833 -0.18241 C -0.00885 -0.18264 -0.00955 -0.18333 -0.00972 -0.1838 C -0.01042 -0.18472 -0.01024 -0.18611 -0.01112 -0.18704 C -0.0125 -0.18843 -0.01355 -0.18889 -0.01441 -0.19028 C -0.01476 -0.19051 -0.01493 -0.1912 -0.0151 -0.1919 C -0.01563 -0.19259 -0.01615 -0.19282 -0.0165 -0.19329 C -0.01685 -0.19375 -0.01685 -0.19491 -0.01718 -0.19514 C -0.01805 -0.1963 -0.01927 -0.19699 -0.0198 -0.19838 C -0.01997 -0.19838 -0.01997 -0.19931 -0.02032 -0.19977 C -0.02118 -0.20162 -0.02257 -0.20185 -0.0231 -0.20324 C -0.02344 -0.2037 -0.02344 -0.2044 -0.02378 -0.20463 C -0.02448 -0.20509 -0.02535 -0.20556 -0.02587 -0.20579 C -0.02657 -0.20625 -0.02725 -0.20718 -0.02778 -0.20741 C -0.02865 -0.20833 -0.02917 -0.2088 -0.02987 -0.20972 C -0.03125 -0.21042 -0.03247 -0.21111 -0.03386 -0.21111 C -0.03525 -0.21227 -0.03629 -0.21412 -0.03803 -0.21481 C -0.0408 -0.21528 -0.03959 -0.21481 -0.04202 -0.2162 C -0.04341 -0.21759 -0.04322 -0.21759 -0.04549 -0.21921 C -0.04618 -0.21921 -0.04688 -0.21921 -0.0474 -0.21944 C -0.04896 -0.22014 -0.05018 -0.22083 -0.05157 -0.22153 C -0.05225 -0.22199 -0.05296 -0.22222 -0.05365 -0.22269 C -0.05452 -0.22269 -0.05539 -0.22292 -0.05625 -0.22315 C -0.06025 -0.22361 -0.0599 -0.22361 -0.06372 -0.22431 C -0.06476 -0.22431 -0.06598 -0.22454 -0.06702 -0.22477 C -0.06737 -0.22477 -0.09565 -0.22593 -0.10556 -0.22315 C -0.11007 -0.22199 -0.10452 -0.22338 -0.11077 -0.22199 C -0.11164 -0.22199 -0.11216 -0.22176 -0.11285 -0.22153 C -0.11389 -0.22153 -0.11476 -0.22153 -0.11563 -0.22083 C -0.11702 -0.2206 -0.11823 -0.22037 -0.11962 -0.22014 L -0.12171 -0.21944 C -0.12275 -0.21806 -0.12379 -0.2169 -0.125 -0.21551 C -0.1257 -0.21505 -0.12639 -0.21481 -0.12709 -0.21412 C -0.12761 -0.21296 -0.1283 -0.21157 -0.12848 -0.21042 C -0.12952 -0.20509 -0.12917 -0.20856 -0.12952 -0.20162 C -0.12952 -0.19537 -0.12952 -0.18912 -0.12917 -0.18264 C -0.12865 -0.17199 -0.12796 -0.18981 -0.12778 -0.17384 C -0.12761 -0.15185 -0.12778 -0.1294 -0.12778 -0.10718 L -0.12778 -0.10625 " pathEditMode="relative" rAng="0" ptsTypes="AAAAAAAAAAAAAAAAAAAAAAAAAAAAAAAAAAAAAAAAAAAAAAAAAAA">
                                      <p:cBhvr>
                                        <p:cTn id="23" dur="2000" fill="hold"/>
                                        <p:tgtEl>
                                          <p:spTgt spid="231"/>
                                        </p:tgtEl>
                                        <p:attrNameLst>
                                          <p:attrName>ppt_x</p:attrName>
                                          <p:attrName>ppt_y</p:attrName>
                                        </p:attrNameLst>
                                      </p:cBhvr>
                                      <p:rCtr x="-6354" y="-5162"/>
                                    </p:animMotion>
                                  </p:childTnLst>
                                </p:cTn>
                              </p:par>
                              <p:par>
                                <p:cTn id="24" presetID="1" presetClass="exit" presetSubtype="0" fill="hold" grpId="0" nodeType="withEffect">
                                  <p:stCondLst>
                                    <p:cond delay="0"/>
                                  </p:stCondLst>
                                  <p:childTnLst>
                                    <p:set>
                                      <p:cBhvr>
                                        <p:cTn id="25" dur="1" fill="hold">
                                          <p:stCondLst>
                                            <p:cond delay="0"/>
                                          </p:stCondLst>
                                        </p:cTn>
                                        <p:tgtEl>
                                          <p:spTgt spid="23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 grpId="0"/>
      <p:bldP spid="187" grpId="0"/>
      <p:bldP spid="188" grpId="0"/>
      <p:bldP spid="23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Flowchart: Process 37">
            <a:extLst>
              <a:ext uri="{FF2B5EF4-FFF2-40B4-BE49-F238E27FC236}">
                <a16:creationId xmlns:a16="http://schemas.microsoft.com/office/drawing/2014/main" id="{304F43C6-E04B-44CC-904C-D20FB27C6E9D}"/>
              </a:ext>
            </a:extLst>
          </p:cNvPr>
          <p:cNvSpPr/>
          <p:nvPr/>
        </p:nvSpPr>
        <p:spPr bwMode="auto">
          <a:xfrm>
            <a:off x="3707904" y="1147879"/>
            <a:ext cx="289572" cy="2321960"/>
          </a:xfrm>
          <a:prstGeom prst="flowChartProcess">
            <a:avLst/>
          </a:prstGeom>
          <a:solidFill>
            <a:schemeClr val="tx1"/>
          </a:solid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6" name="Rectangle 15">
            <a:extLst>
              <a:ext uri="{FF2B5EF4-FFF2-40B4-BE49-F238E27FC236}">
                <a16:creationId xmlns:a16="http://schemas.microsoft.com/office/drawing/2014/main" id="{DD89F496-D7CE-4CE6-8C31-F55B5D37A0A8}"/>
              </a:ext>
            </a:extLst>
          </p:cNvPr>
          <p:cNvSpPr/>
          <p:nvPr/>
        </p:nvSpPr>
        <p:spPr bwMode="auto">
          <a:xfrm>
            <a:off x="374411" y="1147879"/>
            <a:ext cx="2497490" cy="2001785"/>
          </a:xfrm>
          <a:prstGeom prst="rect">
            <a:avLst/>
          </a:pr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20" name="Text Box 5"/>
          <p:cNvSpPr txBox="1">
            <a:spLocks noChangeArrowheads="1"/>
          </p:cNvSpPr>
          <p:nvPr/>
        </p:nvSpPr>
        <p:spPr bwMode="auto">
          <a:xfrm>
            <a:off x="31692" y="188640"/>
            <a:ext cx="6568198" cy="341551"/>
          </a:xfrm>
          <a:prstGeom prst="rect">
            <a:avLst/>
          </a:prstGeom>
          <a:noFill/>
          <a:ln w="9525">
            <a:noFill/>
            <a:miter lim="800000"/>
            <a:headEnd/>
            <a:tailEnd/>
          </a:ln>
        </p:spPr>
        <p:txBody>
          <a:bodyPr wrap="square" lIns="91357" tIns="45680" rIns="91357" bIns="45680">
            <a:spAutoFit/>
          </a:bodyPr>
          <a:lstStyle>
            <a:defPPr>
              <a:defRPr lang="ja-JP"/>
            </a:defPPr>
            <a:lvl1pPr algn="l">
              <a:lnSpc>
                <a:spcPct val="90000"/>
              </a:lnSpc>
              <a:spcBef>
                <a:spcPct val="20000"/>
              </a:spcBef>
              <a:defRPr sz="1800" b="0">
                <a:latin typeface="Calibri" panose="020F0502020204030204" pitchFamily="34" charset="0"/>
              </a:defRPr>
            </a:lvl1pPr>
          </a:lstStyle>
          <a:p>
            <a:r>
              <a:rPr lang="en-US" dirty="0"/>
              <a:t>Simulation study to recreate the Concern</a:t>
            </a:r>
          </a:p>
        </p:txBody>
      </p:sp>
      <p:sp>
        <p:nvSpPr>
          <p:cNvPr id="8" name="Rectangle 7">
            <a:extLst>
              <a:ext uri="{FF2B5EF4-FFF2-40B4-BE49-F238E27FC236}">
                <a16:creationId xmlns:a16="http://schemas.microsoft.com/office/drawing/2014/main" id="{76A856ED-BF7E-4785-AB81-FAB3E15FE067}"/>
              </a:ext>
            </a:extLst>
          </p:cNvPr>
          <p:cNvSpPr/>
          <p:nvPr/>
        </p:nvSpPr>
        <p:spPr bwMode="auto">
          <a:xfrm>
            <a:off x="2279183" y="1435236"/>
            <a:ext cx="576064" cy="144704"/>
          </a:xfrm>
          <a:prstGeom prst="rect">
            <a:avLst/>
          </a:prstGeom>
          <a:pattFill prst="weave">
            <a:fgClr>
              <a:srgbClr val="C00000"/>
            </a:fgClr>
            <a:bgClr>
              <a:schemeClr val="bg1"/>
            </a:bgClr>
          </a:patt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a:p>
        </p:txBody>
      </p:sp>
      <p:sp>
        <p:nvSpPr>
          <p:cNvPr id="88" name="Rectangle 87">
            <a:extLst>
              <a:ext uri="{FF2B5EF4-FFF2-40B4-BE49-F238E27FC236}">
                <a16:creationId xmlns:a16="http://schemas.microsoft.com/office/drawing/2014/main" id="{A18D2D08-F8C7-4E09-8DE0-7E358BFED43C}"/>
              </a:ext>
            </a:extLst>
          </p:cNvPr>
          <p:cNvSpPr/>
          <p:nvPr/>
        </p:nvSpPr>
        <p:spPr bwMode="auto">
          <a:xfrm>
            <a:off x="2275289" y="1147879"/>
            <a:ext cx="576064" cy="144704"/>
          </a:xfrm>
          <a:prstGeom prst="rect">
            <a:avLst/>
          </a:prstGeom>
          <a:pattFill prst="weave">
            <a:fgClr>
              <a:srgbClr val="C00000"/>
            </a:fgClr>
            <a:bgClr>
              <a:schemeClr val="bg1"/>
            </a:bgClr>
          </a:patt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0" name="Oval 9">
            <a:extLst>
              <a:ext uri="{FF2B5EF4-FFF2-40B4-BE49-F238E27FC236}">
                <a16:creationId xmlns:a16="http://schemas.microsoft.com/office/drawing/2014/main" id="{836AA8CC-623D-467D-B46E-76CE043CB8EE}"/>
              </a:ext>
            </a:extLst>
          </p:cNvPr>
          <p:cNvSpPr/>
          <p:nvPr/>
        </p:nvSpPr>
        <p:spPr bwMode="auto">
          <a:xfrm>
            <a:off x="2471881" y="1274780"/>
            <a:ext cx="182880" cy="182880"/>
          </a:xfrm>
          <a:prstGeom prst="ellipse">
            <a:avLst/>
          </a:prstGeom>
          <a:pattFill prst="pct90">
            <a:fgClr>
              <a:schemeClr val="tx1"/>
            </a:fgClr>
            <a:bgClr>
              <a:schemeClr val="bg1"/>
            </a:bgClr>
          </a:pattFill>
          <a:ln>
            <a:headEnd type="none" w="med" len="med"/>
            <a:tailEnd type="none" w="med" len="med"/>
          </a:ln>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90" name="Rectangle 89">
            <a:extLst>
              <a:ext uri="{FF2B5EF4-FFF2-40B4-BE49-F238E27FC236}">
                <a16:creationId xmlns:a16="http://schemas.microsoft.com/office/drawing/2014/main" id="{3CC182F1-6E8E-433B-9064-5CEF377523DE}"/>
              </a:ext>
            </a:extLst>
          </p:cNvPr>
          <p:cNvSpPr/>
          <p:nvPr/>
        </p:nvSpPr>
        <p:spPr bwMode="auto">
          <a:xfrm>
            <a:off x="2279093" y="3015234"/>
            <a:ext cx="576064" cy="144704"/>
          </a:xfrm>
          <a:prstGeom prst="rect">
            <a:avLst/>
          </a:prstGeom>
          <a:pattFill prst="weave">
            <a:fgClr>
              <a:srgbClr val="C00000"/>
            </a:fgClr>
            <a:bgClr>
              <a:schemeClr val="bg1"/>
            </a:bgClr>
          </a:patt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a:p>
        </p:txBody>
      </p:sp>
      <p:sp>
        <p:nvSpPr>
          <p:cNvPr id="92" name="Rectangle 91">
            <a:extLst>
              <a:ext uri="{FF2B5EF4-FFF2-40B4-BE49-F238E27FC236}">
                <a16:creationId xmlns:a16="http://schemas.microsoft.com/office/drawing/2014/main" id="{2C18EC1F-3F66-446A-9946-706F0C039F5D}"/>
              </a:ext>
            </a:extLst>
          </p:cNvPr>
          <p:cNvSpPr/>
          <p:nvPr/>
        </p:nvSpPr>
        <p:spPr bwMode="auto">
          <a:xfrm>
            <a:off x="2275199" y="2727877"/>
            <a:ext cx="576064" cy="144704"/>
          </a:xfrm>
          <a:prstGeom prst="rect">
            <a:avLst/>
          </a:prstGeom>
          <a:pattFill prst="weave">
            <a:fgClr>
              <a:srgbClr val="C00000"/>
            </a:fgClr>
            <a:bgClr>
              <a:schemeClr val="bg1"/>
            </a:bgClr>
          </a:patt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93" name="Oval 92">
            <a:extLst>
              <a:ext uri="{FF2B5EF4-FFF2-40B4-BE49-F238E27FC236}">
                <a16:creationId xmlns:a16="http://schemas.microsoft.com/office/drawing/2014/main" id="{2F12EAC1-35FE-4FF1-87FD-5BD40955F547}"/>
              </a:ext>
            </a:extLst>
          </p:cNvPr>
          <p:cNvSpPr/>
          <p:nvPr/>
        </p:nvSpPr>
        <p:spPr bwMode="auto">
          <a:xfrm>
            <a:off x="2471791" y="2854778"/>
            <a:ext cx="182880" cy="182880"/>
          </a:xfrm>
          <a:prstGeom prst="ellipse">
            <a:avLst/>
          </a:prstGeom>
          <a:pattFill prst="pct90">
            <a:fgClr>
              <a:schemeClr val="tx1"/>
            </a:fgClr>
            <a:bgClr>
              <a:schemeClr val="bg1"/>
            </a:bgClr>
          </a:pattFill>
          <a:ln>
            <a:headEnd type="none" w="med" len="med"/>
            <a:tailEnd type="none" w="med" len="med"/>
          </a:ln>
          <a:extLst>
            <a:ext uri="{AF507438-7753-43E0-B8FC-AC1667EBCBE1}">
              <a14:hiddenEffects xmlns:a14="http://schemas.microsoft.com/office/drawing/2010/main">
                <a:effectLst>
                  <a:outerShdw dist="35921" dir="2700000" algn="ctr" rotWithShape="0">
                    <a:srgbClr val="808080"/>
                  </a:outerShdw>
                </a:effectLst>
              </a14:hiddenEffects>
            </a:ext>
          </a:extLst>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a:solidFill>
                <a:schemeClr val="tx1"/>
              </a:solidFill>
              <a:latin typeface="Times New Roman" pitchFamily="18" charset="0"/>
              <a:ea typeface="ＭＳ Ｐゴシック" charset="-128"/>
            </a:endParaRPr>
          </a:p>
        </p:txBody>
      </p:sp>
      <p:cxnSp>
        <p:nvCxnSpPr>
          <p:cNvPr id="14" name="Straight Connector 13">
            <a:extLst>
              <a:ext uri="{FF2B5EF4-FFF2-40B4-BE49-F238E27FC236}">
                <a16:creationId xmlns:a16="http://schemas.microsoft.com/office/drawing/2014/main" id="{F5BF2B0D-6750-452F-8FF9-65FF8F34DD88}"/>
              </a:ext>
            </a:extLst>
          </p:cNvPr>
          <p:cNvCxnSpPr>
            <a:stCxn id="92" idx="1"/>
            <a:endCxn id="90" idx="1"/>
          </p:cNvCxnSpPr>
          <p:nvPr/>
        </p:nvCxnSpPr>
        <p:spPr bwMode="auto">
          <a:xfrm>
            <a:off x="2275199" y="2800229"/>
            <a:ext cx="3894" cy="287357"/>
          </a:xfrm>
          <a:prstGeom prst="line">
            <a:avLst/>
          </a:pr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94" name="Straight Connector 93">
            <a:extLst>
              <a:ext uri="{FF2B5EF4-FFF2-40B4-BE49-F238E27FC236}">
                <a16:creationId xmlns:a16="http://schemas.microsoft.com/office/drawing/2014/main" id="{8FCFE74D-B99F-405F-8500-6100C1498119}"/>
              </a:ext>
            </a:extLst>
          </p:cNvPr>
          <p:cNvCxnSpPr/>
          <p:nvPr/>
        </p:nvCxnSpPr>
        <p:spPr bwMode="auto">
          <a:xfrm>
            <a:off x="2855157" y="2800229"/>
            <a:ext cx="3894" cy="287357"/>
          </a:xfrm>
          <a:prstGeom prst="line">
            <a:avLst/>
          </a:pr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95" name="Straight Connector 94">
            <a:extLst>
              <a:ext uri="{FF2B5EF4-FFF2-40B4-BE49-F238E27FC236}">
                <a16:creationId xmlns:a16="http://schemas.microsoft.com/office/drawing/2014/main" id="{0C39A23C-A02B-4B9A-B57E-B7D693871D67}"/>
              </a:ext>
            </a:extLst>
          </p:cNvPr>
          <p:cNvCxnSpPr/>
          <p:nvPr/>
        </p:nvCxnSpPr>
        <p:spPr bwMode="auto">
          <a:xfrm>
            <a:off x="2855247" y="1234073"/>
            <a:ext cx="3894" cy="287357"/>
          </a:xfrm>
          <a:prstGeom prst="line">
            <a:avLst/>
          </a:pr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96" name="Straight Connector 95">
            <a:extLst>
              <a:ext uri="{FF2B5EF4-FFF2-40B4-BE49-F238E27FC236}">
                <a16:creationId xmlns:a16="http://schemas.microsoft.com/office/drawing/2014/main" id="{5A35C6D6-83AD-4F13-960F-2B822D84DD36}"/>
              </a:ext>
            </a:extLst>
          </p:cNvPr>
          <p:cNvCxnSpPr/>
          <p:nvPr/>
        </p:nvCxnSpPr>
        <p:spPr bwMode="auto">
          <a:xfrm>
            <a:off x="2277775" y="1209959"/>
            <a:ext cx="3894" cy="287357"/>
          </a:xfrm>
          <a:prstGeom prst="line">
            <a:avLst/>
          </a:pr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7" name="Freeform: Shape 16">
            <a:extLst>
              <a:ext uri="{FF2B5EF4-FFF2-40B4-BE49-F238E27FC236}">
                <a16:creationId xmlns:a16="http://schemas.microsoft.com/office/drawing/2014/main" id="{6CBA050B-6A84-4126-A780-66B6021B8718}"/>
              </a:ext>
            </a:extLst>
          </p:cNvPr>
          <p:cNvSpPr/>
          <p:nvPr/>
        </p:nvSpPr>
        <p:spPr bwMode="auto">
          <a:xfrm>
            <a:off x="325510" y="1179048"/>
            <a:ext cx="113417" cy="2321960"/>
          </a:xfrm>
          <a:custGeom>
            <a:avLst/>
            <a:gdLst>
              <a:gd name="connsiteX0" fmla="*/ 30823 w 113417"/>
              <a:gd name="connsiteY0" fmla="*/ 0 h 2321960"/>
              <a:gd name="connsiteX1" fmla="*/ 82193 w 113417"/>
              <a:gd name="connsiteY1" fmla="*/ 10274 h 2321960"/>
              <a:gd name="connsiteX2" fmla="*/ 92468 w 113417"/>
              <a:gd name="connsiteY2" fmla="*/ 41097 h 2321960"/>
              <a:gd name="connsiteX3" fmla="*/ 82193 w 113417"/>
              <a:gd name="connsiteY3" fmla="*/ 133564 h 2321960"/>
              <a:gd name="connsiteX4" fmla="*/ 71919 w 113417"/>
              <a:gd name="connsiteY4" fmla="*/ 164387 h 2321960"/>
              <a:gd name="connsiteX5" fmla="*/ 41097 w 113417"/>
              <a:gd name="connsiteY5" fmla="*/ 184935 h 2321960"/>
              <a:gd name="connsiteX6" fmla="*/ 30823 w 113417"/>
              <a:gd name="connsiteY6" fmla="*/ 215758 h 2321960"/>
              <a:gd name="connsiteX7" fmla="*/ 61645 w 113417"/>
              <a:gd name="connsiteY7" fmla="*/ 277403 h 2321960"/>
              <a:gd name="connsiteX8" fmla="*/ 82193 w 113417"/>
              <a:gd name="connsiteY8" fmla="*/ 308225 h 2321960"/>
              <a:gd name="connsiteX9" fmla="*/ 51371 w 113417"/>
              <a:gd name="connsiteY9" fmla="*/ 410967 h 2321960"/>
              <a:gd name="connsiteX10" fmla="*/ 20548 w 113417"/>
              <a:gd name="connsiteY10" fmla="*/ 421241 h 2321960"/>
              <a:gd name="connsiteX11" fmla="*/ 30823 w 113417"/>
              <a:gd name="connsiteY11" fmla="*/ 493160 h 2321960"/>
              <a:gd name="connsiteX12" fmla="*/ 41097 w 113417"/>
              <a:gd name="connsiteY12" fmla="*/ 523982 h 2321960"/>
              <a:gd name="connsiteX13" fmla="*/ 71919 w 113417"/>
              <a:gd name="connsiteY13" fmla="*/ 534256 h 2321960"/>
              <a:gd name="connsiteX14" fmla="*/ 71919 w 113417"/>
              <a:gd name="connsiteY14" fmla="*/ 616450 h 2321960"/>
              <a:gd name="connsiteX15" fmla="*/ 61645 w 113417"/>
              <a:gd name="connsiteY15" fmla="*/ 647272 h 2321960"/>
              <a:gd name="connsiteX16" fmla="*/ 30823 w 113417"/>
              <a:gd name="connsiteY16" fmla="*/ 667820 h 2321960"/>
              <a:gd name="connsiteX17" fmla="*/ 41097 w 113417"/>
              <a:gd name="connsiteY17" fmla="*/ 739740 h 2321960"/>
              <a:gd name="connsiteX18" fmla="*/ 51371 w 113417"/>
              <a:gd name="connsiteY18" fmla="*/ 770562 h 2321960"/>
              <a:gd name="connsiteX19" fmla="*/ 82193 w 113417"/>
              <a:gd name="connsiteY19" fmla="*/ 780836 h 2321960"/>
              <a:gd name="connsiteX20" fmla="*/ 92468 w 113417"/>
              <a:gd name="connsiteY20" fmla="*/ 821933 h 2321960"/>
              <a:gd name="connsiteX21" fmla="*/ 113016 w 113417"/>
              <a:gd name="connsiteY21" fmla="*/ 852755 h 2321960"/>
              <a:gd name="connsiteX22" fmla="*/ 41097 w 113417"/>
              <a:gd name="connsiteY22" fmla="*/ 914400 h 2321960"/>
              <a:gd name="connsiteX23" fmla="*/ 20548 w 113417"/>
              <a:gd name="connsiteY23" fmla="*/ 934949 h 2321960"/>
              <a:gd name="connsiteX24" fmla="*/ 0 w 113417"/>
              <a:gd name="connsiteY24" fmla="*/ 1006868 h 2321960"/>
              <a:gd name="connsiteX25" fmla="*/ 10274 w 113417"/>
              <a:gd name="connsiteY25" fmla="*/ 1058238 h 2321960"/>
              <a:gd name="connsiteX26" fmla="*/ 30823 w 113417"/>
              <a:gd name="connsiteY26" fmla="*/ 1078787 h 2321960"/>
              <a:gd name="connsiteX27" fmla="*/ 41097 w 113417"/>
              <a:gd name="connsiteY27" fmla="*/ 1109609 h 2321960"/>
              <a:gd name="connsiteX28" fmla="*/ 51371 w 113417"/>
              <a:gd name="connsiteY28" fmla="*/ 1212351 h 2321960"/>
              <a:gd name="connsiteX29" fmla="*/ 20548 w 113417"/>
              <a:gd name="connsiteY29" fmla="*/ 1222625 h 2321960"/>
              <a:gd name="connsiteX30" fmla="*/ 20548 w 113417"/>
              <a:gd name="connsiteY30" fmla="*/ 1294544 h 2321960"/>
              <a:gd name="connsiteX31" fmla="*/ 61645 w 113417"/>
              <a:gd name="connsiteY31" fmla="*/ 1335641 h 2321960"/>
              <a:gd name="connsiteX32" fmla="*/ 92468 w 113417"/>
              <a:gd name="connsiteY32" fmla="*/ 1387011 h 2321960"/>
              <a:gd name="connsiteX33" fmla="*/ 102742 w 113417"/>
              <a:gd name="connsiteY33" fmla="*/ 1417834 h 2321960"/>
              <a:gd name="connsiteX34" fmla="*/ 82193 w 113417"/>
              <a:gd name="connsiteY34" fmla="*/ 1438382 h 2321960"/>
              <a:gd name="connsiteX35" fmla="*/ 71919 w 113417"/>
              <a:gd name="connsiteY35" fmla="*/ 1520576 h 2321960"/>
              <a:gd name="connsiteX36" fmla="*/ 10274 w 113417"/>
              <a:gd name="connsiteY36" fmla="*/ 1541124 h 2321960"/>
              <a:gd name="connsiteX37" fmla="*/ 30823 w 113417"/>
              <a:gd name="connsiteY37" fmla="*/ 1602769 h 2321960"/>
              <a:gd name="connsiteX38" fmla="*/ 61645 w 113417"/>
              <a:gd name="connsiteY38" fmla="*/ 1613043 h 2321960"/>
              <a:gd name="connsiteX39" fmla="*/ 113016 w 113417"/>
              <a:gd name="connsiteY39" fmla="*/ 1654140 h 2321960"/>
              <a:gd name="connsiteX40" fmla="*/ 102742 w 113417"/>
              <a:gd name="connsiteY40" fmla="*/ 1684962 h 2321960"/>
              <a:gd name="connsiteX41" fmla="*/ 61645 w 113417"/>
              <a:gd name="connsiteY41" fmla="*/ 1726059 h 2321960"/>
              <a:gd name="connsiteX42" fmla="*/ 51371 w 113417"/>
              <a:gd name="connsiteY42" fmla="*/ 1859623 h 2321960"/>
              <a:gd name="connsiteX43" fmla="*/ 71919 w 113417"/>
              <a:gd name="connsiteY43" fmla="*/ 1921268 h 2321960"/>
              <a:gd name="connsiteX44" fmla="*/ 51371 w 113417"/>
              <a:gd name="connsiteY44" fmla="*/ 1952090 h 2321960"/>
              <a:gd name="connsiteX45" fmla="*/ 20548 w 113417"/>
              <a:gd name="connsiteY45" fmla="*/ 1972638 h 2321960"/>
              <a:gd name="connsiteX46" fmla="*/ 0 w 113417"/>
              <a:gd name="connsiteY46" fmla="*/ 1993187 h 2321960"/>
              <a:gd name="connsiteX47" fmla="*/ 10274 w 113417"/>
              <a:gd name="connsiteY47" fmla="*/ 2024009 h 2321960"/>
              <a:gd name="connsiteX48" fmla="*/ 61645 w 113417"/>
              <a:gd name="connsiteY48" fmla="*/ 2054832 h 2321960"/>
              <a:gd name="connsiteX49" fmla="*/ 41097 w 113417"/>
              <a:gd name="connsiteY49" fmla="*/ 2198670 h 2321960"/>
              <a:gd name="connsiteX50" fmla="*/ 20548 w 113417"/>
              <a:gd name="connsiteY50" fmla="*/ 2219218 h 2321960"/>
              <a:gd name="connsiteX51" fmla="*/ 41097 w 113417"/>
              <a:gd name="connsiteY51" fmla="*/ 2250041 h 2321960"/>
              <a:gd name="connsiteX52" fmla="*/ 71919 w 113417"/>
              <a:gd name="connsiteY52" fmla="*/ 2260315 h 2321960"/>
              <a:gd name="connsiteX53" fmla="*/ 92468 w 113417"/>
              <a:gd name="connsiteY53" fmla="*/ 2321960 h 232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13417" h="2321960">
                <a:moveTo>
                  <a:pt x="30823" y="0"/>
                </a:moveTo>
                <a:cubicBezTo>
                  <a:pt x="47946" y="3425"/>
                  <a:pt x="67663" y="588"/>
                  <a:pt x="82193" y="10274"/>
                </a:cubicBezTo>
                <a:cubicBezTo>
                  <a:pt x="91204" y="16282"/>
                  <a:pt x="92468" y="30267"/>
                  <a:pt x="92468" y="41097"/>
                </a:cubicBezTo>
                <a:cubicBezTo>
                  <a:pt x="92468" y="72109"/>
                  <a:pt x="87292" y="102974"/>
                  <a:pt x="82193" y="133564"/>
                </a:cubicBezTo>
                <a:cubicBezTo>
                  <a:pt x="80412" y="144247"/>
                  <a:pt x="78684" y="155930"/>
                  <a:pt x="71919" y="164387"/>
                </a:cubicBezTo>
                <a:cubicBezTo>
                  <a:pt x="64205" y="174029"/>
                  <a:pt x="51371" y="178086"/>
                  <a:pt x="41097" y="184935"/>
                </a:cubicBezTo>
                <a:cubicBezTo>
                  <a:pt x="37672" y="195209"/>
                  <a:pt x="30823" y="204928"/>
                  <a:pt x="30823" y="215758"/>
                </a:cubicBezTo>
                <a:cubicBezTo>
                  <a:pt x="30823" y="261598"/>
                  <a:pt x="39772" y="250062"/>
                  <a:pt x="61645" y="277403"/>
                </a:cubicBezTo>
                <a:cubicBezTo>
                  <a:pt x="69359" y="287045"/>
                  <a:pt x="75344" y="297951"/>
                  <a:pt x="82193" y="308225"/>
                </a:cubicBezTo>
                <a:cubicBezTo>
                  <a:pt x="77697" y="339697"/>
                  <a:pt x="81515" y="386852"/>
                  <a:pt x="51371" y="410967"/>
                </a:cubicBezTo>
                <a:cubicBezTo>
                  <a:pt x="42914" y="417733"/>
                  <a:pt x="30822" y="417816"/>
                  <a:pt x="20548" y="421241"/>
                </a:cubicBezTo>
                <a:cubicBezTo>
                  <a:pt x="23973" y="445214"/>
                  <a:pt x="26074" y="469414"/>
                  <a:pt x="30823" y="493160"/>
                </a:cubicBezTo>
                <a:cubicBezTo>
                  <a:pt x="32947" y="503779"/>
                  <a:pt x="33439" y="516324"/>
                  <a:pt x="41097" y="523982"/>
                </a:cubicBezTo>
                <a:cubicBezTo>
                  <a:pt x="48755" y="531640"/>
                  <a:pt x="61645" y="530831"/>
                  <a:pt x="71919" y="534256"/>
                </a:cubicBezTo>
                <a:cubicBezTo>
                  <a:pt x="86617" y="578350"/>
                  <a:pt x="86088" y="559773"/>
                  <a:pt x="71919" y="616450"/>
                </a:cubicBezTo>
                <a:cubicBezTo>
                  <a:pt x="69292" y="626956"/>
                  <a:pt x="68410" y="638815"/>
                  <a:pt x="61645" y="647272"/>
                </a:cubicBezTo>
                <a:cubicBezTo>
                  <a:pt x="53931" y="656914"/>
                  <a:pt x="41097" y="660971"/>
                  <a:pt x="30823" y="667820"/>
                </a:cubicBezTo>
                <a:cubicBezTo>
                  <a:pt x="34248" y="691793"/>
                  <a:pt x="36348" y="715994"/>
                  <a:pt x="41097" y="739740"/>
                </a:cubicBezTo>
                <a:cubicBezTo>
                  <a:pt x="43221" y="750359"/>
                  <a:pt x="43713" y="762904"/>
                  <a:pt x="51371" y="770562"/>
                </a:cubicBezTo>
                <a:cubicBezTo>
                  <a:pt x="59029" y="778220"/>
                  <a:pt x="71919" y="777411"/>
                  <a:pt x="82193" y="780836"/>
                </a:cubicBezTo>
                <a:cubicBezTo>
                  <a:pt x="85618" y="794535"/>
                  <a:pt x="86906" y="808954"/>
                  <a:pt x="92468" y="821933"/>
                </a:cubicBezTo>
                <a:cubicBezTo>
                  <a:pt x="97332" y="833282"/>
                  <a:pt x="116408" y="840882"/>
                  <a:pt x="113016" y="852755"/>
                </a:cubicBezTo>
                <a:cubicBezTo>
                  <a:pt x="105688" y="878403"/>
                  <a:pt x="60951" y="898517"/>
                  <a:pt x="41097" y="914400"/>
                </a:cubicBezTo>
                <a:cubicBezTo>
                  <a:pt x="33533" y="920451"/>
                  <a:pt x="27398" y="928099"/>
                  <a:pt x="20548" y="934949"/>
                </a:cubicBezTo>
                <a:cubicBezTo>
                  <a:pt x="15703" y="949485"/>
                  <a:pt x="0" y="993966"/>
                  <a:pt x="0" y="1006868"/>
                </a:cubicBezTo>
                <a:cubicBezTo>
                  <a:pt x="0" y="1024330"/>
                  <a:pt x="3395" y="1042188"/>
                  <a:pt x="10274" y="1058238"/>
                </a:cubicBezTo>
                <a:cubicBezTo>
                  <a:pt x="14090" y="1067142"/>
                  <a:pt x="23973" y="1071937"/>
                  <a:pt x="30823" y="1078787"/>
                </a:cubicBezTo>
                <a:cubicBezTo>
                  <a:pt x="34248" y="1089061"/>
                  <a:pt x="35525" y="1100323"/>
                  <a:pt x="41097" y="1109609"/>
                </a:cubicBezTo>
                <a:cubicBezTo>
                  <a:pt x="68437" y="1155177"/>
                  <a:pt x="99135" y="1104884"/>
                  <a:pt x="51371" y="1212351"/>
                </a:cubicBezTo>
                <a:cubicBezTo>
                  <a:pt x="46972" y="1222248"/>
                  <a:pt x="30822" y="1219200"/>
                  <a:pt x="20548" y="1222625"/>
                </a:cubicBezTo>
                <a:cubicBezTo>
                  <a:pt x="10971" y="1251356"/>
                  <a:pt x="917" y="1263133"/>
                  <a:pt x="20548" y="1294544"/>
                </a:cubicBezTo>
                <a:cubicBezTo>
                  <a:pt x="30816" y="1310973"/>
                  <a:pt x="61645" y="1335641"/>
                  <a:pt x="61645" y="1335641"/>
                </a:cubicBezTo>
                <a:cubicBezTo>
                  <a:pt x="90750" y="1422957"/>
                  <a:pt x="50157" y="1316494"/>
                  <a:pt x="92468" y="1387011"/>
                </a:cubicBezTo>
                <a:cubicBezTo>
                  <a:pt x="98040" y="1396298"/>
                  <a:pt x="99317" y="1407560"/>
                  <a:pt x="102742" y="1417834"/>
                </a:cubicBezTo>
                <a:cubicBezTo>
                  <a:pt x="95892" y="1424683"/>
                  <a:pt x="84976" y="1429104"/>
                  <a:pt x="82193" y="1438382"/>
                </a:cubicBezTo>
                <a:cubicBezTo>
                  <a:pt x="74259" y="1464829"/>
                  <a:pt x="87753" y="1497956"/>
                  <a:pt x="71919" y="1520576"/>
                </a:cubicBezTo>
                <a:cubicBezTo>
                  <a:pt x="59498" y="1538320"/>
                  <a:pt x="10274" y="1541124"/>
                  <a:pt x="10274" y="1541124"/>
                </a:cubicBezTo>
                <a:cubicBezTo>
                  <a:pt x="17124" y="1561672"/>
                  <a:pt x="10275" y="1595920"/>
                  <a:pt x="30823" y="1602769"/>
                </a:cubicBezTo>
                <a:cubicBezTo>
                  <a:pt x="41097" y="1606194"/>
                  <a:pt x="51959" y="1608200"/>
                  <a:pt x="61645" y="1613043"/>
                </a:cubicBezTo>
                <a:cubicBezTo>
                  <a:pt x="87569" y="1626005"/>
                  <a:pt x="93902" y="1635025"/>
                  <a:pt x="113016" y="1654140"/>
                </a:cubicBezTo>
                <a:cubicBezTo>
                  <a:pt x="109591" y="1664414"/>
                  <a:pt x="109037" y="1676149"/>
                  <a:pt x="102742" y="1684962"/>
                </a:cubicBezTo>
                <a:cubicBezTo>
                  <a:pt x="91481" y="1700727"/>
                  <a:pt x="61645" y="1726059"/>
                  <a:pt x="61645" y="1726059"/>
                </a:cubicBezTo>
                <a:cubicBezTo>
                  <a:pt x="37777" y="1797664"/>
                  <a:pt x="33184" y="1780812"/>
                  <a:pt x="51371" y="1859623"/>
                </a:cubicBezTo>
                <a:cubicBezTo>
                  <a:pt x="56241" y="1880728"/>
                  <a:pt x="71919" y="1921268"/>
                  <a:pt x="71919" y="1921268"/>
                </a:cubicBezTo>
                <a:cubicBezTo>
                  <a:pt x="65070" y="1931542"/>
                  <a:pt x="60102" y="1943359"/>
                  <a:pt x="51371" y="1952090"/>
                </a:cubicBezTo>
                <a:cubicBezTo>
                  <a:pt x="42639" y="1960821"/>
                  <a:pt x="30190" y="1964924"/>
                  <a:pt x="20548" y="1972638"/>
                </a:cubicBezTo>
                <a:cubicBezTo>
                  <a:pt x="12984" y="1978689"/>
                  <a:pt x="6849" y="1986337"/>
                  <a:pt x="0" y="1993187"/>
                </a:cubicBezTo>
                <a:cubicBezTo>
                  <a:pt x="3425" y="2003461"/>
                  <a:pt x="4702" y="2014723"/>
                  <a:pt x="10274" y="2024009"/>
                </a:cubicBezTo>
                <a:cubicBezTo>
                  <a:pt x="24378" y="2047515"/>
                  <a:pt x="37400" y="2046750"/>
                  <a:pt x="61645" y="2054832"/>
                </a:cubicBezTo>
                <a:cubicBezTo>
                  <a:pt x="61486" y="2056579"/>
                  <a:pt x="60156" y="2166906"/>
                  <a:pt x="41097" y="2198670"/>
                </a:cubicBezTo>
                <a:cubicBezTo>
                  <a:pt x="36113" y="2206976"/>
                  <a:pt x="27398" y="2212369"/>
                  <a:pt x="20548" y="2219218"/>
                </a:cubicBezTo>
                <a:cubicBezTo>
                  <a:pt x="27398" y="2229492"/>
                  <a:pt x="31455" y="2242327"/>
                  <a:pt x="41097" y="2250041"/>
                </a:cubicBezTo>
                <a:cubicBezTo>
                  <a:pt x="49554" y="2256806"/>
                  <a:pt x="65624" y="2251502"/>
                  <a:pt x="71919" y="2260315"/>
                </a:cubicBezTo>
                <a:cubicBezTo>
                  <a:pt x="84509" y="2277940"/>
                  <a:pt x="92468" y="2321960"/>
                  <a:pt x="92468" y="2321960"/>
                </a:cubicBezTo>
              </a:path>
            </a:pathLst>
          </a:custGeom>
          <a:no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97" name="Freeform: Shape 96">
            <a:extLst>
              <a:ext uri="{FF2B5EF4-FFF2-40B4-BE49-F238E27FC236}">
                <a16:creationId xmlns:a16="http://schemas.microsoft.com/office/drawing/2014/main" id="{1F33ADC9-453C-48C6-B52D-7F86E2CC093B}"/>
              </a:ext>
            </a:extLst>
          </p:cNvPr>
          <p:cNvSpPr/>
          <p:nvPr/>
        </p:nvSpPr>
        <p:spPr bwMode="auto">
          <a:xfrm>
            <a:off x="251520" y="1147879"/>
            <a:ext cx="113417" cy="2321960"/>
          </a:xfrm>
          <a:custGeom>
            <a:avLst/>
            <a:gdLst>
              <a:gd name="connsiteX0" fmla="*/ 30823 w 113417"/>
              <a:gd name="connsiteY0" fmla="*/ 0 h 2321960"/>
              <a:gd name="connsiteX1" fmla="*/ 82193 w 113417"/>
              <a:gd name="connsiteY1" fmla="*/ 10274 h 2321960"/>
              <a:gd name="connsiteX2" fmla="*/ 92468 w 113417"/>
              <a:gd name="connsiteY2" fmla="*/ 41097 h 2321960"/>
              <a:gd name="connsiteX3" fmla="*/ 82193 w 113417"/>
              <a:gd name="connsiteY3" fmla="*/ 133564 h 2321960"/>
              <a:gd name="connsiteX4" fmla="*/ 71919 w 113417"/>
              <a:gd name="connsiteY4" fmla="*/ 164387 h 2321960"/>
              <a:gd name="connsiteX5" fmla="*/ 41097 w 113417"/>
              <a:gd name="connsiteY5" fmla="*/ 184935 h 2321960"/>
              <a:gd name="connsiteX6" fmla="*/ 30823 w 113417"/>
              <a:gd name="connsiteY6" fmla="*/ 215758 h 2321960"/>
              <a:gd name="connsiteX7" fmla="*/ 61645 w 113417"/>
              <a:gd name="connsiteY7" fmla="*/ 277403 h 2321960"/>
              <a:gd name="connsiteX8" fmla="*/ 82193 w 113417"/>
              <a:gd name="connsiteY8" fmla="*/ 308225 h 2321960"/>
              <a:gd name="connsiteX9" fmla="*/ 51371 w 113417"/>
              <a:gd name="connsiteY9" fmla="*/ 410967 h 2321960"/>
              <a:gd name="connsiteX10" fmla="*/ 20548 w 113417"/>
              <a:gd name="connsiteY10" fmla="*/ 421241 h 2321960"/>
              <a:gd name="connsiteX11" fmla="*/ 30823 w 113417"/>
              <a:gd name="connsiteY11" fmla="*/ 493160 h 2321960"/>
              <a:gd name="connsiteX12" fmla="*/ 41097 w 113417"/>
              <a:gd name="connsiteY12" fmla="*/ 523982 h 2321960"/>
              <a:gd name="connsiteX13" fmla="*/ 71919 w 113417"/>
              <a:gd name="connsiteY13" fmla="*/ 534256 h 2321960"/>
              <a:gd name="connsiteX14" fmla="*/ 71919 w 113417"/>
              <a:gd name="connsiteY14" fmla="*/ 616450 h 2321960"/>
              <a:gd name="connsiteX15" fmla="*/ 61645 w 113417"/>
              <a:gd name="connsiteY15" fmla="*/ 647272 h 2321960"/>
              <a:gd name="connsiteX16" fmla="*/ 30823 w 113417"/>
              <a:gd name="connsiteY16" fmla="*/ 667820 h 2321960"/>
              <a:gd name="connsiteX17" fmla="*/ 41097 w 113417"/>
              <a:gd name="connsiteY17" fmla="*/ 739740 h 2321960"/>
              <a:gd name="connsiteX18" fmla="*/ 51371 w 113417"/>
              <a:gd name="connsiteY18" fmla="*/ 770562 h 2321960"/>
              <a:gd name="connsiteX19" fmla="*/ 82193 w 113417"/>
              <a:gd name="connsiteY19" fmla="*/ 780836 h 2321960"/>
              <a:gd name="connsiteX20" fmla="*/ 92468 w 113417"/>
              <a:gd name="connsiteY20" fmla="*/ 821933 h 2321960"/>
              <a:gd name="connsiteX21" fmla="*/ 113016 w 113417"/>
              <a:gd name="connsiteY21" fmla="*/ 852755 h 2321960"/>
              <a:gd name="connsiteX22" fmla="*/ 41097 w 113417"/>
              <a:gd name="connsiteY22" fmla="*/ 914400 h 2321960"/>
              <a:gd name="connsiteX23" fmla="*/ 20548 w 113417"/>
              <a:gd name="connsiteY23" fmla="*/ 934949 h 2321960"/>
              <a:gd name="connsiteX24" fmla="*/ 0 w 113417"/>
              <a:gd name="connsiteY24" fmla="*/ 1006868 h 2321960"/>
              <a:gd name="connsiteX25" fmla="*/ 10274 w 113417"/>
              <a:gd name="connsiteY25" fmla="*/ 1058238 h 2321960"/>
              <a:gd name="connsiteX26" fmla="*/ 30823 w 113417"/>
              <a:gd name="connsiteY26" fmla="*/ 1078787 h 2321960"/>
              <a:gd name="connsiteX27" fmla="*/ 41097 w 113417"/>
              <a:gd name="connsiteY27" fmla="*/ 1109609 h 2321960"/>
              <a:gd name="connsiteX28" fmla="*/ 51371 w 113417"/>
              <a:gd name="connsiteY28" fmla="*/ 1212351 h 2321960"/>
              <a:gd name="connsiteX29" fmla="*/ 20548 w 113417"/>
              <a:gd name="connsiteY29" fmla="*/ 1222625 h 2321960"/>
              <a:gd name="connsiteX30" fmla="*/ 20548 w 113417"/>
              <a:gd name="connsiteY30" fmla="*/ 1294544 h 2321960"/>
              <a:gd name="connsiteX31" fmla="*/ 61645 w 113417"/>
              <a:gd name="connsiteY31" fmla="*/ 1335641 h 2321960"/>
              <a:gd name="connsiteX32" fmla="*/ 92468 w 113417"/>
              <a:gd name="connsiteY32" fmla="*/ 1387011 h 2321960"/>
              <a:gd name="connsiteX33" fmla="*/ 102742 w 113417"/>
              <a:gd name="connsiteY33" fmla="*/ 1417834 h 2321960"/>
              <a:gd name="connsiteX34" fmla="*/ 82193 w 113417"/>
              <a:gd name="connsiteY34" fmla="*/ 1438382 h 2321960"/>
              <a:gd name="connsiteX35" fmla="*/ 71919 w 113417"/>
              <a:gd name="connsiteY35" fmla="*/ 1520576 h 2321960"/>
              <a:gd name="connsiteX36" fmla="*/ 10274 w 113417"/>
              <a:gd name="connsiteY36" fmla="*/ 1541124 h 2321960"/>
              <a:gd name="connsiteX37" fmla="*/ 30823 w 113417"/>
              <a:gd name="connsiteY37" fmla="*/ 1602769 h 2321960"/>
              <a:gd name="connsiteX38" fmla="*/ 61645 w 113417"/>
              <a:gd name="connsiteY38" fmla="*/ 1613043 h 2321960"/>
              <a:gd name="connsiteX39" fmla="*/ 113016 w 113417"/>
              <a:gd name="connsiteY39" fmla="*/ 1654140 h 2321960"/>
              <a:gd name="connsiteX40" fmla="*/ 102742 w 113417"/>
              <a:gd name="connsiteY40" fmla="*/ 1684962 h 2321960"/>
              <a:gd name="connsiteX41" fmla="*/ 61645 w 113417"/>
              <a:gd name="connsiteY41" fmla="*/ 1726059 h 2321960"/>
              <a:gd name="connsiteX42" fmla="*/ 51371 w 113417"/>
              <a:gd name="connsiteY42" fmla="*/ 1859623 h 2321960"/>
              <a:gd name="connsiteX43" fmla="*/ 71919 w 113417"/>
              <a:gd name="connsiteY43" fmla="*/ 1921268 h 2321960"/>
              <a:gd name="connsiteX44" fmla="*/ 51371 w 113417"/>
              <a:gd name="connsiteY44" fmla="*/ 1952090 h 2321960"/>
              <a:gd name="connsiteX45" fmla="*/ 20548 w 113417"/>
              <a:gd name="connsiteY45" fmla="*/ 1972638 h 2321960"/>
              <a:gd name="connsiteX46" fmla="*/ 0 w 113417"/>
              <a:gd name="connsiteY46" fmla="*/ 1993187 h 2321960"/>
              <a:gd name="connsiteX47" fmla="*/ 10274 w 113417"/>
              <a:gd name="connsiteY47" fmla="*/ 2024009 h 2321960"/>
              <a:gd name="connsiteX48" fmla="*/ 61645 w 113417"/>
              <a:gd name="connsiteY48" fmla="*/ 2054832 h 2321960"/>
              <a:gd name="connsiteX49" fmla="*/ 41097 w 113417"/>
              <a:gd name="connsiteY49" fmla="*/ 2198670 h 2321960"/>
              <a:gd name="connsiteX50" fmla="*/ 20548 w 113417"/>
              <a:gd name="connsiteY50" fmla="*/ 2219218 h 2321960"/>
              <a:gd name="connsiteX51" fmla="*/ 41097 w 113417"/>
              <a:gd name="connsiteY51" fmla="*/ 2250041 h 2321960"/>
              <a:gd name="connsiteX52" fmla="*/ 71919 w 113417"/>
              <a:gd name="connsiteY52" fmla="*/ 2260315 h 2321960"/>
              <a:gd name="connsiteX53" fmla="*/ 92468 w 113417"/>
              <a:gd name="connsiteY53" fmla="*/ 2321960 h 232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13417" h="2321960">
                <a:moveTo>
                  <a:pt x="30823" y="0"/>
                </a:moveTo>
                <a:cubicBezTo>
                  <a:pt x="47946" y="3425"/>
                  <a:pt x="67663" y="588"/>
                  <a:pt x="82193" y="10274"/>
                </a:cubicBezTo>
                <a:cubicBezTo>
                  <a:pt x="91204" y="16282"/>
                  <a:pt x="92468" y="30267"/>
                  <a:pt x="92468" y="41097"/>
                </a:cubicBezTo>
                <a:cubicBezTo>
                  <a:pt x="92468" y="72109"/>
                  <a:pt x="87292" y="102974"/>
                  <a:pt x="82193" y="133564"/>
                </a:cubicBezTo>
                <a:cubicBezTo>
                  <a:pt x="80412" y="144247"/>
                  <a:pt x="78684" y="155930"/>
                  <a:pt x="71919" y="164387"/>
                </a:cubicBezTo>
                <a:cubicBezTo>
                  <a:pt x="64205" y="174029"/>
                  <a:pt x="51371" y="178086"/>
                  <a:pt x="41097" y="184935"/>
                </a:cubicBezTo>
                <a:cubicBezTo>
                  <a:pt x="37672" y="195209"/>
                  <a:pt x="30823" y="204928"/>
                  <a:pt x="30823" y="215758"/>
                </a:cubicBezTo>
                <a:cubicBezTo>
                  <a:pt x="30823" y="261598"/>
                  <a:pt x="39772" y="250062"/>
                  <a:pt x="61645" y="277403"/>
                </a:cubicBezTo>
                <a:cubicBezTo>
                  <a:pt x="69359" y="287045"/>
                  <a:pt x="75344" y="297951"/>
                  <a:pt x="82193" y="308225"/>
                </a:cubicBezTo>
                <a:cubicBezTo>
                  <a:pt x="77697" y="339697"/>
                  <a:pt x="81515" y="386852"/>
                  <a:pt x="51371" y="410967"/>
                </a:cubicBezTo>
                <a:cubicBezTo>
                  <a:pt x="42914" y="417733"/>
                  <a:pt x="30822" y="417816"/>
                  <a:pt x="20548" y="421241"/>
                </a:cubicBezTo>
                <a:cubicBezTo>
                  <a:pt x="23973" y="445214"/>
                  <a:pt x="26074" y="469414"/>
                  <a:pt x="30823" y="493160"/>
                </a:cubicBezTo>
                <a:cubicBezTo>
                  <a:pt x="32947" y="503779"/>
                  <a:pt x="33439" y="516324"/>
                  <a:pt x="41097" y="523982"/>
                </a:cubicBezTo>
                <a:cubicBezTo>
                  <a:pt x="48755" y="531640"/>
                  <a:pt x="61645" y="530831"/>
                  <a:pt x="71919" y="534256"/>
                </a:cubicBezTo>
                <a:cubicBezTo>
                  <a:pt x="86617" y="578350"/>
                  <a:pt x="86088" y="559773"/>
                  <a:pt x="71919" y="616450"/>
                </a:cubicBezTo>
                <a:cubicBezTo>
                  <a:pt x="69292" y="626956"/>
                  <a:pt x="68410" y="638815"/>
                  <a:pt x="61645" y="647272"/>
                </a:cubicBezTo>
                <a:cubicBezTo>
                  <a:pt x="53931" y="656914"/>
                  <a:pt x="41097" y="660971"/>
                  <a:pt x="30823" y="667820"/>
                </a:cubicBezTo>
                <a:cubicBezTo>
                  <a:pt x="34248" y="691793"/>
                  <a:pt x="36348" y="715994"/>
                  <a:pt x="41097" y="739740"/>
                </a:cubicBezTo>
                <a:cubicBezTo>
                  <a:pt x="43221" y="750359"/>
                  <a:pt x="43713" y="762904"/>
                  <a:pt x="51371" y="770562"/>
                </a:cubicBezTo>
                <a:cubicBezTo>
                  <a:pt x="59029" y="778220"/>
                  <a:pt x="71919" y="777411"/>
                  <a:pt x="82193" y="780836"/>
                </a:cubicBezTo>
                <a:cubicBezTo>
                  <a:pt x="85618" y="794535"/>
                  <a:pt x="86906" y="808954"/>
                  <a:pt x="92468" y="821933"/>
                </a:cubicBezTo>
                <a:cubicBezTo>
                  <a:pt x="97332" y="833282"/>
                  <a:pt x="116408" y="840882"/>
                  <a:pt x="113016" y="852755"/>
                </a:cubicBezTo>
                <a:cubicBezTo>
                  <a:pt x="105688" y="878403"/>
                  <a:pt x="60951" y="898517"/>
                  <a:pt x="41097" y="914400"/>
                </a:cubicBezTo>
                <a:cubicBezTo>
                  <a:pt x="33533" y="920451"/>
                  <a:pt x="27398" y="928099"/>
                  <a:pt x="20548" y="934949"/>
                </a:cubicBezTo>
                <a:cubicBezTo>
                  <a:pt x="15703" y="949485"/>
                  <a:pt x="0" y="993966"/>
                  <a:pt x="0" y="1006868"/>
                </a:cubicBezTo>
                <a:cubicBezTo>
                  <a:pt x="0" y="1024330"/>
                  <a:pt x="3395" y="1042188"/>
                  <a:pt x="10274" y="1058238"/>
                </a:cubicBezTo>
                <a:cubicBezTo>
                  <a:pt x="14090" y="1067142"/>
                  <a:pt x="23973" y="1071937"/>
                  <a:pt x="30823" y="1078787"/>
                </a:cubicBezTo>
                <a:cubicBezTo>
                  <a:pt x="34248" y="1089061"/>
                  <a:pt x="35525" y="1100323"/>
                  <a:pt x="41097" y="1109609"/>
                </a:cubicBezTo>
                <a:cubicBezTo>
                  <a:pt x="68437" y="1155177"/>
                  <a:pt x="99135" y="1104884"/>
                  <a:pt x="51371" y="1212351"/>
                </a:cubicBezTo>
                <a:cubicBezTo>
                  <a:pt x="46972" y="1222248"/>
                  <a:pt x="30822" y="1219200"/>
                  <a:pt x="20548" y="1222625"/>
                </a:cubicBezTo>
                <a:cubicBezTo>
                  <a:pt x="10971" y="1251356"/>
                  <a:pt x="917" y="1263133"/>
                  <a:pt x="20548" y="1294544"/>
                </a:cubicBezTo>
                <a:cubicBezTo>
                  <a:pt x="30816" y="1310973"/>
                  <a:pt x="61645" y="1335641"/>
                  <a:pt x="61645" y="1335641"/>
                </a:cubicBezTo>
                <a:cubicBezTo>
                  <a:pt x="90750" y="1422957"/>
                  <a:pt x="50157" y="1316494"/>
                  <a:pt x="92468" y="1387011"/>
                </a:cubicBezTo>
                <a:cubicBezTo>
                  <a:pt x="98040" y="1396298"/>
                  <a:pt x="99317" y="1407560"/>
                  <a:pt x="102742" y="1417834"/>
                </a:cubicBezTo>
                <a:cubicBezTo>
                  <a:pt x="95892" y="1424683"/>
                  <a:pt x="84976" y="1429104"/>
                  <a:pt x="82193" y="1438382"/>
                </a:cubicBezTo>
                <a:cubicBezTo>
                  <a:pt x="74259" y="1464829"/>
                  <a:pt x="87753" y="1497956"/>
                  <a:pt x="71919" y="1520576"/>
                </a:cubicBezTo>
                <a:cubicBezTo>
                  <a:pt x="59498" y="1538320"/>
                  <a:pt x="10274" y="1541124"/>
                  <a:pt x="10274" y="1541124"/>
                </a:cubicBezTo>
                <a:cubicBezTo>
                  <a:pt x="17124" y="1561672"/>
                  <a:pt x="10275" y="1595920"/>
                  <a:pt x="30823" y="1602769"/>
                </a:cubicBezTo>
                <a:cubicBezTo>
                  <a:pt x="41097" y="1606194"/>
                  <a:pt x="51959" y="1608200"/>
                  <a:pt x="61645" y="1613043"/>
                </a:cubicBezTo>
                <a:cubicBezTo>
                  <a:pt x="87569" y="1626005"/>
                  <a:pt x="93902" y="1635025"/>
                  <a:pt x="113016" y="1654140"/>
                </a:cubicBezTo>
                <a:cubicBezTo>
                  <a:pt x="109591" y="1664414"/>
                  <a:pt x="109037" y="1676149"/>
                  <a:pt x="102742" y="1684962"/>
                </a:cubicBezTo>
                <a:cubicBezTo>
                  <a:pt x="91481" y="1700727"/>
                  <a:pt x="61645" y="1726059"/>
                  <a:pt x="61645" y="1726059"/>
                </a:cubicBezTo>
                <a:cubicBezTo>
                  <a:pt x="37777" y="1797664"/>
                  <a:pt x="33184" y="1780812"/>
                  <a:pt x="51371" y="1859623"/>
                </a:cubicBezTo>
                <a:cubicBezTo>
                  <a:pt x="56241" y="1880728"/>
                  <a:pt x="71919" y="1921268"/>
                  <a:pt x="71919" y="1921268"/>
                </a:cubicBezTo>
                <a:cubicBezTo>
                  <a:pt x="65070" y="1931542"/>
                  <a:pt x="60102" y="1943359"/>
                  <a:pt x="51371" y="1952090"/>
                </a:cubicBezTo>
                <a:cubicBezTo>
                  <a:pt x="42639" y="1960821"/>
                  <a:pt x="30190" y="1964924"/>
                  <a:pt x="20548" y="1972638"/>
                </a:cubicBezTo>
                <a:cubicBezTo>
                  <a:pt x="12984" y="1978689"/>
                  <a:pt x="6849" y="1986337"/>
                  <a:pt x="0" y="1993187"/>
                </a:cubicBezTo>
                <a:cubicBezTo>
                  <a:pt x="3425" y="2003461"/>
                  <a:pt x="4702" y="2014723"/>
                  <a:pt x="10274" y="2024009"/>
                </a:cubicBezTo>
                <a:cubicBezTo>
                  <a:pt x="24378" y="2047515"/>
                  <a:pt x="37400" y="2046750"/>
                  <a:pt x="61645" y="2054832"/>
                </a:cubicBezTo>
                <a:cubicBezTo>
                  <a:pt x="61486" y="2056579"/>
                  <a:pt x="60156" y="2166906"/>
                  <a:pt x="41097" y="2198670"/>
                </a:cubicBezTo>
                <a:cubicBezTo>
                  <a:pt x="36113" y="2206976"/>
                  <a:pt x="27398" y="2212369"/>
                  <a:pt x="20548" y="2219218"/>
                </a:cubicBezTo>
                <a:cubicBezTo>
                  <a:pt x="27398" y="2229492"/>
                  <a:pt x="31455" y="2242327"/>
                  <a:pt x="41097" y="2250041"/>
                </a:cubicBezTo>
                <a:cubicBezTo>
                  <a:pt x="49554" y="2256806"/>
                  <a:pt x="65624" y="2251502"/>
                  <a:pt x="71919" y="2260315"/>
                </a:cubicBezTo>
                <a:cubicBezTo>
                  <a:pt x="84509" y="2277940"/>
                  <a:pt x="92468" y="2321960"/>
                  <a:pt x="92468" y="2321960"/>
                </a:cubicBezTo>
              </a:path>
            </a:pathLst>
          </a:custGeom>
          <a:no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24" name="Rectangle 23">
            <a:extLst>
              <a:ext uri="{FF2B5EF4-FFF2-40B4-BE49-F238E27FC236}">
                <a16:creationId xmlns:a16="http://schemas.microsoft.com/office/drawing/2014/main" id="{2E35B4CD-718D-4A28-88A5-156A9B8E4884}"/>
              </a:ext>
            </a:extLst>
          </p:cNvPr>
          <p:cNvSpPr/>
          <p:nvPr/>
        </p:nvSpPr>
        <p:spPr bwMode="auto">
          <a:xfrm>
            <a:off x="374411" y="1497316"/>
            <a:ext cx="1886710" cy="80691"/>
          </a:xfrm>
          <a:prstGeom prst="rect">
            <a:avLst/>
          </a:prstGeom>
          <a:solidFill>
            <a:schemeClr val="bg1"/>
          </a:solid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98" name="Rectangle 97">
            <a:extLst>
              <a:ext uri="{FF2B5EF4-FFF2-40B4-BE49-F238E27FC236}">
                <a16:creationId xmlns:a16="http://schemas.microsoft.com/office/drawing/2014/main" id="{87C31CDB-4476-400D-926E-C0577DAA04CC}"/>
              </a:ext>
            </a:extLst>
          </p:cNvPr>
          <p:cNvSpPr/>
          <p:nvPr/>
        </p:nvSpPr>
        <p:spPr bwMode="auto">
          <a:xfrm>
            <a:off x="413708" y="2738684"/>
            <a:ext cx="1886710" cy="80691"/>
          </a:xfrm>
          <a:prstGeom prst="rect">
            <a:avLst/>
          </a:prstGeom>
          <a:solidFill>
            <a:schemeClr val="bg1"/>
          </a:solid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grpSp>
        <p:nvGrpSpPr>
          <p:cNvPr id="35" name="Group 34">
            <a:extLst>
              <a:ext uri="{FF2B5EF4-FFF2-40B4-BE49-F238E27FC236}">
                <a16:creationId xmlns:a16="http://schemas.microsoft.com/office/drawing/2014/main" id="{C84CEE1A-0F90-4C3A-A3D4-A0FC2164FBE0}"/>
              </a:ext>
            </a:extLst>
          </p:cNvPr>
          <p:cNvGrpSpPr/>
          <p:nvPr/>
        </p:nvGrpSpPr>
        <p:grpSpPr>
          <a:xfrm>
            <a:off x="2930817" y="1343491"/>
            <a:ext cx="777087" cy="1651194"/>
            <a:chOff x="2943909" y="2075436"/>
            <a:chExt cx="1550307" cy="1651194"/>
          </a:xfrm>
        </p:grpSpPr>
        <p:grpSp>
          <p:nvGrpSpPr>
            <p:cNvPr id="32" name="Group 31">
              <a:extLst>
                <a:ext uri="{FF2B5EF4-FFF2-40B4-BE49-F238E27FC236}">
                  <a16:creationId xmlns:a16="http://schemas.microsoft.com/office/drawing/2014/main" id="{B344B60F-F121-43E7-BE99-E89B01F8777B}"/>
                </a:ext>
              </a:extLst>
            </p:cNvPr>
            <p:cNvGrpSpPr/>
            <p:nvPr/>
          </p:nvGrpSpPr>
          <p:grpSpPr>
            <a:xfrm>
              <a:off x="2943909" y="2075436"/>
              <a:ext cx="1548057" cy="1651194"/>
              <a:chOff x="3673419" y="2075436"/>
              <a:chExt cx="1548057" cy="1651194"/>
            </a:xfrm>
          </p:grpSpPr>
          <p:sp>
            <p:nvSpPr>
              <p:cNvPr id="27" name="Rectangle 26">
                <a:extLst>
                  <a:ext uri="{FF2B5EF4-FFF2-40B4-BE49-F238E27FC236}">
                    <a16:creationId xmlns:a16="http://schemas.microsoft.com/office/drawing/2014/main" id="{E161BD58-F6B0-4E87-945E-3A7D8DBB2128}"/>
                  </a:ext>
                </a:extLst>
              </p:cNvPr>
              <p:cNvSpPr/>
              <p:nvPr/>
            </p:nvSpPr>
            <p:spPr bwMode="auto">
              <a:xfrm>
                <a:off x="3673419" y="2279130"/>
                <a:ext cx="101195" cy="1280160"/>
              </a:xfrm>
              <a:prstGeom prst="rect">
                <a:avLst/>
              </a:prstGeom>
              <a:solidFill>
                <a:schemeClr val="tx1"/>
              </a:solid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grpSp>
            <p:nvGrpSpPr>
              <p:cNvPr id="31" name="Group 30">
                <a:extLst>
                  <a:ext uri="{FF2B5EF4-FFF2-40B4-BE49-F238E27FC236}">
                    <a16:creationId xmlns:a16="http://schemas.microsoft.com/office/drawing/2014/main" id="{65DD496E-9436-46DF-A4FF-E26BF5812306}"/>
                  </a:ext>
                </a:extLst>
              </p:cNvPr>
              <p:cNvGrpSpPr/>
              <p:nvPr/>
            </p:nvGrpSpPr>
            <p:grpSpPr>
              <a:xfrm>
                <a:off x="3768419" y="2075436"/>
                <a:ext cx="1453057" cy="1651194"/>
                <a:chOff x="3768419" y="2075436"/>
                <a:chExt cx="1453057" cy="1651194"/>
              </a:xfrm>
            </p:grpSpPr>
            <p:sp>
              <p:nvSpPr>
                <p:cNvPr id="28" name="Flowchart: Process 27">
                  <a:extLst>
                    <a:ext uri="{FF2B5EF4-FFF2-40B4-BE49-F238E27FC236}">
                      <a16:creationId xmlns:a16="http://schemas.microsoft.com/office/drawing/2014/main" id="{E97B5072-E2E1-4C69-BD46-D12B40FEF1DF}"/>
                    </a:ext>
                  </a:extLst>
                </p:cNvPr>
                <p:cNvSpPr/>
                <p:nvPr/>
              </p:nvSpPr>
              <p:spPr bwMode="auto">
                <a:xfrm rot="16200000">
                  <a:off x="4075279" y="1883836"/>
                  <a:ext cx="132151" cy="720080"/>
                </a:xfrm>
                <a:prstGeom prst="flowChartProcess">
                  <a:avLst/>
                </a:prstGeom>
                <a:pattFill prst="dkUpDiag">
                  <a:fgClr>
                    <a:schemeClr val="tx1"/>
                  </a:fgClr>
                  <a:bgClr>
                    <a:schemeClr val="bg1"/>
                  </a:bgClr>
                </a:patt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dirty="0">
                    <a:ln>
                      <a:noFill/>
                    </a:ln>
                    <a:solidFill>
                      <a:schemeClr val="tx1"/>
                    </a:solidFill>
                    <a:effectLst/>
                    <a:latin typeface="Times New Roman" pitchFamily="18" charset="0"/>
                    <a:ea typeface="ＭＳ Ｐゴシック" charset="-128"/>
                  </a:endParaRPr>
                </a:p>
              </p:txBody>
            </p:sp>
            <p:sp>
              <p:nvSpPr>
                <p:cNvPr id="102" name="Flowchart: Process 101">
                  <a:extLst>
                    <a:ext uri="{FF2B5EF4-FFF2-40B4-BE49-F238E27FC236}">
                      <a16:creationId xmlns:a16="http://schemas.microsoft.com/office/drawing/2014/main" id="{BFD64E86-968F-4D77-9490-0069B48FAB48}"/>
                    </a:ext>
                  </a:extLst>
                </p:cNvPr>
                <p:cNvSpPr/>
                <p:nvPr/>
              </p:nvSpPr>
              <p:spPr bwMode="auto">
                <a:xfrm rot="16200000">
                  <a:off x="4795360" y="1781472"/>
                  <a:ext cx="132151" cy="720080"/>
                </a:xfrm>
                <a:prstGeom prst="flowChartProcess">
                  <a:avLst/>
                </a:prstGeom>
                <a:pattFill prst="dkUpDiag">
                  <a:fgClr>
                    <a:schemeClr val="tx1"/>
                  </a:fgClr>
                  <a:bgClr>
                    <a:schemeClr val="bg1"/>
                  </a:bgClr>
                </a:patt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dirty="0">
                    <a:ln>
                      <a:noFill/>
                    </a:ln>
                    <a:solidFill>
                      <a:schemeClr val="tx1"/>
                    </a:solidFill>
                    <a:effectLst/>
                    <a:latin typeface="Times New Roman" pitchFamily="18" charset="0"/>
                    <a:ea typeface="ＭＳ Ｐゴシック" charset="-128"/>
                  </a:endParaRPr>
                </a:p>
              </p:txBody>
            </p:sp>
            <p:sp>
              <p:nvSpPr>
                <p:cNvPr id="105" name="Flowchart: Process 104">
                  <a:extLst>
                    <a:ext uri="{FF2B5EF4-FFF2-40B4-BE49-F238E27FC236}">
                      <a16:creationId xmlns:a16="http://schemas.microsoft.com/office/drawing/2014/main" id="{E5D60F9E-300A-49F9-91EB-C9E85E224814}"/>
                    </a:ext>
                  </a:extLst>
                </p:cNvPr>
                <p:cNvSpPr/>
                <p:nvPr/>
              </p:nvSpPr>
              <p:spPr bwMode="auto">
                <a:xfrm rot="16200000">
                  <a:off x="4062383" y="3167897"/>
                  <a:ext cx="132151" cy="720080"/>
                </a:xfrm>
                <a:prstGeom prst="flowChartProcess">
                  <a:avLst/>
                </a:prstGeom>
                <a:pattFill prst="dkUpDiag">
                  <a:fgClr>
                    <a:schemeClr val="tx1"/>
                  </a:fgClr>
                  <a:bgClr>
                    <a:schemeClr val="bg1"/>
                  </a:bgClr>
                </a:patt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dirty="0">
                    <a:ln>
                      <a:noFill/>
                    </a:ln>
                    <a:solidFill>
                      <a:schemeClr val="tx1"/>
                    </a:solidFill>
                    <a:effectLst/>
                    <a:latin typeface="Times New Roman" pitchFamily="18" charset="0"/>
                    <a:ea typeface="ＭＳ Ｐゴシック" charset="-128"/>
                  </a:endParaRPr>
                </a:p>
              </p:txBody>
            </p:sp>
            <p:sp>
              <p:nvSpPr>
                <p:cNvPr id="106" name="Flowchart: Process 105">
                  <a:extLst>
                    <a:ext uri="{FF2B5EF4-FFF2-40B4-BE49-F238E27FC236}">
                      <a16:creationId xmlns:a16="http://schemas.microsoft.com/office/drawing/2014/main" id="{48D44F15-FD5F-4FC4-847C-AE419EA98E93}"/>
                    </a:ext>
                  </a:extLst>
                </p:cNvPr>
                <p:cNvSpPr/>
                <p:nvPr/>
              </p:nvSpPr>
              <p:spPr bwMode="auto">
                <a:xfrm rot="16200000">
                  <a:off x="4780588" y="3300515"/>
                  <a:ext cx="132151" cy="720080"/>
                </a:xfrm>
                <a:prstGeom prst="flowChartProcess">
                  <a:avLst/>
                </a:prstGeom>
                <a:pattFill prst="dkUpDiag">
                  <a:fgClr>
                    <a:schemeClr val="tx1"/>
                  </a:fgClr>
                  <a:bgClr>
                    <a:schemeClr val="bg1"/>
                  </a:bgClr>
                </a:patt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dirty="0">
                    <a:ln>
                      <a:noFill/>
                    </a:ln>
                    <a:solidFill>
                      <a:schemeClr val="tx1"/>
                    </a:solidFill>
                    <a:effectLst/>
                    <a:latin typeface="Times New Roman" pitchFamily="18" charset="0"/>
                    <a:ea typeface="ＭＳ Ｐゴシック" charset="-128"/>
                  </a:endParaRPr>
                </a:p>
              </p:txBody>
            </p:sp>
          </p:grpSp>
        </p:grpSp>
        <p:cxnSp>
          <p:nvCxnSpPr>
            <p:cNvPr id="30" name="Straight Connector 29">
              <a:extLst>
                <a:ext uri="{FF2B5EF4-FFF2-40B4-BE49-F238E27FC236}">
                  <a16:creationId xmlns:a16="http://schemas.microsoft.com/office/drawing/2014/main" id="{70E0BD59-D531-4663-BEC2-7C52FE00B0B7}"/>
                </a:ext>
              </a:extLst>
            </p:cNvPr>
            <p:cNvCxnSpPr>
              <a:cxnSpLocks/>
            </p:cNvCxnSpPr>
            <p:nvPr/>
          </p:nvCxnSpPr>
          <p:spPr bwMode="auto">
            <a:xfrm flipH="1">
              <a:off x="4479444" y="2131238"/>
              <a:ext cx="14772" cy="1519043"/>
            </a:xfrm>
            <a:prstGeom prst="line">
              <a:avLst/>
            </a:pr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grpSp>
      <p:grpSp>
        <p:nvGrpSpPr>
          <p:cNvPr id="43" name="Group 42">
            <a:extLst>
              <a:ext uri="{FF2B5EF4-FFF2-40B4-BE49-F238E27FC236}">
                <a16:creationId xmlns:a16="http://schemas.microsoft.com/office/drawing/2014/main" id="{FD98C8E0-9880-4383-816D-4BDC961DAC82}"/>
              </a:ext>
            </a:extLst>
          </p:cNvPr>
          <p:cNvGrpSpPr/>
          <p:nvPr/>
        </p:nvGrpSpPr>
        <p:grpSpPr>
          <a:xfrm>
            <a:off x="515107" y="1124875"/>
            <a:ext cx="7590164" cy="2330410"/>
            <a:chOff x="587115" y="1856820"/>
            <a:chExt cx="7590164" cy="2330410"/>
          </a:xfrm>
        </p:grpSpPr>
        <p:grpSp>
          <p:nvGrpSpPr>
            <p:cNvPr id="37" name="Group 36">
              <a:extLst>
                <a:ext uri="{FF2B5EF4-FFF2-40B4-BE49-F238E27FC236}">
                  <a16:creationId xmlns:a16="http://schemas.microsoft.com/office/drawing/2014/main" id="{457B5345-EF86-433B-95E4-8E3DB46B7799}"/>
                </a:ext>
              </a:extLst>
            </p:cNvPr>
            <p:cNvGrpSpPr/>
            <p:nvPr/>
          </p:nvGrpSpPr>
          <p:grpSpPr>
            <a:xfrm>
              <a:off x="587115" y="2040400"/>
              <a:ext cx="5966669" cy="1680629"/>
              <a:chOff x="587115" y="2040400"/>
              <a:chExt cx="5966669" cy="1680629"/>
            </a:xfrm>
          </p:grpSpPr>
          <p:grpSp>
            <p:nvGrpSpPr>
              <p:cNvPr id="26" name="Group 25">
                <a:extLst>
                  <a:ext uri="{FF2B5EF4-FFF2-40B4-BE49-F238E27FC236}">
                    <a16:creationId xmlns:a16="http://schemas.microsoft.com/office/drawing/2014/main" id="{52F477D2-5946-48DF-AC40-A332D2DEADAD}"/>
                  </a:ext>
                </a:extLst>
              </p:cNvPr>
              <p:cNvGrpSpPr/>
              <p:nvPr/>
            </p:nvGrpSpPr>
            <p:grpSpPr>
              <a:xfrm>
                <a:off x="587115" y="2287568"/>
                <a:ext cx="5966669" cy="1199390"/>
                <a:chOff x="919062" y="2287568"/>
                <a:chExt cx="5966669" cy="1199390"/>
              </a:xfrm>
            </p:grpSpPr>
            <p:sp>
              <p:nvSpPr>
                <p:cNvPr id="5" name="Trapezoid 4">
                  <a:extLst>
                    <a:ext uri="{FF2B5EF4-FFF2-40B4-BE49-F238E27FC236}">
                      <a16:creationId xmlns:a16="http://schemas.microsoft.com/office/drawing/2014/main" id="{E0A1250A-472B-46C1-B44B-D458F69D6346}"/>
                    </a:ext>
                  </a:extLst>
                </p:cNvPr>
                <p:cNvSpPr/>
                <p:nvPr/>
              </p:nvSpPr>
              <p:spPr bwMode="auto">
                <a:xfrm rot="5400000">
                  <a:off x="4938306" y="2241952"/>
                  <a:ext cx="1139596" cy="1296144"/>
                </a:xfrm>
                <a:prstGeom prst="trapezoid">
                  <a:avLst/>
                </a:prstGeom>
                <a:solidFill>
                  <a:srgbClr val="FF9966"/>
                </a:solid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7" name="Rectangle 6">
                  <a:extLst>
                    <a:ext uri="{FF2B5EF4-FFF2-40B4-BE49-F238E27FC236}">
                      <a16:creationId xmlns:a16="http://schemas.microsoft.com/office/drawing/2014/main" id="{A1FE85C9-9B5D-434E-B436-A54F7FED5941}"/>
                    </a:ext>
                  </a:extLst>
                </p:cNvPr>
                <p:cNvSpPr/>
                <p:nvPr/>
              </p:nvSpPr>
              <p:spPr bwMode="auto">
                <a:xfrm>
                  <a:off x="919062" y="2320226"/>
                  <a:ext cx="3927602" cy="1140129"/>
                </a:xfrm>
                <a:prstGeom prst="rect">
                  <a:avLst/>
                </a:prstGeom>
                <a:solidFill>
                  <a:srgbClr val="FF9966"/>
                </a:solid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53" name="Rectangle 52">
                  <a:extLst>
                    <a:ext uri="{FF2B5EF4-FFF2-40B4-BE49-F238E27FC236}">
                      <a16:creationId xmlns:a16="http://schemas.microsoft.com/office/drawing/2014/main" id="{B34966C0-88C8-4C7E-9BD9-C13BA251A141}"/>
                    </a:ext>
                  </a:extLst>
                </p:cNvPr>
                <p:cNvSpPr/>
                <p:nvPr/>
              </p:nvSpPr>
              <p:spPr bwMode="auto">
                <a:xfrm>
                  <a:off x="6165650" y="2616364"/>
                  <a:ext cx="720081" cy="545152"/>
                </a:xfrm>
                <a:prstGeom prst="rect">
                  <a:avLst/>
                </a:prstGeom>
                <a:pattFill prst="ltHorz">
                  <a:fgClr>
                    <a:srgbClr val="FF9966"/>
                  </a:fgClr>
                  <a:bgClr>
                    <a:schemeClr val="bg1"/>
                  </a:bgClr>
                </a:patt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21" name="Rectangle 20">
                  <a:extLst>
                    <a:ext uri="{FF2B5EF4-FFF2-40B4-BE49-F238E27FC236}">
                      <a16:creationId xmlns:a16="http://schemas.microsoft.com/office/drawing/2014/main" id="{8BCE62CC-0D5C-49D8-8A54-2A31CBD239F7}"/>
                    </a:ext>
                  </a:extLst>
                </p:cNvPr>
                <p:cNvSpPr/>
                <p:nvPr/>
              </p:nvSpPr>
              <p:spPr bwMode="auto">
                <a:xfrm>
                  <a:off x="2665076" y="2318293"/>
                  <a:ext cx="109522" cy="144704"/>
                </a:xfrm>
                <a:prstGeom prst="rect">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22" name="Rectangle 21">
                  <a:extLst>
                    <a:ext uri="{FF2B5EF4-FFF2-40B4-BE49-F238E27FC236}">
                      <a16:creationId xmlns:a16="http://schemas.microsoft.com/office/drawing/2014/main" id="{CB40A2CB-B40E-47DC-996B-9675106C008F}"/>
                    </a:ext>
                  </a:extLst>
                </p:cNvPr>
                <p:cNvSpPr/>
                <p:nvPr/>
              </p:nvSpPr>
              <p:spPr bwMode="auto">
                <a:xfrm>
                  <a:off x="1938706" y="2287568"/>
                  <a:ext cx="113416" cy="1192802"/>
                </a:xfrm>
                <a:prstGeom prst="rect">
                  <a:avLst/>
                </a:prstGeom>
                <a:solidFill>
                  <a:schemeClr val="tx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25" name="Flowchart: Terminator 24">
                  <a:extLst>
                    <a:ext uri="{FF2B5EF4-FFF2-40B4-BE49-F238E27FC236}">
                      <a16:creationId xmlns:a16="http://schemas.microsoft.com/office/drawing/2014/main" id="{C808B8B9-4F8F-44AE-BCDA-E80A5BB841DE}"/>
                    </a:ext>
                  </a:extLst>
                </p:cNvPr>
                <p:cNvSpPr/>
                <p:nvPr/>
              </p:nvSpPr>
              <p:spPr bwMode="auto">
                <a:xfrm>
                  <a:off x="1938706" y="2811569"/>
                  <a:ext cx="113416" cy="224955"/>
                </a:xfrm>
                <a:prstGeom prst="flowChartTerminator">
                  <a:avLst/>
                </a:prstGeom>
                <a:solidFill>
                  <a:schemeClr val="bg1"/>
                </a:solid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00" name="Rectangle 99">
                  <a:extLst>
                    <a:ext uri="{FF2B5EF4-FFF2-40B4-BE49-F238E27FC236}">
                      <a16:creationId xmlns:a16="http://schemas.microsoft.com/office/drawing/2014/main" id="{AF063A02-99DF-4F09-9A21-B6BF485DF06C}"/>
                    </a:ext>
                  </a:extLst>
                </p:cNvPr>
                <p:cNvSpPr/>
                <p:nvPr/>
              </p:nvSpPr>
              <p:spPr bwMode="auto">
                <a:xfrm>
                  <a:off x="2665076" y="3342254"/>
                  <a:ext cx="109522" cy="144704"/>
                </a:xfrm>
                <a:prstGeom prst="rect">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grpSp>
          <p:sp>
            <p:nvSpPr>
              <p:cNvPr id="34" name="Flowchart: Magnetic Disk 33">
                <a:extLst>
                  <a:ext uri="{FF2B5EF4-FFF2-40B4-BE49-F238E27FC236}">
                    <a16:creationId xmlns:a16="http://schemas.microsoft.com/office/drawing/2014/main" id="{1C7CB93E-801A-4AAB-BC0B-D47C970ACCF5}"/>
                  </a:ext>
                </a:extLst>
              </p:cNvPr>
              <p:cNvSpPr/>
              <p:nvPr/>
            </p:nvSpPr>
            <p:spPr bwMode="auto">
              <a:xfrm rot="16200000">
                <a:off x="5499204" y="2706849"/>
                <a:ext cx="1680629" cy="347732"/>
              </a:xfrm>
              <a:prstGeom prst="flowChartMagneticDisk">
                <a:avLst/>
              </a:prstGeom>
              <a:pattFill prst="narVert">
                <a:fgClr>
                  <a:schemeClr val="tx1">
                    <a:lumMod val="50000"/>
                    <a:lumOff val="50000"/>
                  </a:schemeClr>
                </a:fgClr>
                <a:bgClr>
                  <a:schemeClr val="bg1"/>
                </a:bgClr>
              </a:patt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grpSp>
        <p:grpSp>
          <p:nvGrpSpPr>
            <p:cNvPr id="42" name="Group 41">
              <a:extLst>
                <a:ext uri="{FF2B5EF4-FFF2-40B4-BE49-F238E27FC236}">
                  <a16:creationId xmlns:a16="http://schemas.microsoft.com/office/drawing/2014/main" id="{317E679C-71AB-4FEA-A23B-919782A5C0FE}"/>
                </a:ext>
              </a:extLst>
            </p:cNvPr>
            <p:cNvGrpSpPr/>
            <p:nvPr/>
          </p:nvGrpSpPr>
          <p:grpSpPr>
            <a:xfrm>
              <a:off x="5910697" y="1856820"/>
              <a:ext cx="2266582" cy="2330410"/>
              <a:chOff x="5910697" y="1856820"/>
              <a:chExt cx="2266582" cy="2330410"/>
            </a:xfrm>
          </p:grpSpPr>
          <p:sp>
            <p:nvSpPr>
              <p:cNvPr id="107" name="Flowchart: Process 106">
                <a:extLst>
                  <a:ext uri="{FF2B5EF4-FFF2-40B4-BE49-F238E27FC236}">
                    <a16:creationId xmlns:a16="http://schemas.microsoft.com/office/drawing/2014/main" id="{CA67369A-C8AD-46D6-9AF6-23AD1ECC47F9}"/>
                  </a:ext>
                </a:extLst>
              </p:cNvPr>
              <p:cNvSpPr/>
              <p:nvPr/>
            </p:nvSpPr>
            <p:spPr bwMode="auto">
              <a:xfrm>
                <a:off x="5910697" y="1856820"/>
                <a:ext cx="289572" cy="2321960"/>
              </a:xfrm>
              <a:prstGeom prst="flowChartProcess">
                <a:avLst/>
              </a:prstGeom>
              <a:solidFill>
                <a:schemeClr val="tx1"/>
              </a:solid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08" name="Flowchart: Process 107">
                <a:extLst>
                  <a:ext uri="{FF2B5EF4-FFF2-40B4-BE49-F238E27FC236}">
                    <a16:creationId xmlns:a16="http://schemas.microsoft.com/office/drawing/2014/main" id="{F82B51BF-0D8D-4425-B171-4A20D7B252C4}"/>
                  </a:ext>
                </a:extLst>
              </p:cNvPr>
              <p:cNvSpPr/>
              <p:nvPr/>
            </p:nvSpPr>
            <p:spPr bwMode="auto">
              <a:xfrm>
                <a:off x="6710022" y="1865270"/>
                <a:ext cx="289572" cy="2321960"/>
              </a:xfrm>
              <a:prstGeom prst="flowChartProcess">
                <a:avLst/>
              </a:prstGeom>
              <a:solidFill>
                <a:schemeClr val="tx1"/>
              </a:solid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39" name="Arrow: Left-Right 38">
                <a:extLst>
                  <a:ext uri="{FF2B5EF4-FFF2-40B4-BE49-F238E27FC236}">
                    <a16:creationId xmlns:a16="http://schemas.microsoft.com/office/drawing/2014/main" id="{1F9FF720-3C76-4850-A06F-69139B4DE9CA}"/>
                  </a:ext>
                </a:extLst>
              </p:cNvPr>
              <p:cNvSpPr/>
              <p:nvPr/>
            </p:nvSpPr>
            <p:spPr bwMode="auto">
              <a:xfrm>
                <a:off x="7023138" y="2750316"/>
                <a:ext cx="1154141" cy="411200"/>
              </a:xfrm>
              <a:prstGeom prst="leftRightArrow">
                <a:avLst/>
              </a:prstGeom>
              <a:solidFill>
                <a:schemeClr val="tx1"/>
              </a:solid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cxnSp>
            <p:nvCxnSpPr>
              <p:cNvPr id="41" name="Straight Connector 40">
                <a:extLst>
                  <a:ext uri="{FF2B5EF4-FFF2-40B4-BE49-F238E27FC236}">
                    <a16:creationId xmlns:a16="http://schemas.microsoft.com/office/drawing/2014/main" id="{6558E47A-CB2C-4BBB-8EAE-BE5EEA82C58B}"/>
                  </a:ext>
                </a:extLst>
              </p:cNvPr>
              <p:cNvCxnSpPr/>
              <p:nvPr/>
            </p:nvCxnSpPr>
            <p:spPr bwMode="auto">
              <a:xfrm>
                <a:off x="5982615" y="1856820"/>
                <a:ext cx="914400" cy="0"/>
              </a:xfrm>
              <a:prstGeom prst="line">
                <a:avLst/>
              </a:pr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09" name="Straight Connector 108">
                <a:extLst>
                  <a:ext uri="{FF2B5EF4-FFF2-40B4-BE49-F238E27FC236}">
                    <a16:creationId xmlns:a16="http://schemas.microsoft.com/office/drawing/2014/main" id="{FD82EB91-4EBD-42BA-90B2-F26BF3515E15}"/>
                  </a:ext>
                </a:extLst>
              </p:cNvPr>
              <p:cNvCxnSpPr/>
              <p:nvPr/>
            </p:nvCxnSpPr>
            <p:spPr bwMode="auto">
              <a:xfrm>
                <a:off x="5940408" y="4165703"/>
                <a:ext cx="914400" cy="0"/>
              </a:xfrm>
              <a:prstGeom prst="line">
                <a:avLst/>
              </a:pr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grpSp>
      </p:grpSp>
      <p:sp>
        <p:nvSpPr>
          <p:cNvPr id="44" name="Flowchart: Process 43">
            <a:extLst>
              <a:ext uri="{FF2B5EF4-FFF2-40B4-BE49-F238E27FC236}">
                <a16:creationId xmlns:a16="http://schemas.microsoft.com/office/drawing/2014/main" id="{61CDF603-CE33-4BB1-B0E6-310F42AF8B8D}"/>
              </a:ext>
            </a:extLst>
          </p:cNvPr>
          <p:cNvSpPr/>
          <p:nvPr/>
        </p:nvSpPr>
        <p:spPr bwMode="auto">
          <a:xfrm flipH="1">
            <a:off x="2897350" y="1507588"/>
            <a:ext cx="101191" cy="1220289"/>
          </a:xfrm>
          <a:prstGeom prst="flowChartProcess">
            <a:avLst/>
          </a:prstGeom>
          <a:solidFill>
            <a:schemeClr val="tx1"/>
          </a:solid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cxnSp>
        <p:nvCxnSpPr>
          <p:cNvPr id="111" name="Straight Arrow Connector 110">
            <a:extLst>
              <a:ext uri="{FF2B5EF4-FFF2-40B4-BE49-F238E27FC236}">
                <a16:creationId xmlns:a16="http://schemas.microsoft.com/office/drawing/2014/main" id="{C29F9E02-AC6D-4CCE-A788-8C09B846678C}"/>
              </a:ext>
            </a:extLst>
          </p:cNvPr>
          <p:cNvCxnSpPr>
            <a:endCxn id="38" idx="0"/>
          </p:cNvCxnSpPr>
          <p:nvPr/>
        </p:nvCxnSpPr>
        <p:spPr bwMode="auto">
          <a:xfrm flipH="1">
            <a:off x="3852690" y="908720"/>
            <a:ext cx="287262" cy="239159"/>
          </a:xfrm>
          <a:prstGeom prst="straightConnector1">
            <a:avLst/>
          </a:prstGeom>
          <a:solidFill>
            <a:schemeClr val="accent1"/>
          </a:solidFill>
          <a:ln w="9525" cap="flat" cmpd="sng" algn="ctr">
            <a:solidFill>
              <a:srgbClr val="00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12" name="TextBox 111">
            <a:extLst>
              <a:ext uri="{FF2B5EF4-FFF2-40B4-BE49-F238E27FC236}">
                <a16:creationId xmlns:a16="http://schemas.microsoft.com/office/drawing/2014/main" id="{4D313DD4-87D0-4F10-A547-2544725EEC9D}"/>
              </a:ext>
            </a:extLst>
          </p:cNvPr>
          <p:cNvSpPr txBox="1"/>
          <p:nvPr/>
        </p:nvSpPr>
        <p:spPr>
          <a:xfrm>
            <a:off x="3812129" y="792689"/>
            <a:ext cx="1547264" cy="276999"/>
          </a:xfrm>
          <a:prstGeom prst="rect">
            <a:avLst/>
          </a:prstGeom>
          <a:noFill/>
        </p:spPr>
        <p:txBody>
          <a:bodyPr wrap="square" rtlCol="0">
            <a:spAutoFit/>
          </a:bodyPr>
          <a:lstStyle/>
          <a:p>
            <a:r>
              <a:rPr lang="en-US" sz="1200" b="0" dirty="0"/>
              <a:t>Fixed plate</a:t>
            </a:r>
          </a:p>
        </p:txBody>
      </p:sp>
      <p:sp>
        <p:nvSpPr>
          <p:cNvPr id="114" name="TextBox 113">
            <a:extLst>
              <a:ext uri="{FF2B5EF4-FFF2-40B4-BE49-F238E27FC236}">
                <a16:creationId xmlns:a16="http://schemas.microsoft.com/office/drawing/2014/main" id="{7AD7ABFB-BB29-4152-963B-4285868043F7}"/>
              </a:ext>
            </a:extLst>
          </p:cNvPr>
          <p:cNvSpPr txBox="1"/>
          <p:nvPr/>
        </p:nvSpPr>
        <p:spPr>
          <a:xfrm>
            <a:off x="5848207" y="782236"/>
            <a:ext cx="1547264" cy="276999"/>
          </a:xfrm>
          <a:prstGeom prst="rect">
            <a:avLst/>
          </a:prstGeom>
          <a:noFill/>
        </p:spPr>
        <p:txBody>
          <a:bodyPr wrap="square" rtlCol="0">
            <a:spAutoFit/>
          </a:bodyPr>
          <a:lstStyle/>
          <a:p>
            <a:r>
              <a:rPr lang="en-US" sz="1200" b="0" dirty="0"/>
              <a:t>Movable plate</a:t>
            </a:r>
          </a:p>
        </p:txBody>
      </p:sp>
      <p:sp>
        <p:nvSpPr>
          <p:cNvPr id="115" name="TextBox 114">
            <a:extLst>
              <a:ext uri="{FF2B5EF4-FFF2-40B4-BE49-F238E27FC236}">
                <a16:creationId xmlns:a16="http://schemas.microsoft.com/office/drawing/2014/main" id="{D741EB0F-C9AB-43AF-8E66-5F5F00FBCD5B}"/>
              </a:ext>
            </a:extLst>
          </p:cNvPr>
          <p:cNvSpPr txBox="1"/>
          <p:nvPr/>
        </p:nvSpPr>
        <p:spPr>
          <a:xfrm>
            <a:off x="7259290" y="1669267"/>
            <a:ext cx="1547264" cy="276999"/>
          </a:xfrm>
          <a:prstGeom prst="rect">
            <a:avLst/>
          </a:prstGeom>
          <a:noFill/>
        </p:spPr>
        <p:txBody>
          <a:bodyPr wrap="square" rtlCol="0">
            <a:spAutoFit/>
          </a:bodyPr>
          <a:lstStyle/>
          <a:p>
            <a:r>
              <a:rPr lang="en-US" sz="1200" b="0" dirty="0"/>
              <a:t>Cylinder</a:t>
            </a:r>
          </a:p>
        </p:txBody>
      </p:sp>
      <p:sp>
        <p:nvSpPr>
          <p:cNvPr id="116" name="Flowchart: Process 115">
            <a:extLst>
              <a:ext uri="{FF2B5EF4-FFF2-40B4-BE49-F238E27FC236}">
                <a16:creationId xmlns:a16="http://schemas.microsoft.com/office/drawing/2014/main" id="{6684A862-1268-402B-9809-4F33B5555016}"/>
              </a:ext>
            </a:extLst>
          </p:cNvPr>
          <p:cNvSpPr/>
          <p:nvPr/>
        </p:nvSpPr>
        <p:spPr bwMode="auto">
          <a:xfrm>
            <a:off x="3635896" y="4149080"/>
            <a:ext cx="289572" cy="2321960"/>
          </a:xfrm>
          <a:prstGeom prst="flowChartProcess">
            <a:avLst/>
          </a:prstGeom>
          <a:solidFill>
            <a:schemeClr val="tx1"/>
          </a:solid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17" name="Rectangle 116">
            <a:extLst>
              <a:ext uri="{FF2B5EF4-FFF2-40B4-BE49-F238E27FC236}">
                <a16:creationId xmlns:a16="http://schemas.microsoft.com/office/drawing/2014/main" id="{3CB8B6E4-7651-4DEB-937B-6FAF1FA34151}"/>
              </a:ext>
            </a:extLst>
          </p:cNvPr>
          <p:cNvSpPr/>
          <p:nvPr/>
        </p:nvSpPr>
        <p:spPr bwMode="auto">
          <a:xfrm>
            <a:off x="302403" y="4149080"/>
            <a:ext cx="2497490" cy="2001785"/>
          </a:xfrm>
          <a:prstGeom prst="rect">
            <a:avLst/>
          </a:pr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18" name="Rectangle 117">
            <a:extLst>
              <a:ext uri="{FF2B5EF4-FFF2-40B4-BE49-F238E27FC236}">
                <a16:creationId xmlns:a16="http://schemas.microsoft.com/office/drawing/2014/main" id="{EBA210C2-7429-47D5-9709-32B464D35B4C}"/>
              </a:ext>
            </a:extLst>
          </p:cNvPr>
          <p:cNvSpPr/>
          <p:nvPr/>
        </p:nvSpPr>
        <p:spPr bwMode="auto">
          <a:xfrm>
            <a:off x="2207175" y="4436437"/>
            <a:ext cx="576064" cy="144704"/>
          </a:xfrm>
          <a:prstGeom prst="rect">
            <a:avLst/>
          </a:prstGeom>
          <a:pattFill prst="weave">
            <a:fgClr>
              <a:srgbClr val="C00000"/>
            </a:fgClr>
            <a:bgClr>
              <a:schemeClr val="bg1"/>
            </a:bgClr>
          </a:patt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a:p>
        </p:txBody>
      </p:sp>
      <p:sp>
        <p:nvSpPr>
          <p:cNvPr id="119" name="Rectangle 118">
            <a:extLst>
              <a:ext uri="{FF2B5EF4-FFF2-40B4-BE49-F238E27FC236}">
                <a16:creationId xmlns:a16="http://schemas.microsoft.com/office/drawing/2014/main" id="{97AB36AC-EB5F-4B59-8389-9C1D219E7328}"/>
              </a:ext>
            </a:extLst>
          </p:cNvPr>
          <p:cNvSpPr/>
          <p:nvPr/>
        </p:nvSpPr>
        <p:spPr bwMode="auto">
          <a:xfrm>
            <a:off x="2203281" y="4149080"/>
            <a:ext cx="576064" cy="144704"/>
          </a:xfrm>
          <a:prstGeom prst="rect">
            <a:avLst/>
          </a:prstGeom>
          <a:pattFill prst="weave">
            <a:fgClr>
              <a:srgbClr val="C00000"/>
            </a:fgClr>
            <a:bgClr>
              <a:schemeClr val="bg1"/>
            </a:bgClr>
          </a:patt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20" name="Oval 119">
            <a:extLst>
              <a:ext uri="{FF2B5EF4-FFF2-40B4-BE49-F238E27FC236}">
                <a16:creationId xmlns:a16="http://schemas.microsoft.com/office/drawing/2014/main" id="{7CBCDBE5-A680-4140-B108-CEA840A92705}"/>
              </a:ext>
            </a:extLst>
          </p:cNvPr>
          <p:cNvSpPr/>
          <p:nvPr/>
        </p:nvSpPr>
        <p:spPr bwMode="auto">
          <a:xfrm>
            <a:off x="2399873" y="4275981"/>
            <a:ext cx="182880" cy="182880"/>
          </a:xfrm>
          <a:prstGeom prst="ellipse">
            <a:avLst/>
          </a:prstGeom>
          <a:pattFill prst="pct90">
            <a:fgClr>
              <a:schemeClr val="tx1"/>
            </a:fgClr>
            <a:bgClr>
              <a:schemeClr val="bg1"/>
            </a:bgClr>
          </a:pattFill>
          <a:ln>
            <a:headEnd type="none" w="med" len="med"/>
            <a:tailEnd type="none" w="med" len="med"/>
          </a:ln>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21" name="Rectangle 120">
            <a:extLst>
              <a:ext uri="{FF2B5EF4-FFF2-40B4-BE49-F238E27FC236}">
                <a16:creationId xmlns:a16="http://schemas.microsoft.com/office/drawing/2014/main" id="{55141471-616F-4110-AEC0-AB3812EE7FE8}"/>
              </a:ext>
            </a:extLst>
          </p:cNvPr>
          <p:cNvSpPr/>
          <p:nvPr/>
        </p:nvSpPr>
        <p:spPr bwMode="auto">
          <a:xfrm>
            <a:off x="2207085" y="6016435"/>
            <a:ext cx="576064" cy="144704"/>
          </a:xfrm>
          <a:prstGeom prst="rect">
            <a:avLst/>
          </a:prstGeom>
          <a:pattFill prst="weave">
            <a:fgClr>
              <a:srgbClr val="C00000"/>
            </a:fgClr>
            <a:bgClr>
              <a:schemeClr val="bg1"/>
            </a:bgClr>
          </a:patt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a:p>
        </p:txBody>
      </p:sp>
      <p:sp>
        <p:nvSpPr>
          <p:cNvPr id="122" name="Rectangle 121">
            <a:extLst>
              <a:ext uri="{FF2B5EF4-FFF2-40B4-BE49-F238E27FC236}">
                <a16:creationId xmlns:a16="http://schemas.microsoft.com/office/drawing/2014/main" id="{6BB37C07-5FA9-4FE0-A6EE-386B4BFCF5D5}"/>
              </a:ext>
            </a:extLst>
          </p:cNvPr>
          <p:cNvSpPr/>
          <p:nvPr/>
        </p:nvSpPr>
        <p:spPr bwMode="auto">
          <a:xfrm>
            <a:off x="2203191" y="5729078"/>
            <a:ext cx="576064" cy="144704"/>
          </a:xfrm>
          <a:prstGeom prst="rect">
            <a:avLst/>
          </a:prstGeom>
          <a:pattFill prst="weave">
            <a:fgClr>
              <a:srgbClr val="C00000"/>
            </a:fgClr>
            <a:bgClr>
              <a:schemeClr val="bg1"/>
            </a:bgClr>
          </a:patt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23" name="Oval 122">
            <a:extLst>
              <a:ext uri="{FF2B5EF4-FFF2-40B4-BE49-F238E27FC236}">
                <a16:creationId xmlns:a16="http://schemas.microsoft.com/office/drawing/2014/main" id="{8F81F62A-3227-4BA2-9181-330680435703}"/>
              </a:ext>
            </a:extLst>
          </p:cNvPr>
          <p:cNvSpPr/>
          <p:nvPr/>
        </p:nvSpPr>
        <p:spPr bwMode="auto">
          <a:xfrm>
            <a:off x="2399783" y="5855979"/>
            <a:ext cx="182880" cy="182880"/>
          </a:xfrm>
          <a:prstGeom prst="ellipse">
            <a:avLst/>
          </a:prstGeom>
          <a:pattFill prst="pct90">
            <a:fgClr>
              <a:schemeClr val="tx1"/>
            </a:fgClr>
            <a:bgClr>
              <a:schemeClr val="bg1"/>
            </a:bgClr>
          </a:pattFill>
          <a:ln>
            <a:headEnd type="none" w="med" len="med"/>
            <a:tailEnd type="none" w="med" len="med"/>
          </a:ln>
          <a:extLst>
            <a:ext uri="{AF507438-7753-43E0-B8FC-AC1667EBCBE1}">
              <a14:hiddenEffects xmlns:a14="http://schemas.microsoft.com/office/drawing/2010/main">
                <a:effectLst>
                  <a:outerShdw dist="35921" dir="2700000" algn="ctr" rotWithShape="0">
                    <a:srgbClr val="808080"/>
                  </a:outerShdw>
                </a:effectLst>
              </a14:hiddenEffects>
            </a:ext>
          </a:extLst>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a:solidFill>
                <a:schemeClr val="tx1"/>
              </a:solidFill>
              <a:latin typeface="Times New Roman" pitchFamily="18" charset="0"/>
              <a:ea typeface="ＭＳ Ｐゴシック" charset="-128"/>
            </a:endParaRPr>
          </a:p>
        </p:txBody>
      </p:sp>
      <p:cxnSp>
        <p:nvCxnSpPr>
          <p:cNvPr id="124" name="Straight Connector 123">
            <a:extLst>
              <a:ext uri="{FF2B5EF4-FFF2-40B4-BE49-F238E27FC236}">
                <a16:creationId xmlns:a16="http://schemas.microsoft.com/office/drawing/2014/main" id="{F78E0594-028C-4AB6-B581-46407EB68408}"/>
              </a:ext>
            </a:extLst>
          </p:cNvPr>
          <p:cNvCxnSpPr>
            <a:stCxn id="122" idx="1"/>
            <a:endCxn id="121" idx="1"/>
          </p:cNvCxnSpPr>
          <p:nvPr/>
        </p:nvCxnSpPr>
        <p:spPr bwMode="auto">
          <a:xfrm>
            <a:off x="2203191" y="5801430"/>
            <a:ext cx="3894" cy="287357"/>
          </a:xfrm>
          <a:prstGeom prst="line">
            <a:avLst/>
          </a:pr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25" name="Straight Connector 124">
            <a:extLst>
              <a:ext uri="{FF2B5EF4-FFF2-40B4-BE49-F238E27FC236}">
                <a16:creationId xmlns:a16="http://schemas.microsoft.com/office/drawing/2014/main" id="{6214D8AA-CD3C-4C93-BCF3-9621BCEB40C7}"/>
              </a:ext>
            </a:extLst>
          </p:cNvPr>
          <p:cNvCxnSpPr/>
          <p:nvPr/>
        </p:nvCxnSpPr>
        <p:spPr bwMode="auto">
          <a:xfrm>
            <a:off x="2783149" y="5801430"/>
            <a:ext cx="3894" cy="287357"/>
          </a:xfrm>
          <a:prstGeom prst="line">
            <a:avLst/>
          </a:pr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26" name="Straight Connector 125">
            <a:extLst>
              <a:ext uri="{FF2B5EF4-FFF2-40B4-BE49-F238E27FC236}">
                <a16:creationId xmlns:a16="http://schemas.microsoft.com/office/drawing/2014/main" id="{C08DB7F8-9F36-4807-934B-6FE7C577E9A4}"/>
              </a:ext>
            </a:extLst>
          </p:cNvPr>
          <p:cNvCxnSpPr/>
          <p:nvPr/>
        </p:nvCxnSpPr>
        <p:spPr bwMode="auto">
          <a:xfrm>
            <a:off x="2783239" y="4235274"/>
            <a:ext cx="3894" cy="287357"/>
          </a:xfrm>
          <a:prstGeom prst="line">
            <a:avLst/>
          </a:pr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27" name="Straight Connector 126">
            <a:extLst>
              <a:ext uri="{FF2B5EF4-FFF2-40B4-BE49-F238E27FC236}">
                <a16:creationId xmlns:a16="http://schemas.microsoft.com/office/drawing/2014/main" id="{A6704CFC-BD1B-4C3A-B8F6-D7CE85DFFA09}"/>
              </a:ext>
            </a:extLst>
          </p:cNvPr>
          <p:cNvCxnSpPr/>
          <p:nvPr/>
        </p:nvCxnSpPr>
        <p:spPr bwMode="auto">
          <a:xfrm>
            <a:off x="2205767" y="4211160"/>
            <a:ext cx="3894" cy="287357"/>
          </a:xfrm>
          <a:prstGeom prst="line">
            <a:avLst/>
          </a:pr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28" name="Freeform: Shape 127">
            <a:extLst>
              <a:ext uri="{FF2B5EF4-FFF2-40B4-BE49-F238E27FC236}">
                <a16:creationId xmlns:a16="http://schemas.microsoft.com/office/drawing/2014/main" id="{877D58EF-0DE6-4E0D-9C44-420587F27E30}"/>
              </a:ext>
            </a:extLst>
          </p:cNvPr>
          <p:cNvSpPr/>
          <p:nvPr/>
        </p:nvSpPr>
        <p:spPr bwMode="auto">
          <a:xfrm>
            <a:off x="253502" y="4180249"/>
            <a:ext cx="113417" cy="2321960"/>
          </a:xfrm>
          <a:custGeom>
            <a:avLst/>
            <a:gdLst>
              <a:gd name="connsiteX0" fmla="*/ 30823 w 113417"/>
              <a:gd name="connsiteY0" fmla="*/ 0 h 2321960"/>
              <a:gd name="connsiteX1" fmla="*/ 82193 w 113417"/>
              <a:gd name="connsiteY1" fmla="*/ 10274 h 2321960"/>
              <a:gd name="connsiteX2" fmla="*/ 92468 w 113417"/>
              <a:gd name="connsiteY2" fmla="*/ 41097 h 2321960"/>
              <a:gd name="connsiteX3" fmla="*/ 82193 w 113417"/>
              <a:gd name="connsiteY3" fmla="*/ 133564 h 2321960"/>
              <a:gd name="connsiteX4" fmla="*/ 71919 w 113417"/>
              <a:gd name="connsiteY4" fmla="*/ 164387 h 2321960"/>
              <a:gd name="connsiteX5" fmla="*/ 41097 w 113417"/>
              <a:gd name="connsiteY5" fmla="*/ 184935 h 2321960"/>
              <a:gd name="connsiteX6" fmla="*/ 30823 w 113417"/>
              <a:gd name="connsiteY6" fmla="*/ 215758 h 2321960"/>
              <a:gd name="connsiteX7" fmla="*/ 61645 w 113417"/>
              <a:gd name="connsiteY7" fmla="*/ 277403 h 2321960"/>
              <a:gd name="connsiteX8" fmla="*/ 82193 w 113417"/>
              <a:gd name="connsiteY8" fmla="*/ 308225 h 2321960"/>
              <a:gd name="connsiteX9" fmla="*/ 51371 w 113417"/>
              <a:gd name="connsiteY9" fmla="*/ 410967 h 2321960"/>
              <a:gd name="connsiteX10" fmla="*/ 20548 w 113417"/>
              <a:gd name="connsiteY10" fmla="*/ 421241 h 2321960"/>
              <a:gd name="connsiteX11" fmla="*/ 30823 w 113417"/>
              <a:gd name="connsiteY11" fmla="*/ 493160 h 2321960"/>
              <a:gd name="connsiteX12" fmla="*/ 41097 w 113417"/>
              <a:gd name="connsiteY12" fmla="*/ 523982 h 2321960"/>
              <a:gd name="connsiteX13" fmla="*/ 71919 w 113417"/>
              <a:gd name="connsiteY13" fmla="*/ 534256 h 2321960"/>
              <a:gd name="connsiteX14" fmla="*/ 71919 w 113417"/>
              <a:gd name="connsiteY14" fmla="*/ 616450 h 2321960"/>
              <a:gd name="connsiteX15" fmla="*/ 61645 w 113417"/>
              <a:gd name="connsiteY15" fmla="*/ 647272 h 2321960"/>
              <a:gd name="connsiteX16" fmla="*/ 30823 w 113417"/>
              <a:gd name="connsiteY16" fmla="*/ 667820 h 2321960"/>
              <a:gd name="connsiteX17" fmla="*/ 41097 w 113417"/>
              <a:gd name="connsiteY17" fmla="*/ 739740 h 2321960"/>
              <a:gd name="connsiteX18" fmla="*/ 51371 w 113417"/>
              <a:gd name="connsiteY18" fmla="*/ 770562 h 2321960"/>
              <a:gd name="connsiteX19" fmla="*/ 82193 w 113417"/>
              <a:gd name="connsiteY19" fmla="*/ 780836 h 2321960"/>
              <a:gd name="connsiteX20" fmla="*/ 92468 w 113417"/>
              <a:gd name="connsiteY20" fmla="*/ 821933 h 2321960"/>
              <a:gd name="connsiteX21" fmla="*/ 113016 w 113417"/>
              <a:gd name="connsiteY21" fmla="*/ 852755 h 2321960"/>
              <a:gd name="connsiteX22" fmla="*/ 41097 w 113417"/>
              <a:gd name="connsiteY22" fmla="*/ 914400 h 2321960"/>
              <a:gd name="connsiteX23" fmla="*/ 20548 w 113417"/>
              <a:gd name="connsiteY23" fmla="*/ 934949 h 2321960"/>
              <a:gd name="connsiteX24" fmla="*/ 0 w 113417"/>
              <a:gd name="connsiteY24" fmla="*/ 1006868 h 2321960"/>
              <a:gd name="connsiteX25" fmla="*/ 10274 w 113417"/>
              <a:gd name="connsiteY25" fmla="*/ 1058238 h 2321960"/>
              <a:gd name="connsiteX26" fmla="*/ 30823 w 113417"/>
              <a:gd name="connsiteY26" fmla="*/ 1078787 h 2321960"/>
              <a:gd name="connsiteX27" fmla="*/ 41097 w 113417"/>
              <a:gd name="connsiteY27" fmla="*/ 1109609 h 2321960"/>
              <a:gd name="connsiteX28" fmla="*/ 51371 w 113417"/>
              <a:gd name="connsiteY28" fmla="*/ 1212351 h 2321960"/>
              <a:gd name="connsiteX29" fmla="*/ 20548 w 113417"/>
              <a:gd name="connsiteY29" fmla="*/ 1222625 h 2321960"/>
              <a:gd name="connsiteX30" fmla="*/ 20548 w 113417"/>
              <a:gd name="connsiteY30" fmla="*/ 1294544 h 2321960"/>
              <a:gd name="connsiteX31" fmla="*/ 61645 w 113417"/>
              <a:gd name="connsiteY31" fmla="*/ 1335641 h 2321960"/>
              <a:gd name="connsiteX32" fmla="*/ 92468 w 113417"/>
              <a:gd name="connsiteY32" fmla="*/ 1387011 h 2321960"/>
              <a:gd name="connsiteX33" fmla="*/ 102742 w 113417"/>
              <a:gd name="connsiteY33" fmla="*/ 1417834 h 2321960"/>
              <a:gd name="connsiteX34" fmla="*/ 82193 w 113417"/>
              <a:gd name="connsiteY34" fmla="*/ 1438382 h 2321960"/>
              <a:gd name="connsiteX35" fmla="*/ 71919 w 113417"/>
              <a:gd name="connsiteY35" fmla="*/ 1520576 h 2321960"/>
              <a:gd name="connsiteX36" fmla="*/ 10274 w 113417"/>
              <a:gd name="connsiteY36" fmla="*/ 1541124 h 2321960"/>
              <a:gd name="connsiteX37" fmla="*/ 30823 w 113417"/>
              <a:gd name="connsiteY37" fmla="*/ 1602769 h 2321960"/>
              <a:gd name="connsiteX38" fmla="*/ 61645 w 113417"/>
              <a:gd name="connsiteY38" fmla="*/ 1613043 h 2321960"/>
              <a:gd name="connsiteX39" fmla="*/ 113016 w 113417"/>
              <a:gd name="connsiteY39" fmla="*/ 1654140 h 2321960"/>
              <a:gd name="connsiteX40" fmla="*/ 102742 w 113417"/>
              <a:gd name="connsiteY40" fmla="*/ 1684962 h 2321960"/>
              <a:gd name="connsiteX41" fmla="*/ 61645 w 113417"/>
              <a:gd name="connsiteY41" fmla="*/ 1726059 h 2321960"/>
              <a:gd name="connsiteX42" fmla="*/ 51371 w 113417"/>
              <a:gd name="connsiteY42" fmla="*/ 1859623 h 2321960"/>
              <a:gd name="connsiteX43" fmla="*/ 71919 w 113417"/>
              <a:gd name="connsiteY43" fmla="*/ 1921268 h 2321960"/>
              <a:gd name="connsiteX44" fmla="*/ 51371 w 113417"/>
              <a:gd name="connsiteY44" fmla="*/ 1952090 h 2321960"/>
              <a:gd name="connsiteX45" fmla="*/ 20548 w 113417"/>
              <a:gd name="connsiteY45" fmla="*/ 1972638 h 2321960"/>
              <a:gd name="connsiteX46" fmla="*/ 0 w 113417"/>
              <a:gd name="connsiteY46" fmla="*/ 1993187 h 2321960"/>
              <a:gd name="connsiteX47" fmla="*/ 10274 w 113417"/>
              <a:gd name="connsiteY47" fmla="*/ 2024009 h 2321960"/>
              <a:gd name="connsiteX48" fmla="*/ 61645 w 113417"/>
              <a:gd name="connsiteY48" fmla="*/ 2054832 h 2321960"/>
              <a:gd name="connsiteX49" fmla="*/ 41097 w 113417"/>
              <a:gd name="connsiteY49" fmla="*/ 2198670 h 2321960"/>
              <a:gd name="connsiteX50" fmla="*/ 20548 w 113417"/>
              <a:gd name="connsiteY50" fmla="*/ 2219218 h 2321960"/>
              <a:gd name="connsiteX51" fmla="*/ 41097 w 113417"/>
              <a:gd name="connsiteY51" fmla="*/ 2250041 h 2321960"/>
              <a:gd name="connsiteX52" fmla="*/ 71919 w 113417"/>
              <a:gd name="connsiteY52" fmla="*/ 2260315 h 2321960"/>
              <a:gd name="connsiteX53" fmla="*/ 92468 w 113417"/>
              <a:gd name="connsiteY53" fmla="*/ 2321960 h 232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13417" h="2321960">
                <a:moveTo>
                  <a:pt x="30823" y="0"/>
                </a:moveTo>
                <a:cubicBezTo>
                  <a:pt x="47946" y="3425"/>
                  <a:pt x="67663" y="588"/>
                  <a:pt x="82193" y="10274"/>
                </a:cubicBezTo>
                <a:cubicBezTo>
                  <a:pt x="91204" y="16282"/>
                  <a:pt x="92468" y="30267"/>
                  <a:pt x="92468" y="41097"/>
                </a:cubicBezTo>
                <a:cubicBezTo>
                  <a:pt x="92468" y="72109"/>
                  <a:pt x="87292" y="102974"/>
                  <a:pt x="82193" y="133564"/>
                </a:cubicBezTo>
                <a:cubicBezTo>
                  <a:pt x="80412" y="144247"/>
                  <a:pt x="78684" y="155930"/>
                  <a:pt x="71919" y="164387"/>
                </a:cubicBezTo>
                <a:cubicBezTo>
                  <a:pt x="64205" y="174029"/>
                  <a:pt x="51371" y="178086"/>
                  <a:pt x="41097" y="184935"/>
                </a:cubicBezTo>
                <a:cubicBezTo>
                  <a:pt x="37672" y="195209"/>
                  <a:pt x="30823" y="204928"/>
                  <a:pt x="30823" y="215758"/>
                </a:cubicBezTo>
                <a:cubicBezTo>
                  <a:pt x="30823" y="261598"/>
                  <a:pt x="39772" y="250062"/>
                  <a:pt x="61645" y="277403"/>
                </a:cubicBezTo>
                <a:cubicBezTo>
                  <a:pt x="69359" y="287045"/>
                  <a:pt x="75344" y="297951"/>
                  <a:pt x="82193" y="308225"/>
                </a:cubicBezTo>
                <a:cubicBezTo>
                  <a:pt x="77697" y="339697"/>
                  <a:pt x="81515" y="386852"/>
                  <a:pt x="51371" y="410967"/>
                </a:cubicBezTo>
                <a:cubicBezTo>
                  <a:pt x="42914" y="417733"/>
                  <a:pt x="30822" y="417816"/>
                  <a:pt x="20548" y="421241"/>
                </a:cubicBezTo>
                <a:cubicBezTo>
                  <a:pt x="23973" y="445214"/>
                  <a:pt x="26074" y="469414"/>
                  <a:pt x="30823" y="493160"/>
                </a:cubicBezTo>
                <a:cubicBezTo>
                  <a:pt x="32947" y="503779"/>
                  <a:pt x="33439" y="516324"/>
                  <a:pt x="41097" y="523982"/>
                </a:cubicBezTo>
                <a:cubicBezTo>
                  <a:pt x="48755" y="531640"/>
                  <a:pt x="61645" y="530831"/>
                  <a:pt x="71919" y="534256"/>
                </a:cubicBezTo>
                <a:cubicBezTo>
                  <a:pt x="86617" y="578350"/>
                  <a:pt x="86088" y="559773"/>
                  <a:pt x="71919" y="616450"/>
                </a:cubicBezTo>
                <a:cubicBezTo>
                  <a:pt x="69292" y="626956"/>
                  <a:pt x="68410" y="638815"/>
                  <a:pt x="61645" y="647272"/>
                </a:cubicBezTo>
                <a:cubicBezTo>
                  <a:pt x="53931" y="656914"/>
                  <a:pt x="41097" y="660971"/>
                  <a:pt x="30823" y="667820"/>
                </a:cubicBezTo>
                <a:cubicBezTo>
                  <a:pt x="34248" y="691793"/>
                  <a:pt x="36348" y="715994"/>
                  <a:pt x="41097" y="739740"/>
                </a:cubicBezTo>
                <a:cubicBezTo>
                  <a:pt x="43221" y="750359"/>
                  <a:pt x="43713" y="762904"/>
                  <a:pt x="51371" y="770562"/>
                </a:cubicBezTo>
                <a:cubicBezTo>
                  <a:pt x="59029" y="778220"/>
                  <a:pt x="71919" y="777411"/>
                  <a:pt x="82193" y="780836"/>
                </a:cubicBezTo>
                <a:cubicBezTo>
                  <a:pt x="85618" y="794535"/>
                  <a:pt x="86906" y="808954"/>
                  <a:pt x="92468" y="821933"/>
                </a:cubicBezTo>
                <a:cubicBezTo>
                  <a:pt x="97332" y="833282"/>
                  <a:pt x="116408" y="840882"/>
                  <a:pt x="113016" y="852755"/>
                </a:cubicBezTo>
                <a:cubicBezTo>
                  <a:pt x="105688" y="878403"/>
                  <a:pt x="60951" y="898517"/>
                  <a:pt x="41097" y="914400"/>
                </a:cubicBezTo>
                <a:cubicBezTo>
                  <a:pt x="33533" y="920451"/>
                  <a:pt x="27398" y="928099"/>
                  <a:pt x="20548" y="934949"/>
                </a:cubicBezTo>
                <a:cubicBezTo>
                  <a:pt x="15703" y="949485"/>
                  <a:pt x="0" y="993966"/>
                  <a:pt x="0" y="1006868"/>
                </a:cubicBezTo>
                <a:cubicBezTo>
                  <a:pt x="0" y="1024330"/>
                  <a:pt x="3395" y="1042188"/>
                  <a:pt x="10274" y="1058238"/>
                </a:cubicBezTo>
                <a:cubicBezTo>
                  <a:pt x="14090" y="1067142"/>
                  <a:pt x="23973" y="1071937"/>
                  <a:pt x="30823" y="1078787"/>
                </a:cubicBezTo>
                <a:cubicBezTo>
                  <a:pt x="34248" y="1089061"/>
                  <a:pt x="35525" y="1100323"/>
                  <a:pt x="41097" y="1109609"/>
                </a:cubicBezTo>
                <a:cubicBezTo>
                  <a:pt x="68437" y="1155177"/>
                  <a:pt x="99135" y="1104884"/>
                  <a:pt x="51371" y="1212351"/>
                </a:cubicBezTo>
                <a:cubicBezTo>
                  <a:pt x="46972" y="1222248"/>
                  <a:pt x="30822" y="1219200"/>
                  <a:pt x="20548" y="1222625"/>
                </a:cubicBezTo>
                <a:cubicBezTo>
                  <a:pt x="10971" y="1251356"/>
                  <a:pt x="917" y="1263133"/>
                  <a:pt x="20548" y="1294544"/>
                </a:cubicBezTo>
                <a:cubicBezTo>
                  <a:pt x="30816" y="1310973"/>
                  <a:pt x="61645" y="1335641"/>
                  <a:pt x="61645" y="1335641"/>
                </a:cubicBezTo>
                <a:cubicBezTo>
                  <a:pt x="90750" y="1422957"/>
                  <a:pt x="50157" y="1316494"/>
                  <a:pt x="92468" y="1387011"/>
                </a:cubicBezTo>
                <a:cubicBezTo>
                  <a:pt x="98040" y="1396298"/>
                  <a:pt x="99317" y="1407560"/>
                  <a:pt x="102742" y="1417834"/>
                </a:cubicBezTo>
                <a:cubicBezTo>
                  <a:pt x="95892" y="1424683"/>
                  <a:pt x="84976" y="1429104"/>
                  <a:pt x="82193" y="1438382"/>
                </a:cubicBezTo>
                <a:cubicBezTo>
                  <a:pt x="74259" y="1464829"/>
                  <a:pt x="87753" y="1497956"/>
                  <a:pt x="71919" y="1520576"/>
                </a:cubicBezTo>
                <a:cubicBezTo>
                  <a:pt x="59498" y="1538320"/>
                  <a:pt x="10274" y="1541124"/>
                  <a:pt x="10274" y="1541124"/>
                </a:cubicBezTo>
                <a:cubicBezTo>
                  <a:pt x="17124" y="1561672"/>
                  <a:pt x="10275" y="1595920"/>
                  <a:pt x="30823" y="1602769"/>
                </a:cubicBezTo>
                <a:cubicBezTo>
                  <a:pt x="41097" y="1606194"/>
                  <a:pt x="51959" y="1608200"/>
                  <a:pt x="61645" y="1613043"/>
                </a:cubicBezTo>
                <a:cubicBezTo>
                  <a:pt x="87569" y="1626005"/>
                  <a:pt x="93902" y="1635025"/>
                  <a:pt x="113016" y="1654140"/>
                </a:cubicBezTo>
                <a:cubicBezTo>
                  <a:pt x="109591" y="1664414"/>
                  <a:pt x="109037" y="1676149"/>
                  <a:pt x="102742" y="1684962"/>
                </a:cubicBezTo>
                <a:cubicBezTo>
                  <a:pt x="91481" y="1700727"/>
                  <a:pt x="61645" y="1726059"/>
                  <a:pt x="61645" y="1726059"/>
                </a:cubicBezTo>
                <a:cubicBezTo>
                  <a:pt x="37777" y="1797664"/>
                  <a:pt x="33184" y="1780812"/>
                  <a:pt x="51371" y="1859623"/>
                </a:cubicBezTo>
                <a:cubicBezTo>
                  <a:pt x="56241" y="1880728"/>
                  <a:pt x="71919" y="1921268"/>
                  <a:pt x="71919" y="1921268"/>
                </a:cubicBezTo>
                <a:cubicBezTo>
                  <a:pt x="65070" y="1931542"/>
                  <a:pt x="60102" y="1943359"/>
                  <a:pt x="51371" y="1952090"/>
                </a:cubicBezTo>
                <a:cubicBezTo>
                  <a:pt x="42639" y="1960821"/>
                  <a:pt x="30190" y="1964924"/>
                  <a:pt x="20548" y="1972638"/>
                </a:cubicBezTo>
                <a:cubicBezTo>
                  <a:pt x="12984" y="1978689"/>
                  <a:pt x="6849" y="1986337"/>
                  <a:pt x="0" y="1993187"/>
                </a:cubicBezTo>
                <a:cubicBezTo>
                  <a:pt x="3425" y="2003461"/>
                  <a:pt x="4702" y="2014723"/>
                  <a:pt x="10274" y="2024009"/>
                </a:cubicBezTo>
                <a:cubicBezTo>
                  <a:pt x="24378" y="2047515"/>
                  <a:pt x="37400" y="2046750"/>
                  <a:pt x="61645" y="2054832"/>
                </a:cubicBezTo>
                <a:cubicBezTo>
                  <a:pt x="61486" y="2056579"/>
                  <a:pt x="60156" y="2166906"/>
                  <a:pt x="41097" y="2198670"/>
                </a:cubicBezTo>
                <a:cubicBezTo>
                  <a:pt x="36113" y="2206976"/>
                  <a:pt x="27398" y="2212369"/>
                  <a:pt x="20548" y="2219218"/>
                </a:cubicBezTo>
                <a:cubicBezTo>
                  <a:pt x="27398" y="2229492"/>
                  <a:pt x="31455" y="2242327"/>
                  <a:pt x="41097" y="2250041"/>
                </a:cubicBezTo>
                <a:cubicBezTo>
                  <a:pt x="49554" y="2256806"/>
                  <a:pt x="65624" y="2251502"/>
                  <a:pt x="71919" y="2260315"/>
                </a:cubicBezTo>
                <a:cubicBezTo>
                  <a:pt x="84509" y="2277940"/>
                  <a:pt x="92468" y="2321960"/>
                  <a:pt x="92468" y="2321960"/>
                </a:cubicBezTo>
              </a:path>
            </a:pathLst>
          </a:custGeom>
          <a:no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29" name="Freeform: Shape 128">
            <a:extLst>
              <a:ext uri="{FF2B5EF4-FFF2-40B4-BE49-F238E27FC236}">
                <a16:creationId xmlns:a16="http://schemas.microsoft.com/office/drawing/2014/main" id="{E0280E9C-BA7D-4346-9A73-DD25614A8092}"/>
              </a:ext>
            </a:extLst>
          </p:cNvPr>
          <p:cNvSpPr/>
          <p:nvPr/>
        </p:nvSpPr>
        <p:spPr bwMode="auto">
          <a:xfrm>
            <a:off x="179512" y="4149080"/>
            <a:ext cx="113417" cy="2321960"/>
          </a:xfrm>
          <a:custGeom>
            <a:avLst/>
            <a:gdLst>
              <a:gd name="connsiteX0" fmla="*/ 30823 w 113417"/>
              <a:gd name="connsiteY0" fmla="*/ 0 h 2321960"/>
              <a:gd name="connsiteX1" fmla="*/ 82193 w 113417"/>
              <a:gd name="connsiteY1" fmla="*/ 10274 h 2321960"/>
              <a:gd name="connsiteX2" fmla="*/ 92468 w 113417"/>
              <a:gd name="connsiteY2" fmla="*/ 41097 h 2321960"/>
              <a:gd name="connsiteX3" fmla="*/ 82193 w 113417"/>
              <a:gd name="connsiteY3" fmla="*/ 133564 h 2321960"/>
              <a:gd name="connsiteX4" fmla="*/ 71919 w 113417"/>
              <a:gd name="connsiteY4" fmla="*/ 164387 h 2321960"/>
              <a:gd name="connsiteX5" fmla="*/ 41097 w 113417"/>
              <a:gd name="connsiteY5" fmla="*/ 184935 h 2321960"/>
              <a:gd name="connsiteX6" fmla="*/ 30823 w 113417"/>
              <a:gd name="connsiteY6" fmla="*/ 215758 h 2321960"/>
              <a:gd name="connsiteX7" fmla="*/ 61645 w 113417"/>
              <a:gd name="connsiteY7" fmla="*/ 277403 h 2321960"/>
              <a:gd name="connsiteX8" fmla="*/ 82193 w 113417"/>
              <a:gd name="connsiteY8" fmla="*/ 308225 h 2321960"/>
              <a:gd name="connsiteX9" fmla="*/ 51371 w 113417"/>
              <a:gd name="connsiteY9" fmla="*/ 410967 h 2321960"/>
              <a:gd name="connsiteX10" fmla="*/ 20548 w 113417"/>
              <a:gd name="connsiteY10" fmla="*/ 421241 h 2321960"/>
              <a:gd name="connsiteX11" fmla="*/ 30823 w 113417"/>
              <a:gd name="connsiteY11" fmla="*/ 493160 h 2321960"/>
              <a:gd name="connsiteX12" fmla="*/ 41097 w 113417"/>
              <a:gd name="connsiteY12" fmla="*/ 523982 h 2321960"/>
              <a:gd name="connsiteX13" fmla="*/ 71919 w 113417"/>
              <a:gd name="connsiteY13" fmla="*/ 534256 h 2321960"/>
              <a:gd name="connsiteX14" fmla="*/ 71919 w 113417"/>
              <a:gd name="connsiteY14" fmla="*/ 616450 h 2321960"/>
              <a:gd name="connsiteX15" fmla="*/ 61645 w 113417"/>
              <a:gd name="connsiteY15" fmla="*/ 647272 h 2321960"/>
              <a:gd name="connsiteX16" fmla="*/ 30823 w 113417"/>
              <a:gd name="connsiteY16" fmla="*/ 667820 h 2321960"/>
              <a:gd name="connsiteX17" fmla="*/ 41097 w 113417"/>
              <a:gd name="connsiteY17" fmla="*/ 739740 h 2321960"/>
              <a:gd name="connsiteX18" fmla="*/ 51371 w 113417"/>
              <a:gd name="connsiteY18" fmla="*/ 770562 h 2321960"/>
              <a:gd name="connsiteX19" fmla="*/ 82193 w 113417"/>
              <a:gd name="connsiteY19" fmla="*/ 780836 h 2321960"/>
              <a:gd name="connsiteX20" fmla="*/ 92468 w 113417"/>
              <a:gd name="connsiteY20" fmla="*/ 821933 h 2321960"/>
              <a:gd name="connsiteX21" fmla="*/ 113016 w 113417"/>
              <a:gd name="connsiteY21" fmla="*/ 852755 h 2321960"/>
              <a:gd name="connsiteX22" fmla="*/ 41097 w 113417"/>
              <a:gd name="connsiteY22" fmla="*/ 914400 h 2321960"/>
              <a:gd name="connsiteX23" fmla="*/ 20548 w 113417"/>
              <a:gd name="connsiteY23" fmla="*/ 934949 h 2321960"/>
              <a:gd name="connsiteX24" fmla="*/ 0 w 113417"/>
              <a:gd name="connsiteY24" fmla="*/ 1006868 h 2321960"/>
              <a:gd name="connsiteX25" fmla="*/ 10274 w 113417"/>
              <a:gd name="connsiteY25" fmla="*/ 1058238 h 2321960"/>
              <a:gd name="connsiteX26" fmla="*/ 30823 w 113417"/>
              <a:gd name="connsiteY26" fmla="*/ 1078787 h 2321960"/>
              <a:gd name="connsiteX27" fmla="*/ 41097 w 113417"/>
              <a:gd name="connsiteY27" fmla="*/ 1109609 h 2321960"/>
              <a:gd name="connsiteX28" fmla="*/ 51371 w 113417"/>
              <a:gd name="connsiteY28" fmla="*/ 1212351 h 2321960"/>
              <a:gd name="connsiteX29" fmla="*/ 20548 w 113417"/>
              <a:gd name="connsiteY29" fmla="*/ 1222625 h 2321960"/>
              <a:gd name="connsiteX30" fmla="*/ 20548 w 113417"/>
              <a:gd name="connsiteY30" fmla="*/ 1294544 h 2321960"/>
              <a:gd name="connsiteX31" fmla="*/ 61645 w 113417"/>
              <a:gd name="connsiteY31" fmla="*/ 1335641 h 2321960"/>
              <a:gd name="connsiteX32" fmla="*/ 92468 w 113417"/>
              <a:gd name="connsiteY32" fmla="*/ 1387011 h 2321960"/>
              <a:gd name="connsiteX33" fmla="*/ 102742 w 113417"/>
              <a:gd name="connsiteY33" fmla="*/ 1417834 h 2321960"/>
              <a:gd name="connsiteX34" fmla="*/ 82193 w 113417"/>
              <a:gd name="connsiteY34" fmla="*/ 1438382 h 2321960"/>
              <a:gd name="connsiteX35" fmla="*/ 71919 w 113417"/>
              <a:gd name="connsiteY35" fmla="*/ 1520576 h 2321960"/>
              <a:gd name="connsiteX36" fmla="*/ 10274 w 113417"/>
              <a:gd name="connsiteY36" fmla="*/ 1541124 h 2321960"/>
              <a:gd name="connsiteX37" fmla="*/ 30823 w 113417"/>
              <a:gd name="connsiteY37" fmla="*/ 1602769 h 2321960"/>
              <a:gd name="connsiteX38" fmla="*/ 61645 w 113417"/>
              <a:gd name="connsiteY38" fmla="*/ 1613043 h 2321960"/>
              <a:gd name="connsiteX39" fmla="*/ 113016 w 113417"/>
              <a:gd name="connsiteY39" fmla="*/ 1654140 h 2321960"/>
              <a:gd name="connsiteX40" fmla="*/ 102742 w 113417"/>
              <a:gd name="connsiteY40" fmla="*/ 1684962 h 2321960"/>
              <a:gd name="connsiteX41" fmla="*/ 61645 w 113417"/>
              <a:gd name="connsiteY41" fmla="*/ 1726059 h 2321960"/>
              <a:gd name="connsiteX42" fmla="*/ 51371 w 113417"/>
              <a:gd name="connsiteY42" fmla="*/ 1859623 h 2321960"/>
              <a:gd name="connsiteX43" fmla="*/ 71919 w 113417"/>
              <a:gd name="connsiteY43" fmla="*/ 1921268 h 2321960"/>
              <a:gd name="connsiteX44" fmla="*/ 51371 w 113417"/>
              <a:gd name="connsiteY44" fmla="*/ 1952090 h 2321960"/>
              <a:gd name="connsiteX45" fmla="*/ 20548 w 113417"/>
              <a:gd name="connsiteY45" fmla="*/ 1972638 h 2321960"/>
              <a:gd name="connsiteX46" fmla="*/ 0 w 113417"/>
              <a:gd name="connsiteY46" fmla="*/ 1993187 h 2321960"/>
              <a:gd name="connsiteX47" fmla="*/ 10274 w 113417"/>
              <a:gd name="connsiteY47" fmla="*/ 2024009 h 2321960"/>
              <a:gd name="connsiteX48" fmla="*/ 61645 w 113417"/>
              <a:gd name="connsiteY48" fmla="*/ 2054832 h 2321960"/>
              <a:gd name="connsiteX49" fmla="*/ 41097 w 113417"/>
              <a:gd name="connsiteY49" fmla="*/ 2198670 h 2321960"/>
              <a:gd name="connsiteX50" fmla="*/ 20548 w 113417"/>
              <a:gd name="connsiteY50" fmla="*/ 2219218 h 2321960"/>
              <a:gd name="connsiteX51" fmla="*/ 41097 w 113417"/>
              <a:gd name="connsiteY51" fmla="*/ 2250041 h 2321960"/>
              <a:gd name="connsiteX52" fmla="*/ 71919 w 113417"/>
              <a:gd name="connsiteY52" fmla="*/ 2260315 h 2321960"/>
              <a:gd name="connsiteX53" fmla="*/ 92468 w 113417"/>
              <a:gd name="connsiteY53" fmla="*/ 2321960 h 232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13417" h="2321960">
                <a:moveTo>
                  <a:pt x="30823" y="0"/>
                </a:moveTo>
                <a:cubicBezTo>
                  <a:pt x="47946" y="3425"/>
                  <a:pt x="67663" y="588"/>
                  <a:pt x="82193" y="10274"/>
                </a:cubicBezTo>
                <a:cubicBezTo>
                  <a:pt x="91204" y="16282"/>
                  <a:pt x="92468" y="30267"/>
                  <a:pt x="92468" y="41097"/>
                </a:cubicBezTo>
                <a:cubicBezTo>
                  <a:pt x="92468" y="72109"/>
                  <a:pt x="87292" y="102974"/>
                  <a:pt x="82193" y="133564"/>
                </a:cubicBezTo>
                <a:cubicBezTo>
                  <a:pt x="80412" y="144247"/>
                  <a:pt x="78684" y="155930"/>
                  <a:pt x="71919" y="164387"/>
                </a:cubicBezTo>
                <a:cubicBezTo>
                  <a:pt x="64205" y="174029"/>
                  <a:pt x="51371" y="178086"/>
                  <a:pt x="41097" y="184935"/>
                </a:cubicBezTo>
                <a:cubicBezTo>
                  <a:pt x="37672" y="195209"/>
                  <a:pt x="30823" y="204928"/>
                  <a:pt x="30823" y="215758"/>
                </a:cubicBezTo>
                <a:cubicBezTo>
                  <a:pt x="30823" y="261598"/>
                  <a:pt x="39772" y="250062"/>
                  <a:pt x="61645" y="277403"/>
                </a:cubicBezTo>
                <a:cubicBezTo>
                  <a:pt x="69359" y="287045"/>
                  <a:pt x="75344" y="297951"/>
                  <a:pt x="82193" y="308225"/>
                </a:cubicBezTo>
                <a:cubicBezTo>
                  <a:pt x="77697" y="339697"/>
                  <a:pt x="81515" y="386852"/>
                  <a:pt x="51371" y="410967"/>
                </a:cubicBezTo>
                <a:cubicBezTo>
                  <a:pt x="42914" y="417733"/>
                  <a:pt x="30822" y="417816"/>
                  <a:pt x="20548" y="421241"/>
                </a:cubicBezTo>
                <a:cubicBezTo>
                  <a:pt x="23973" y="445214"/>
                  <a:pt x="26074" y="469414"/>
                  <a:pt x="30823" y="493160"/>
                </a:cubicBezTo>
                <a:cubicBezTo>
                  <a:pt x="32947" y="503779"/>
                  <a:pt x="33439" y="516324"/>
                  <a:pt x="41097" y="523982"/>
                </a:cubicBezTo>
                <a:cubicBezTo>
                  <a:pt x="48755" y="531640"/>
                  <a:pt x="61645" y="530831"/>
                  <a:pt x="71919" y="534256"/>
                </a:cubicBezTo>
                <a:cubicBezTo>
                  <a:pt x="86617" y="578350"/>
                  <a:pt x="86088" y="559773"/>
                  <a:pt x="71919" y="616450"/>
                </a:cubicBezTo>
                <a:cubicBezTo>
                  <a:pt x="69292" y="626956"/>
                  <a:pt x="68410" y="638815"/>
                  <a:pt x="61645" y="647272"/>
                </a:cubicBezTo>
                <a:cubicBezTo>
                  <a:pt x="53931" y="656914"/>
                  <a:pt x="41097" y="660971"/>
                  <a:pt x="30823" y="667820"/>
                </a:cubicBezTo>
                <a:cubicBezTo>
                  <a:pt x="34248" y="691793"/>
                  <a:pt x="36348" y="715994"/>
                  <a:pt x="41097" y="739740"/>
                </a:cubicBezTo>
                <a:cubicBezTo>
                  <a:pt x="43221" y="750359"/>
                  <a:pt x="43713" y="762904"/>
                  <a:pt x="51371" y="770562"/>
                </a:cubicBezTo>
                <a:cubicBezTo>
                  <a:pt x="59029" y="778220"/>
                  <a:pt x="71919" y="777411"/>
                  <a:pt x="82193" y="780836"/>
                </a:cubicBezTo>
                <a:cubicBezTo>
                  <a:pt x="85618" y="794535"/>
                  <a:pt x="86906" y="808954"/>
                  <a:pt x="92468" y="821933"/>
                </a:cubicBezTo>
                <a:cubicBezTo>
                  <a:pt x="97332" y="833282"/>
                  <a:pt x="116408" y="840882"/>
                  <a:pt x="113016" y="852755"/>
                </a:cubicBezTo>
                <a:cubicBezTo>
                  <a:pt x="105688" y="878403"/>
                  <a:pt x="60951" y="898517"/>
                  <a:pt x="41097" y="914400"/>
                </a:cubicBezTo>
                <a:cubicBezTo>
                  <a:pt x="33533" y="920451"/>
                  <a:pt x="27398" y="928099"/>
                  <a:pt x="20548" y="934949"/>
                </a:cubicBezTo>
                <a:cubicBezTo>
                  <a:pt x="15703" y="949485"/>
                  <a:pt x="0" y="993966"/>
                  <a:pt x="0" y="1006868"/>
                </a:cubicBezTo>
                <a:cubicBezTo>
                  <a:pt x="0" y="1024330"/>
                  <a:pt x="3395" y="1042188"/>
                  <a:pt x="10274" y="1058238"/>
                </a:cubicBezTo>
                <a:cubicBezTo>
                  <a:pt x="14090" y="1067142"/>
                  <a:pt x="23973" y="1071937"/>
                  <a:pt x="30823" y="1078787"/>
                </a:cubicBezTo>
                <a:cubicBezTo>
                  <a:pt x="34248" y="1089061"/>
                  <a:pt x="35525" y="1100323"/>
                  <a:pt x="41097" y="1109609"/>
                </a:cubicBezTo>
                <a:cubicBezTo>
                  <a:pt x="68437" y="1155177"/>
                  <a:pt x="99135" y="1104884"/>
                  <a:pt x="51371" y="1212351"/>
                </a:cubicBezTo>
                <a:cubicBezTo>
                  <a:pt x="46972" y="1222248"/>
                  <a:pt x="30822" y="1219200"/>
                  <a:pt x="20548" y="1222625"/>
                </a:cubicBezTo>
                <a:cubicBezTo>
                  <a:pt x="10971" y="1251356"/>
                  <a:pt x="917" y="1263133"/>
                  <a:pt x="20548" y="1294544"/>
                </a:cubicBezTo>
                <a:cubicBezTo>
                  <a:pt x="30816" y="1310973"/>
                  <a:pt x="61645" y="1335641"/>
                  <a:pt x="61645" y="1335641"/>
                </a:cubicBezTo>
                <a:cubicBezTo>
                  <a:pt x="90750" y="1422957"/>
                  <a:pt x="50157" y="1316494"/>
                  <a:pt x="92468" y="1387011"/>
                </a:cubicBezTo>
                <a:cubicBezTo>
                  <a:pt x="98040" y="1396298"/>
                  <a:pt x="99317" y="1407560"/>
                  <a:pt x="102742" y="1417834"/>
                </a:cubicBezTo>
                <a:cubicBezTo>
                  <a:pt x="95892" y="1424683"/>
                  <a:pt x="84976" y="1429104"/>
                  <a:pt x="82193" y="1438382"/>
                </a:cubicBezTo>
                <a:cubicBezTo>
                  <a:pt x="74259" y="1464829"/>
                  <a:pt x="87753" y="1497956"/>
                  <a:pt x="71919" y="1520576"/>
                </a:cubicBezTo>
                <a:cubicBezTo>
                  <a:pt x="59498" y="1538320"/>
                  <a:pt x="10274" y="1541124"/>
                  <a:pt x="10274" y="1541124"/>
                </a:cubicBezTo>
                <a:cubicBezTo>
                  <a:pt x="17124" y="1561672"/>
                  <a:pt x="10275" y="1595920"/>
                  <a:pt x="30823" y="1602769"/>
                </a:cubicBezTo>
                <a:cubicBezTo>
                  <a:pt x="41097" y="1606194"/>
                  <a:pt x="51959" y="1608200"/>
                  <a:pt x="61645" y="1613043"/>
                </a:cubicBezTo>
                <a:cubicBezTo>
                  <a:pt x="87569" y="1626005"/>
                  <a:pt x="93902" y="1635025"/>
                  <a:pt x="113016" y="1654140"/>
                </a:cubicBezTo>
                <a:cubicBezTo>
                  <a:pt x="109591" y="1664414"/>
                  <a:pt x="109037" y="1676149"/>
                  <a:pt x="102742" y="1684962"/>
                </a:cubicBezTo>
                <a:cubicBezTo>
                  <a:pt x="91481" y="1700727"/>
                  <a:pt x="61645" y="1726059"/>
                  <a:pt x="61645" y="1726059"/>
                </a:cubicBezTo>
                <a:cubicBezTo>
                  <a:pt x="37777" y="1797664"/>
                  <a:pt x="33184" y="1780812"/>
                  <a:pt x="51371" y="1859623"/>
                </a:cubicBezTo>
                <a:cubicBezTo>
                  <a:pt x="56241" y="1880728"/>
                  <a:pt x="71919" y="1921268"/>
                  <a:pt x="71919" y="1921268"/>
                </a:cubicBezTo>
                <a:cubicBezTo>
                  <a:pt x="65070" y="1931542"/>
                  <a:pt x="60102" y="1943359"/>
                  <a:pt x="51371" y="1952090"/>
                </a:cubicBezTo>
                <a:cubicBezTo>
                  <a:pt x="42639" y="1960821"/>
                  <a:pt x="30190" y="1964924"/>
                  <a:pt x="20548" y="1972638"/>
                </a:cubicBezTo>
                <a:cubicBezTo>
                  <a:pt x="12984" y="1978689"/>
                  <a:pt x="6849" y="1986337"/>
                  <a:pt x="0" y="1993187"/>
                </a:cubicBezTo>
                <a:cubicBezTo>
                  <a:pt x="3425" y="2003461"/>
                  <a:pt x="4702" y="2014723"/>
                  <a:pt x="10274" y="2024009"/>
                </a:cubicBezTo>
                <a:cubicBezTo>
                  <a:pt x="24378" y="2047515"/>
                  <a:pt x="37400" y="2046750"/>
                  <a:pt x="61645" y="2054832"/>
                </a:cubicBezTo>
                <a:cubicBezTo>
                  <a:pt x="61486" y="2056579"/>
                  <a:pt x="60156" y="2166906"/>
                  <a:pt x="41097" y="2198670"/>
                </a:cubicBezTo>
                <a:cubicBezTo>
                  <a:pt x="36113" y="2206976"/>
                  <a:pt x="27398" y="2212369"/>
                  <a:pt x="20548" y="2219218"/>
                </a:cubicBezTo>
                <a:cubicBezTo>
                  <a:pt x="27398" y="2229492"/>
                  <a:pt x="31455" y="2242327"/>
                  <a:pt x="41097" y="2250041"/>
                </a:cubicBezTo>
                <a:cubicBezTo>
                  <a:pt x="49554" y="2256806"/>
                  <a:pt x="65624" y="2251502"/>
                  <a:pt x="71919" y="2260315"/>
                </a:cubicBezTo>
                <a:cubicBezTo>
                  <a:pt x="84509" y="2277940"/>
                  <a:pt x="92468" y="2321960"/>
                  <a:pt x="92468" y="2321960"/>
                </a:cubicBezTo>
              </a:path>
            </a:pathLst>
          </a:custGeom>
          <a:no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30" name="Rectangle 129">
            <a:extLst>
              <a:ext uri="{FF2B5EF4-FFF2-40B4-BE49-F238E27FC236}">
                <a16:creationId xmlns:a16="http://schemas.microsoft.com/office/drawing/2014/main" id="{BBCF62B5-4A20-4451-98F8-844FFC4D0BA1}"/>
              </a:ext>
            </a:extLst>
          </p:cNvPr>
          <p:cNvSpPr/>
          <p:nvPr/>
        </p:nvSpPr>
        <p:spPr bwMode="auto">
          <a:xfrm>
            <a:off x="302403" y="4498517"/>
            <a:ext cx="1886710" cy="80691"/>
          </a:xfrm>
          <a:prstGeom prst="rect">
            <a:avLst/>
          </a:prstGeom>
          <a:solidFill>
            <a:schemeClr val="bg1"/>
          </a:solid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31" name="Rectangle 130">
            <a:extLst>
              <a:ext uri="{FF2B5EF4-FFF2-40B4-BE49-F238E27FC236}">
                <a16:creationId xmlns:a16="http://schemas.microsoft.com/office/drawing/2014/main" id="{B610BCCA-F9E5-4FF8-9953-A3BDB945ED5B}"/>
              </a:ext>
            </a:extLst>
          </p:cNvPr>
          <p:cNvSpPr/>
          <p:nvPr/>
        </p:nvSpPr>
        <p:spPr bwMode="auto">
          <a:xfrm>
            <a:off x="341700" y="5739885"/>
            <a:ext cx="1886710" cy="80691"/>
          </a:xfrm>
          <a:prstGeom prst="rect">
            <a:avLst/>
          </a:prstGeom>
          <a:solidFill>
            <a:schemeClr val="bg1"/>
          </a:solid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grpSp>
        <p:nvGrpSpPr>
          <p:cNvPr id="132" name="Group 131">
            <a:extLst>
              <a:ext uri="{FF2B5EF4-FFF2-40B4-BE49-F238E27FC236}">
                <a16:creationId xmlns:a16="http://schemas.microsoft.com/office/drawing/2014/main" id="{BE6C3056-7603-4A45-BDC8-F8C39309857C}"/>
              </a:ext>
            </a:extLst>
          </p:cNvPr>
          <p:cNvGrpSpPr/>
          <p:nvPr/>
        </p:nvGrpSpPr>
        <p:grpSpPr>
          <a:xfrm>
            <a:off x="2858809" y="4344692"/>
            <a:ext cx="777087" cy="1651194"/>
            <a:chOff x="2943909" y="2075436"/>
            <a:chExt cx="1550307" cy="1651194"/>
          </a:xfrm>
        </p:grpSpPr>
        <p:grpSp>
          <p:nvGrpSpPr>
            <p:cNvPr id="133" name="Group 132">
              <a:extLst>
                <a:ext uri="{FF2B5EF4-FFF2-40B4-BE49-F238E27FC236}">
                  <a16:creationId xmlns:a16="http://schemas.microsoft.com/office/drawing/2014/main" id="{82F432BA-20C5-46FF-80D3-F32993DE06FD}"/>
                </a:ext>
              </a:extLst>
            </p:cNvPr>
            <p:cNvGrpSpPr/>
            <p:nvPr/>
          </p:nvGrpSpPr>
          <p:grpSpPr>
            <a:xfrm>
              <a:off x="2943909" y="2075436"/>
              <a:ext cx="1548057" cy="1651194"/>
              <a:chOff x="3673419" y="2075436"/>
              <a:chExt cx="1548057" cy="1651194"/>
            </a:xfrm>
          </p:grpSpPr>
          <p:sp>
            <p:nvSpPr>
              <p:cNvPr id="135" name="Rectangle 134">
                <a:extLst>
                  <a:ext uri="{FF2B5EF4-FFF2-40B4-BE49-F238E27FC236}">
                    <a16:creationId xmlns:a16="http://schemas.microsoft.com/office/drawing/2014/main" id="{9A44C3EB-0901-43B0-95F3-6A2A17690D7E}"/>
                  </a:ext>
                </a:extLst>
              </p:cNvPr>
              <p:cNvSpPr/>
              <p:nvPr/>
            </p:nvSpPr>
            <p:spPr bwMode="auto">
              <a:xfrm>
                <a:off x="3673419" y="2279130"/>
                <a:ext cx="101195" cy="1280160"/>
              </a:xfrm>
              <a:prstGeom prst="rect">
                <a:avLst/>
              </a:prstGeom>
              <a:solidFill>
                <a:schemeClr val="tx1"/>
              </a:solid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grpSp>
            <p:nvGrpSpPr>
              <p:cNvPr id="136" name="Group 135">
                <a:extLst>
                  <a:ext uri="{FF2B5EF4-FFF2-40B4-BE49-F238E27FC236}">
                    <a16:creationId xmlns:a16="http://schemas.microsoft.com/office/drawing/2014/main" id="{8F5EA99E-1982-47F3-8DB0-70794B04F54D}"/>
                  </a:ext>
                </a:extLst>
              </p:cNvPr>
              <p:cNvGrpSpPr/>
              <p:nvPr/>
            </p:nvGrpSpPr>
            <p:grpSpPr>
              <a:xfrm>
                <a:off x="3768419" y="2075436"/>
                <a:ext cx="1453057" cy="1651194"/>
                <a:chOff x="3768419" y="2075436"/>
                <a:chExt cx="1453057" cy="1651194"/>
              </a:xfrm>
            </p:grpSpPr>
            <p:sp>
              <p:nvSpPr>
                <p:cNvPr id="137" name="Flowchart: Process 136">
                  <a:extLst>
                    <a:ext uri="{FF2B5EF4-FFF2-40B4-BE49-F238E27FC236}">
                      <a16:creationId xmlns:a16="http://schemas.microsoft.com/office/drawing/2014/main" id="{14749A7F-729E-4C12-A5DD-03F8A6D8BC89}"/>
                    </a:ext>
                  </a:extLst>
                </p:cNvPr>
                <p:cNvSpPr/>
                <p:nvPr/>
              </p:nvSpPr>
              <p:spPr bwMode="auto">
                <a:xfrm rot="16200000">
                  <a:off x="4075279" y="1883836"/>
                  <a:ext cx="132151" cy="720080"/>
                </a:xfrm>
                <a:prstGeom prst="flowChartProcess">
                  <a:avLst/>
                </a:prstGeom>
                <a:pattFill prst="dkUpDiag">
                  <a:fgClr>
                    <a:schemeClr val="tx1"/>
                  </a:fgClr>
                  <a:bgClr>
                    <a:schemeClr val="bg1"/>
                  </a:bgClr>
                </a:patt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dirty="0">
                    <a:ln>
                      <a:noFill/>
                    </a:ln>
                    <a:solidFill>
                      <a:schemeClr val="tx1"/>
                    </a:solidFill>
                    <a:effectLst/>
                    <a:latin typeface="Times New Roman" pitchFamily="18" charset="0"/>
                    <a:ea typeface="ＭＳ Ｐゴシック" charset="-128"/>
                  </a:endParaRPr>
                </a:p>
              </p:txBody>
            </p:sp>
            <p:sp>
              <p:nvSpPr>
                <p:cNvPr id="138" name="Flowchart: Process 137">
                  <a:extLst>
                    <a:ext uri="{FF2B5EF4-FFF2-40B4-BE49-F238E27FC236}">
                      <a16:creationId xmlns:a16="http://schemas.microsoft.com/office/drawing/2014/main" id="{0B3961AD-F02B-4C5D-9E44-E8039F705CAC}"/>
                    </a:ext>
                  </a:extLst>
                </p:cNvPr>
                <p:cNvSpPr/>
                <p:nvPr/>
              </p:nvSpPr>
              <p:spPr bwMode="auto">
                <a:xfrm rot="16200000">
                  <a:off x="4795360" y="1781472"/>
                  <a:ext cx="132151" cy="720080"/>
                </a:xfrm>
                <a:prstGeom prst="flowChartProcess">
                  <a:avLst/>
                </a:prstGeom>
                <a:pattFill prst="dkUpDiag">
                  <a:fgClr>
                    <a:schemeClr val="tx1"/>
                  </a:fgClr>
                  <a:bgClr>
                    <a:schemeClr val="bg1"/>
                  </a:bgClr>
                </a:patt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dirty="0">
                    <a:ln>
                      <a:noFill/>
                    </a:ln>
                    <a:solidFill>
                      <a:schemeClr val="tx1"/>
                    </a:solidFill>
                    <a:effectLst/>
                    <a:latin typeface="Times New Roman" pitchFamily="18" charset="0"/>
                    <a:ea typeface="ＭＳ Ｐゴシック" charset="-128"/>
                  </a:endParaRPr>
                </a:p>
              </p:txBody>
            </p:sp>
            <p:sp>
              <p:nvSpPr>
                <p:cNvPr id="139" name="Flowchart: Process 138">
                  <a:extLst>
                    <a:ext uri="{FF2B5EF4-FFF2-40B4-BE49-F238E27FC236}">
                      <a16:creationId xmlns:a16="http://schemas.microsoft.com/office/drawing/2014/main" id="{455E3F6A-CFDD-4054-BAFD-49C1E429DF93}"/>
                    </a:ext>
                  </a:extLst>
                </p:cNvPr>
                <p:cNvSpPr/>
                <p:nvPr/>
              </p:nvSpPr>
              <p:spPr bwMode="auto">
                <a:xfrm rot="16200000">
                  <a:off x="4062383" y="3167897"/>
                  <a:ext cx="132151" cy="720080"/>
                </a:xfrm>
                <a:prstGeom prst="flowChartProcess">
                  <a:avLst/>
                </a:prstGeom>
                <a:pattFill prst="dkUpDiag">
                  <a:fgClr>
                    <a:schemeClr val="tx1"/>
                  </a:fgClr>
                  <a:bgClr>
                    <a:schemeClr val="bg1"/>
                  </a:bgClr>
                </a:patt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dirty="0">
                    <a:ln>
                      <a:noFill/>
                    </a:ln>
                    <a:solidFill>
                      <a:schemeClr val="tx1"/>
                    </a:solidFill>
                    <a:effectLst/>
                    <a:latin typeface="Times New Roman" pitchFamily="18" charset="0"/>
                    <a:ea typeface="ＭＳ Ｐゴシック" charset="-128"/>
                  </a:endParaRPr>
                </a:p>
              </p:txBody>
            </p:sp>
            <p:sp>
              <p:nvSpPr>
                <p:cNvPr id="140" name="Flowchart: Process 139">
                  <a:extLst>
                    <a:ext uri="{FF2B5EF4-FFF2-40B4-BE49-F238E27FC236}">
                      <a16:creationId xmlns:a16="http://schemas.microsoft.com/office/drawing/2014/main" id="{BEDE2613-7ABC-4BDB-A2AE-A6F571A01E2C}"/>
                    </a:ext>
                  </a:extLst>
                </p:cNvPr>
                <p:cNvSpPr/>
                <p:nvPr/>
              </p:nvSpPr>
              <p:spPr bwMode="auto">
                <a:xfrm rot="16200000">
                  <a:off x="4780588" y="3300515"/>
                  <a:ext cx="132151" cy="720080"/>
                </a:xfrm>
                <a:prstGeom prst="flowChartProcess">
                  <a:avLst/>
                </a:prstGeom>
                <a:pattFill prst="dkUpDiag">
                  <a:fgClr>
                    <a:schemeClr val="tx1"/>
                  </a:fgClr>
                  <a:bgClr>
                    <a:schemeClr val="bg1"/>
                  </a:bgClr>
                </a:patt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dirty="0">
                    <a:ln>
                      <a:noFill/>
                    </a:ln>
                    <a:solidFill>
                      <a:schemeClr val="tx1"/>
                    </a:solidFill>
                    <a:effectLst/>
                    <a:latin typeface="Times New Roman" pitchFamily="18" charset="0"/>
                    <a:ea typeface="ＭＳ Ｐゴシック" charset="-128"/>
                  </a:endParaRPr>
                </a:p>
              </p:txBody>
            </p:sp>
          </p:grpSp>
        </p:grpSp>
        <p:cxnSp>
          <p:nvCxnSpPr>
            <p:cNvPr id="134" name="Straight Connector 133">
              <a:extLst>
                <a:ext uri="{FF2B5EF4-FFF2-40B4-BE49-F238E27FC236}">
                  <a16:creationId xmlns:a16="http://schemas.microsoft.com/office/drawing/2014/main" id="{2E4DFBDF-1D4C-4BEA-8587-24838C717FB8}"/>
                </a:ext>
              </a:extLst>
            </p:cNvPr>
            <p:cNvCxnSpPr>
              <a:cxnSpLocks/>
            </p:cNvCxnSpPr>
            <p:nvPr/>
          </p:nvCxnSpPr>
          <p:spPr bwMode="auto">
            <a:xfrm flipH="1">
              <a:off x="4479444" y="2131238"/>
              <a:ext cx="14772" cy="1519043"/>
            </a:xfrm>
            <a:prstGeom prst="line">
              <a:avLst/>
            </a:pr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grpSp>
      <p:grpSp>
        <p:nvGrpSpPr>
          <p:cNvPr id="141" name="Group 140">
            <a:extLst>
              <a:ext uri="{FF2B5EF4-FFF2-40B4-BE49-F238E27FC236}">
                <a16:creationId xmlns:a16="http://schemas.microsoft.com/office/drawing/2014/main" id="{B9EB4DAE-6C6B-4458-B965-EFAEFCEF1704}"/>
              </a:ext>
            </a:extLst>
          </p:cNvPr>
          <p:cNvGrpSpPr/>
          <p:nvPr/>
        </p:nvGrpSpPr>
        <p:grpSpPr>
          <a:xfrm>
            <a:off x="443099" y="4126076"/>
            <a:ext cx="7590164" cy="2330410"/>
            <a:chOff x="587115" y="1856820"/>
            <a:chExt cx="7590164" cy="2330410"/>
          </a:xfrm>
        </p:grpSpPr>
        <p:grpSp>
          <p:nvGrpSpPr>
            <p:cNvPr id="142" name="Group 141">
              <a:extLst>
                <a:ext uri="{FF2B5EF4-FFF2-40B4-BE49-F238E27FC236}">
                  <a16:creationId xmlns:a16="http://schemas.microsoft.com/office/drawing/2014/main" id="{997140EF-9176-4E06-9E1D-B56FF793F93B}"/>
                </a:ext>
              </a:extLst>
            </p:cNvPr>
            <p:cNvGrpSpPr/>
            <p:nvPr/>
          </p:nvGrpSpPr>
          <p:grpSpPr>
            <a:xfrm>
              <a:off x="587115" y="2040400"/>
              <a:ext cx="6029012" cy="1680629"/>
              <a:chOff x="587115" y="2040400"/>
              <a:chExt cx="6029012" cy="1680629"/>
            </a:xfrm>
          </p:grpSpPr>
          <p:grpSp>
            <p:nvGrpSpPr>
              <p:cNvPr id="149" name="Group 148">
                <a:extLst>
                  <a:ext uri="{FF2B5EF4-FFF2-40B4-BE49-F238E27FC236}">
                    <a16:creationId xmlns:a16="http://schemas.microsoft.com/office/drawing/2014/main" id="{B9F0FAFD-8B06-494D-AB85-3E1CAC26D940}"/>
                  </a:ext>
                </a:extLst>
              </p:cNvPr>
              <p:cNvGrpSpPr/>
              <p:nvPr/>
            </p:nvGrpSpPr>
            <p:grpSpPr>
              <a:xfrm>
                <a:off x="587115" y="2287568"/>
                <a:ext cx="5966669" cy="1199390"/>
                <a:chOff x="919062" y="2287568"/>
                <a:chExt cx="5966669" cy="1199390"/>
              </a:xfrm>
            </p:grpSpPr>
            <p:sp>
              <p:nvSpPr>
                <p:cNvPr id="151" name="Trapezoid 150">
                  <a:extLst>
                    <a:ext uri="{FF2B5EF4-FFF2-40B4-BE49-F238E27FC236}">
                      <a16:creationId xmlns:a16="http://schemas.microsoft.com/office/drawing/2014/main" id="{EBFCA435-1CA4-4E5C-86C9-840D32F9606E}"/>
                    </a:ext>
                  </a:extLst>
                </p:cNvPr>
                <p:cNvSpPr/>
                <p:nvPr/>
              </p:nvSpPr>
              <p:spPr bwMode="auto">
                <a:xfrm rot="5400000">
                  <a:off x="4938306" y="2241952"/>
                  <a:ext cx="1139596" cy="1296144"/>
                </a:xfrm>
                <a:prstGeom prst="trapezoid">
                  <a:avLst/>
                </a:prstGeom>
                <a:solidFill>
                  <a:srgbClr val="FF9966"/>
                </a:solid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52" name="Rectangle 151">
                  <a:extLst>
                    <a:ext uri="{FF2B5EF4-FFF2-40B4-BE49-F238E27FC236}">
                      <a16:creationId xmlns:a16="http://schemas.microsoft.com/office/drawing/2014/main" id="{C317123F-5C12-47EC-8BCC-75759DD2A27F}"/>
                    </a:ext>
                  </a:extLst>
                </p:cNvPr>
                <p:cNvSpPr/>
                <p:nvPr/>
              </p:nvSpPr>
              <p:spPr bwMode="auto">
                <a:xfrm>
                  <a:off x="919062" y="2320226"/>
                  <a:ext cx="3927602" cy="1140129"/>
                </a:xfrm>
                <a:prstGeom prst="rect">
                  <a:avLst/>
                </a:prstGeom>
                <a:solidFill>
                  <a:srgbClr val="FF9966"/>
                </a:solid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53" name="Rectangle 152">
                  <a:extLst>
                    <a:ext uri="{FF2B5EF4-FFF2-40B4-BE49-F238E27FC236}">
                      <a16:creationId xmlns:a16="http://schemas.microsoft.com/office/drawing/2014/main" id="{3568E76D-F386-443D-B750-5A6E0BA46996}"/>
                    </a:ext>
                  </a:extLst>
                </p:cNvPr>
                <p:cNvSpPr/>
                <p:nvPr/>
              </p:nvSpPr>
              <p:spPr bwMode="auto">
                <a:xfrm>
                  <a:off x="6165650" y="2616364"/>
                  <a:ext cx="720081" cy="545152"/>
                </a:xfrm>
                <a:prstGeom prst="rect">
                  <a:avLst/>
                </a:prstGeom>
                <a:pattFill prst="ltHorz">
                  <a:fgClr>
                    <a:srgbClr val="FF9966"/>
                  </a:fgClr>
                  <a:bgClr>
                    <a:schemeClr val="bg1"/>
                  </a:bgClr>
                </a:patt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54" name="Rectangle 153">
                  <a:extLst>
                    <a:ext uri="{FF2B5EF4-FFF2-40B4-BE49-F238E27FC236}">
                      <a16:creationId xmlns:a16="http://schemas.microsoft.com/office/drawing/2014/main" id="{CFF254EB-56A9-4F2A-B3EE-AFBDFE7A6F31}"/>
                    </a:ext>
                  </a:extLst>
                </p:cNvPr>
                <p:cNvSpPr/>
                <p:nvPr/>
              </p:nvSpPr>
              <p:spPr bwMode="auto">
                <a:xfrm>
                  <a:off x="2665076" y="2318293"/>
                  <a:ext cx="109522" cy="144704"/>
                </a:xfrm>
                <a:prstGeom prst="rect">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55" name="Rectangle 154">
                  <a:extLst>
                    <a:ext uri="{FF2B5EF4-FFF2-40B4-BE49-F238E27FC236}">
                      <a16:creationId xmlns:a16="http://schemas.microsoft.com/office/drawing/2014/main" id="{D6DCE6A0-D646-47BB-85F8-8E0C00775459}"/>
                    </a:ext>
                  </a:extLst>
                </p:cNvPr>
                <p:cNvSpPr/>
                <p:nvPr/>
              </p:nvSpPr>
              <p:spPr bwMode="auto">
                <a:xfrm>
                  <a:off x="1938706" y="2287568"/>
                  <a:ext cx="113416" cy="1192802"/>
                </a:xfrm>
                <a:prstGeom prst="rect">
                  <a:avLst/>
                </a:prstGeom>
                <a:solidFill>
                  <a:schemeClr val="tx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56" name="Flowchart: Terminator 155">
                  <a:extLst>
                    <a:ext uri="{FF2B5EF4-FFF2-40B4-BE49-F238E27FC236}">
                      <a16:creationId xmlns:a16="http://schemas.microsoft.com/office/drawing/2014/main" id="{EB8203AB-A00B-4E00-B008-491BAE819003}"/>
                    </a:ext>
                  </a:extLst>
                </p:cNvPr>
                <p:cNvSpPr/>
                <p:nvPr/>
              </p:nvSpPr>
              <p:spPr bwMode="auto">
                <a:xfrm>
                  <a:off x="1938706" y="2811569"/>
                  <a:ext cx="113416" cy="224955"/>
                </a:xfrm>
                <a:prstGeom prst="flowChartTerminator">
                  <a:avLst/>
                </a:prstGeom>
                <a:solidFill>
                  <a:schemeClr val="bg1"/>
                </a:solid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57" name="Rectangle 156">
                  <a:extLst>
                    <a:ext uri="{FF2B5EF4-FFF2-40B4-BE49-F238E27FC236}">
                      <a16:creationId xmlns:a16="http://schemas.microsoft.com/office/drawing/2014/main" id="{BCD55783-EC1A-463A-9591-A7ECF9BC59B8}"/>
                    </a:ext>
                  </a:extLst>
                </p:cNvPr>
                <p:cNvSpPr/>
                <p:nvPr/>
              </p:nvSpPr>
              <p:spPr bwMode="auto">
                <a:xfrm>
                  <a:off x="2665076" y="3342254"/>
                  <a:ext cx="109522" cy="144704"/>
                </a:xfrm>
                <a:prstGeom prst="rect">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grpSp>
          <p:sp>
            <p:nvSpPr>
              <p:cNvPr id="150" name="Flowchart: Magnetic Disk 149">
                <a:extLst>
                  <a:ext uri="{FF2B5EF4-FFF2-40B4-BE49-F238E27FC236}">
                    <a16:creationId xmlns:a16="http://schemas.microsoft.com/office/drawing/2014/main" id="{4C347B9C-68E0-4387-B3CC-03DC71EB0995}"/>
                  </a:ext>
                </a:extLst>
              </p:cNvPr>
              <p:cNvSpPr/>
              <p:nvPr/>
            </p:nvSpPr>
            <p:spPr bwMode="auto">
              <a:xfrm rot="16200000">
                <a:off x="5601946" y="2706849"/>
                <a:ext cx="1680629" cy="347732"/>
              </a:xfrm>
              <a:prstGeom prst="flowChartMagneticDisk">
                <a:avLst/>
              </a:prstGeom>
              <a:pattFill prst="narVert">
                <a:fgClr>
                  <a:schemeClr val="tx1">
                    <a:lumMod val="50000"/>
                    <a:lumOff val="50000"/>
                  </a:schemeClr>
                </a:fgClr>
                <a:bgClr>
                  <a:schemeClr val="bg1"/>
                </a:bgClr>
              </a:patt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grpSp>
        <p:grpSp>
          <p:nvGrpSpPr>
            <p:cNvPr id="143" name="Group 142">
              <a:extLst>
                <a:ext uri="{FF2B5EF4-FFF2-40B4-BE49-F238E27FC236}">
                  <a16:creationId xmlns:a16="http://schemas.microsoft.com/office/drawing/2014/main" id="{B55CCDA7-1E37-4083-98E1-1F00A4C1ACF4}"/>
                </a:ext>
              </a:extLst>
            </p:cNvPr>
            <p:cNvGrpSpPr/>
            <p:nvPr/>
          </p:nvGrpSpPr>
          <p:grpSpPr>
            <a:xfrm>
              <a:off x="5910697" y="1856820"/>
              <a:ext cx="2266582" cy="2330410"/>
              <a:chOff x="5910697" y="1856820"/>
              <a:chExt cx="2266582" cy="2330410"/>
            </a:xfrm>
          </p:grpSpPr>
          <p:sp>
            <p:nvSpPr>
              <p:cNvPr id="144" name="Flowchart: Process 143">
                <a:extLst>
                  <a:ext uri="{FF2B5EF4-FFF2-40B4-BE49-F238E27FC236}">
                    <a16:creationId xmlns:a16="http://schemas.microsoft.com/office/drawing/2014/main" id="{089A8A8A-60EE-4235-830C-8C535BB09E83}"/>
                  </a:ext>
                </a:extLst>
              </p:cNvPr>
              <p:cNvSpPr/>
              <p:nvPr/>
            </p:nvSpPr>
            <p:spPr bwMode="auto">
              <a:xfrm>
                <a:off x="5910697" y="1856820"/>
                <a:ext cx="289572" cy="2321960"/>
              </a:xfrm>
              <a:prstGeom prst="flowChartProcess">
                <a:avLst/>
              </a:prstGeom>
              <a:solidFill>
                <a:schemeClr val="tx1"/>
              </a:solid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45" name="Flowchart: Process 144">
                <a:extLst>
                  <a:ext uri="{FF2B5EF4-FFF2-40B4-BE49-F238E27FC236}">
                    <a16:creationId xmlns:a16="http://schemas.microsoft.com/office/drawing/2014/main" id="{8B3DCC6D-C12F-4828-A73E-13BFB779B249}"/>
                  </a:ext>
                </a:extLst>
              </p:cNvPr>
              <p:cNvSpPr/>
              <p:nvPr/>
            </p:nvSpPr>
            <p:spPr bwMode="auto">
              <a:xfrm>
                <a:off x="6710022" y="1865270"/>
                <a:ext cx="289572" cy="2321960"/>
              </a:xfrm>
              <a:prstGeom prst="flowChartProcess">
                <a:avLst/>
              </a:prstGeom>
              <a:solidFill>
                <a:schemeClr val="tx1"/>
              </a:solid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46" name="Arrow: Left-Right 145">
                <a:extLst>
                  <a:ext uri="{FF2B5EF4-FFF2-40B4-BE49-F238E27FC236}">
                    <a16:creationId xmlns:a16="http://schemas.microsoft.com/office/drawing/2014/main" id="{E7BBEC55-0121-4DDD-A558-DE94DE6AA11C}"/>
                  </a:ext>
                </a:extLst>
              </p:cNvPr>
              <p:cNvSpPr/>
              <p:nvPr/>
            </p:nvSpPr>
            <p:spPr bwMode="auto">
              <a:xfrm>
                <a:off x="7023138" y="2750316"/>
                <a:ext cx="1154141" cy="411200"/>
              </a:xfrm>
              <a:prstGeom prst="leftRightArrow">
                <a:avLst/>
              </a:prstGeom>
              <a:solidFill>
                <a:schemeClr val="tx1"/>
              </a:solid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cxnSp>
            <p:nvCxnSpPr>
              <p:cNvPr id="147" name="Straight Connector 146">
                <a:extLst>
                  <a:ext uri="{FF2B5EF4-FFF2-40B4-BE49-F238E27FC236}">
                    <a16:creationId xmlns:a16="http://schemas.microsoft.com/office/drawing/2014/main" id="{0D58AAB8-3001-436D-8328-95FB3CBBFBFD}"/>
                  </a:ext>
                </a:extLst>
              </p:cNvPr>
              <p:cNvCxnSpPr/>
              <p:nvPr/>
            </p:nvCxnSpPr>
            <p:spPr bwMode="auto">
              <a:xfrm>
                <a:off x="5982615" y="1856820"/>
                <a:ext cx="914400" cy="0"/>
              </a:xfrm>
              <a:prstGeom prst="line">
                <a:avLst/>
              </a:pr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48" name="Straight Connector 147">
                <a:extLst>
                  <a:ext uri="{FF2B5EF4-FFF2-40B4-BE49-F238E27FC236}">
                    <a16:creationId xmlns:a16="http://schemas.microsoft.com/office/drawing/2014/main" id="{F4319788-18D3-492F-8F74-6913C556089E}"/>
                  </a:ext>
                </a:extLst>
              </p:cNvPr>
              <p:cNvCxnSpPr/>
              <p:nvPr/>
            </p:nvCxnSpPr>
            <p:spPr bwMode="auto">
              <a:xfrm>
                <a:off x="5940408" y="4165703"/>
                <a:ext cx="914400" cy="0"/>
              </a:xfrm>
              <a:prstGeom prst="line">
                <a:avLst/>
              </a:pr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grpSp>
      </p:grpSp>
      <p:sp>
        <p:nvSpPr>
          <p:cNvPr id="158" name="Flowchart: Process 157">
            <a:extLst>
              <a:ext uri="{FF2B5EF4-FFF2-40B4-BE49-F238E27FC236}">
                <a16:creationId xmlns:a16="http://schemas.microsoft.com/office/drawing/2014/main" id="{2D7724EF-B43D-42E8-BA83-A8C871EAA8E6}"/>
              </a:ext>
            </a:extLst>
          </p:cNvPr>
          <p:cNvSpPr/>
          <p:nvPr/>
        </p:nvSpPr>
        <p:spPr bwMode="auto">
          <a:xfrm flipH="1">
            <a:off x="2825342" y="4508789"/>
            <a:ext cx="101191" cy="1220289"/>
          </a:xfrm>
          <a:prstGeom prst="flowChartProcess">
            <a:avLst/>
          </a:prstGeom>
          <a:solidFill>
            <a:schemeClr val="tx1"/>
          </a:solid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cxnSp>
        <p:nvCxnSpPr>
          <p:cNvPr id="159" name="Straight Arrow Connector 158">
            <a:extLst>
              <a:ext uri="{FF2B5EF4-FFF2-40B4-BE49-F238E27FC236}">
                <a16:creationId xmlns:a16="http://schemas.microsoft.com/office/drawing/2014/main" id="{C65C3DF3-FC1F-41F1-84D6-D87130EA1EE3}"/>
              </a:ext>
            </a:extLst>
          </p:cNvPr>
          <p:cNvCxnSpPr>
            <a:endCxn id="116" idx="0"/>
          </p:cNvCxnSpPr>
          <p:nvPr/>
        </p:nvCxnSpPr>
        <p:spPr bwMode="auto">
          <a:xfrm flipH="1">
            <a:off x="3780682" y="3909921"/>
            <a:ext cx="287262" cy="239159"/>
          </a:xfrm>
          <a:prstGeom prst="straightConnector1">
            <a:avLst/>
          </a:prstGeom>
          <a:solidFill>
            <a:schemeClr val="accent1"/>
          </a:solidFill>
          <a:ln w="9525" cap="flat" cmpd="sng" algn="ctr">
            <a:solidFill>
              <a:srgbClr val="00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60" name="TextBox 159">
            <a:extLst>
              <a:ext uri="{FF2B5EF4-FFF2-40B4-BE49-F238E27FC236}">
                <a16:creationId xmlns:a16="http://schemas.microsoft.com/office/drawing/2014/main" id="{99BDF658-3DEA-4A5F-9704-CE121742E413}"/>
              </a:ext>
            </a:extLst>
          </p:cNvPr>
          <p:cNvSpPr txBox="1"/>
          <p:nvPr/>
        </p:nvSpPr>
        <p:spPr>
          <a:xfrm>
            <a:off x="3740121" y="3793890"/>
            <a:ext cx="1547264" cy="276999"/>
          </a:xfrm>
          <a:prstGeom prst="rect">
            <a:avLst/>
          </a:prstGeom>
          <a:noFill/>
        </p:spPr>
        <p:txBody>
          <a:bodyPr wrap="square" rtlCol="0">
            <a:spAutoFit/>
          </a:bodyPr>
          <a:lstStyle/>
          <a:p>
            <a:r>
              <a:rPr lang="en-US" sz="1200" b="0" dirty="0"/>
              <a:t>Fixed plate</a:t>
            </a:r>
          </a:p>
        </p:txBody>
      </p:sp>
      <p:sp>
        <p:nvSpPr>
          <p:cNvPr id="162" name="TextBox 161">
            <a:extLst>
              <a:ext uri="{FF2B5EF4-FFF2-40B4-BE49-F238E27FC236}">
                <a16:creationId xmlns:a16="http://schemas.microsoft.com/office/drawing/2014/main" id="{5E8AA5A9-D74C-4AB9-B412-51913DFCE333}"/>
              </a:ext>
            </a:extLst>
          </p:cNvPr>
          <p:cNvSpPr txBox="1"/>
          <p:nvPr/>
        </p:nvSpPr>
        <p:spPr>
          <a:xfrm>
            <a:off x="7187282" y="4670468"/>
            <a:ext cx="1547264" cy="276999"/>
          </a:xfrm>
          <a:prstGeom prst="rect">
            <a:avLst/>
          </a:prstGeom>
          <a:noFill/>
        </p:spPr>
        <p:txBody>
          <a:bodyPr wrap="square" rtlCol="0">
            <a:spAutoFit/>
          </a:bodyPr>
          <a:lstStyle/>
          <a:p>
            <a:r>
              <a:rPr lang="en-US" sz="1200" b="0" dirty="0"/>
              <a:t>Cylinder</a:t>
            </a:r>
          </a:p>
        </p:txBody>
      </p:sp>
      <p:cxnSp>
        <p:nvCxnSpPr>
          <p:cNvPr id="163" name="Straight Arrow Connector 162">
            <a:extLst>
              <a:ext uri="{FF2B5EF4-FFF2-40B4-BE49-F238E27FC236}">
                <a16:creationId xmlns:a16="http://schemas.microsoft.com/office/drawing/2014/main" id="{8B2D99C8-C446-4DFC-9A0A-EE17E6BA8720}"/>
              </a:ext>
            </a:extLst>
          </p:cNvPr>
          <p:cNvCxnSpPr/>
          <p:nvPr/>
        </p:nvCxnSpPr>
        <p:spPr bwMode="auto">
          <a:xfrm>
            <a:off x="6056253" y="3573016"/>
            <a:ext cx="243939" cy="0"/>
          </a:xfrm>
          <a:prstGeom prst="straightConnector1">
            <a:avLst/>
          </a:prstGeom>
          <a:solidFill>
            <a:schemeClr val="accent1"/>
          </a:solidFill>
          <a:ln w="9525" cap="flat" cmpd="sng" algn="ctr">
            <a:solidFill>
              <a:srgbClr val="000000"/>
            </a:solidFill>
            <a:prstDash val="solid"/>
            <a:round/>
            <a:headEnd type="triangle"/>
            <a:tailEnd type="triangle"/>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65" name="TextBox 164">
            <a:extLst>
              <a:ext uri="{FF2B5EF4-FFF2-40B4-BE49-F238E27FC236}">
                <a16:creationId xmlns:a16="http://schemas.microsoft.com/office/drawing/2014/main" id="{681E02ED-2261-459C-8059-001A66D45CC6}"/>
              </a:ext>
            </a:extLst>
          </p:cNvPr>
          <p:cNvSpPr txBox="1"/>
          <p:nvPr/>
        </p:nvSpPr>
        <p:spPr>
          <a:xfrm>
            <a:off x="6121735" y="3463734"/>
            <a:ext cx="3279618" cy="276999"/>
          </a:xfrm>
          <a:prstGeom prst="rect">
            <a:avLst/>
          </a:prstGeom>
          <a:noFill/>
        </p:spPr>
        <p:txBody>
          <a:bodyPr wrap="square" rtlCol="0">
            <a:spAutoFit/>
          </a:bodyPr>
          <a:lstStyle/>
          <a:p>
            <a:r>
              <a:rPr lang="en-US" sz="1200" b="0" dirty="0"/>
              <a:t>Threaded ring budding on Plate – No Gap</a:t>
            </a:r>
          </a:p>
        </p:txBody>
      </p:sp>
      <p:sp>
        <p:nvSpPr>
          <p:cNvPr id="166" name="TextBox 165">
            <a:extLst>
              <a:ext uri="{FF2B5EF4-FFF2-40B4-BE49-F238E27FC236}">
                <a16:creationId xmlns:a16="http://schemas.microsoft.com/office/drawing/2014/main" id="{F04F3B96-E17B-4A2B-94A7-89E5E3CA1F64}"/>
              </a:ext>
            </a:extLst>
          </p:cNvPr>
          <p:cNvSpPr txBox="1"/>
          <p:nvPr/>
        </p:nvSpPr>
        <p:spPr>
          <a:xfrm>
            <a:off x="597171" y="844277"/>
            <a:ext cx="1547264" cy="276999"/>
          </a:xfrm>
          <a:prstGeom prst="rect">
            <a:avLst/>
          </a:prstGeom>
          <a:noFill/>
        </p:spPr>
        <p:txBody>
          <a:bodyPr wrap="square" rtlCol="0">
            <a:spAutoFit/>
          </a:bodyPr>
          <a:lstStyle/>
          <a:p>
            <a:r>
              <a:rPr lang="en-US" sz="1200" b="0" dirty="0"/>
              <a:t>Outer Jacket</a:t>
            </a:r>
          </a:p>
        </p:txBody>
      </p:sp>
      <p:sp>
        <p:nvSpPr>
          <p:cNvPr id="167" name="TextBox 166">
            <a:extLst>
              <a:ext uri="{FF2B5EF4-FFF2-40B4-BE49-F238E27FC236}">
                <a16:creationId xmlns:a16="http://schemas.microsoft.com/office/drawing/2014/main" id="{8866CDAC-0A46-4887-B491-59FD93452C1E}"/>
              </a:ext>
            </a:extLst>
          </p:cNvPr>
          <p:cNvSpPr txBox="1"/>
          <p:nvPr/>
        </p:nvSpPr>
        <p:spPr>
          <a:xfrm>
            <a:off x="5619481" y="3889339"/>
            <a:ext cx="3279618" cy="276999"/>
          </a:xfrm>
          <a:prstGeom prst="rect">
            <a:avLst/>
          </a:prstGeom>
          <a:noFill/>
        </p:spPr>
        <p:txBody>
          <a:bodyPr wrap="square" rtlCol="0">
            <a:spAutoFit/>
          </a:bodyPr>
          <a:lstStyle/>
          <a:p>
            <a:r>
              <a:rPr lang="en-US" sz="1200" b="0" dirty="0"/>
              <a:t>Threaded Ring Gap with Plate</a:t>
            </a:r>
          </a:p>
        </p:txBody>
      </p:sp>
      <p:cxnSp>
        <p:nvCxnSpPr>
          <p:cNvPr id="168" name="Straight Arrow Connector 167">
            <a:extLst>
              <a:ext uri="{FF2B5EF4-FFF2-40B4-BE49-F238E27FC236}">
                <a16:creationId xmlns:a16="http://schemas.microsoft.com/office/drawing/2014/main" id="{D08241E6-9E30-42AB-952D-89AD345D00BA}"/>
              </a:ext>
            </a:extLst>
          </p:cNvPr>
          <p:cNvCxnSpPr/>
          <p:nvPr/>
        </p:nvCxnSpPr>
        <p:spPr bwMode="auto">
          <a:xfrm>
            <a:off x="6023768" y="4029500"/>
            <a:ext cx="243939" cy="0"/>
          </a:xfrm>
          <a:prstGeom prst="straightConnector1">
            <a:avLst/>
          </a:prstGeom>
          <a:solidFill>
            <a:schemeClr val="accent1"/>
          </a:solidFill>
          <a:ln w="9525" cap="flat" cmpd="sng" algn="ctr">
            <a:solidFill>
              <a:srgbClr val="000000"/>
            </a:solidFill>
            <a:prstDash val="solid"/>
            <a:round/>
            <a:headEnd type="triangle"/>
            <a:tailEnd type="triangle"/>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64" name="TextBox 163">
            <a:extLst>
              <a:ext uri="{FF2B5EF4-FFF2-40B4-BE49-F238E27FC236}">
                <a16:creationId xmlns:a16="http://schemas.microsoft.com/office/drawing/2014/main" id="{B7B37FAF-5F8B-496D-A35F-CB369DF9F4C1}"/>
              </a:ext>
            </a:extLst>
          </p:cNvPr>
          <p:cNvSpPr txBox="1"/>
          <p:nvPr/>
        </p:nvSpPr>
        <p:spPr>
          <a:xfrm>
            <a:off x="179512" y="3159405"/>
            <a:ext cx="2785345" cy="338554"/>
          </a:xfrm>
          <a:prstGeom prst="rect">
            <a:avLst/>
          </a:prstGeom>
          <a:noFill/>
        </p:spPr>
        <p:txBody>
          <a:bodyPr wrap="square" rtlCol="0">
            <a:spAutoFit/>
          </a:bodyPr>
          <a:lstStyle/>
          <a:p>
            <a:r>
              <a:rPr lang="en-US" dirty="0">
                <a:solidFill>
                  <a:srgbClr val="00B050"/>
                </a:solidFill>
              </a:rPr>
              <a:t>OK Condition</a:t>
            </a:r>
          </a:p>
        </p:txBody>
      </p:sp>
      <p:sp>
        <p:nvSpPr>
          <p:cNvPr id="170" name="TextBox 169">
            <a:extLst>
              <a:ext uri="{FF2B5EF4-FFF2-40B4-BE49-F238E27FC236}">
                <a16:creationId xmlns:a16="http://schemas.microsoft.com/office/drawing/2014/main" id="{67B9E2C1-3E79-46B9-9619-961972907D15}"/>
              </a:ext>
            </a:extLst>
          </p:cNvPr>
          <p:cNvSpPr txBox="1"/>
          <p:nvPr/>
        </p:nvSpPr>
        <p:spPr>
          <a:xfrm>
            <a:off x="170834" y="6170063"/>
            <a:ext cx="2785345" cy="338554"/>
          </a:xfrm>
          <a:prstGeom prst="rect">
            <a:avLst/>
          </a:prstGeom>
          <a:noFill/>
        </p:spPr>
        <p:txBody>
          <a:bodyPr wrap="square" rtlCol="0">
            <a:spAutoFit/>
          </a:bodyPr>
          <a:lstStyle/>
          <a:p>
            <a:r>
              <a:rPr lang="en-US" dirty="0">
                <a:solidFill>
                  <a:srgbClr val="FF0000"/>
                </a:solidFill>
              </a:rPr>
              <a:t>NG Condition</a:t>
            </a:r>
          </a:p>
        </p:txBody>
      </p:sp>
      <p:sp>
        <p:nvSpPr>
          <p:cNvPr id="169" name="Speech Bubble: Rectangle 168">
            <a:extLst>
              <a:ext uri="{FF2B5EF4-FFF2-40B4-BE49-F238E27FC236}">
                <a16:creationId xmlns:a16="http://schemas.microsoft.com/office/drawing/2014/main" id="{8B2597E1-3D90-40B3-AC6A-50EF88CC096C}"/>
              </a:ext>
            </a:extLst>
          </p:cNvPr>
          <p:cNvSpPr/>
          <p:nvPr/>
        </p:nvSpPr>
        <p:spPr bwMode="auto">
          <a:xfrm>
            <a:off x="7001798" y="5450264"/>
            <a:ext cx="1971368" cy="1219096"/>
          </a:xfrm>
          <a:prstGeom prst="wedgeRectCallout">
            <a:avLst>
              <a:gd name="adj1" fmla="val -93961"/>
              <a:gd name="adj2" fmla="val -48339"/>
            </a:avLst>
          </a:pr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en-US" sz="1200" b="0" i="0" u="none" strike="noStrike" cap="none" normalizeH="0" baseline="0" dirty="0">
                <a:ln>
                  <a:noFill/>
                </a:ln>
                <a:solidFill>
                  <a:schemeClr val="tx1"/>
                </a:solidFill>
                <a:effectLst/>
                <a:latin typeface="Times New Roman" pitchFamily="18" charset="0"/>
                <a:ea typeface="ＭＳ Ｐゴシック" charset="-128"/>
              </a:rPr>
              <a:t>While cycle start first the movable plate touching on Thread ring and then pull start hence , partially done</a:t>
            </a:r>
          </a:p>
        </p:txBody>
      </p:sp>
    </p:spTree>
    <p:extLst>
      <p:ext uri="{BB962C8B-B14F-4D97-AF65-F5344CB8AC3E}">
        <p14:creationId xmlns:p14="http://schemas.microsoft.com/office/powerpoint/2010/main" val="71667609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0.04913 0.00208 L 0.06858 0.00208 " pathEditMode="relative" rAng="0" ptsTypes="AA">
                                      <p:cBhvr>
                                        <p:cTn id="6" dur="2000" fill="hold"/>
                                        <p:tgtEl>
                                          <p:spTgt spid="43"/>
                                        </p:tgtEl>
                                        <p:attrNameLst>
                                          <p:attrName>ppt_x</p:attrName>
                                          <p:attrName>ppt_y</p:attrName>
                                        </p:attrNameLst>
                                      </p:cBhvr>
                                      <p:rCtr x="5885" y="0"/>
                                    </p:animMotion>
                                  </p:childTnLst>
                                </p:cTn>
                              </p:par>
                            </p:childTnLst>
                          </p:cTn>
                        </p:par>
                      </p:childTnLst>
                    </p:cTn>
                  </p:par>
                  <p:par>
                    <p:cTn id="7" fill="hold">
                      <p:stCondLst>
                        <p:cond delay="indefinite"/>
                      </p:stCondLst>
                      <p:childTnLst>
                        <p:par>
                          <p:cTn id="8" fill="hold">
                            <p:stCondLst>
                              <p:cond delay="0"/>
                            </p:stCondLst>
                            <p:childTnLst>
                              <p:par>
                                <p:cTn id="9" presetID="63" presetClass="path" presetSubtype="0" accel="50000" decel="50000" fill="hold" nodeType="clickEffect">
                                  <p:stCondLst>
                                    <p:cond delay="0"/>
                                  </p:stCondLst>
                                  <p:childTnLst>
                                    <p:animMotion origin="layout" path="M -0.04913 0.00208 L 0.0592 0.00162 " pathEditMode="relative" rAng="0" ptsTypes="AA">
                                      <p:cBhvr>
                                        <p:cTn id="10" dur="2000" fill="hold"/>
                                        <p:tgtEl>
                                          <p:spTgt spid="141"/>
                                        </p:tgtEl>
                                        <p:attrNameLst>
                                          <p:attrName>ppt_x</p:attrName>
                                          <p:attrName>ppt_y</p:attrName>
                                        </p:attrNameLst>
                                      </p:cBhvr>
                                      <p:rCtr x="5417" y="-2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Text Box 5"/>
          <p:cNvSpPr txBox="1">
            <a:spLocks noChangeArrowheads="1"/>
          </p:cNvSpPr>
          <p:nvPr/>
        </p:nvSpPr>
        <p:spPr bwMode="auto">
          <a:xfrm>
            <a:off x="31692" y="188640"/>
            <a:ext cx="7237510" cy="424651"/>
          </a:xfrm>
          <a:prstGeom prst="rect">
            <a:avLst/>
          </a:prstGeom>
          <a:noFill/>
          <a:ln w="9525">
            <a:noFill/>
            <a:miter lim="800000"/>
            <a:headEnd/>
            <a:tailEnd/>
          </a:ln>
        </p:spPr>
        <p:txBody>
          <a:bodyPr wrap="square" lIns="91357" tIns="45680" rIns="91357" bIns="45680">
            <a:spAutoFit/>
          </a:bodyPr>
          <a:lstStyle>
            <a:defPPr>
              <a:defRPr lang="ja-JP"/>
            </a:defPPr>
            <a:lvl1pPr algn="l">
              <a:lnSpc>
                <a:spcPct val="90000"/>
              </a:lnSpc>
              <a:spcBef>
                <a:spcPct val="20000"/>
              </a:spcBef>
              <a:defRPr sz="2400" b="0" i="1">
                <a:latin typeface="Calibri" panose="020F0502020204030204" pitchFamily="34" charset="0"/>
              </a:defRPr>
            </a:lvl1pPr>
          </a:lstStyle>
          <a:p>
            <a:r>
              <a:rPr lang="en-US" dirty="0"/>
              <a:t>Gap in Yokoten  :</a:t>
            </a:r>
          </a:p>
        </p:txBody>
      </p:sp>
      <p:sp>
        <p:nvSpPr>
          <p:cNvPr id="8" name="Flowchart: Alternate Process 7">
            <a:extLst>
              <a:ext uri="{FF2B5EF4-FFF2-40B4-BE49-F238E27FC236}">
                <a16:creationId xmlns:a16="http://schemas.microsoft.com/office/drawing/2014/main" id="{2AF613EB-1FD4-4EF3-ABF8-7D1DFFA3CF2D}"/>
              </a:ext>
            </a:extLst>
          </p:cNvPr>
          <p:cNvSpPr/>
          <p:nvPr/>
        </p:nvSpPr>
        <p:spPr bwMode="auto">
          <a:xfrm>
            <a:off x="323528" y="1124744"/>
            <a:ext cx="2160240" cy="936104"/>
          </a:xfrm>
          <a:prstGeom prst="flowChartAlternateProcess">
            <a:avLst/>
          </a:prstGeom>
          <a:solidFill>
            <a:schemeClr val="bg1">
              <a:lumMod val="95000"/>
            </a:schemeClr>
          </a:solid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2000" dirty="0"/>
              <a:t>Group Plants</a:t>
            </a:r>
            <a:endParaRPr kumimoji="1" lang="en-US" sz="2000" b="1" i="0" u="none" strike="noStrike" cap="none" normalizeH="0" baseline="0" dirty="0">
              <a:ln>
                <a:noFill/>
              </a:ln>
              <a:solidFill>
                <a:schemeClr val="tx1"/>
              </a:solidFill>
              <a:effectLst/>
              <a:latin typeface="Times New Roman" pitchFamily="18" charset="0"/>
              <a:ea typeface="ＭＳ Ｐゴシック" charset="-128"/>
            </a:endParaRPr>
          </a:p>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dirty="0">
              <a:ln>
                <a:noFill/>
              </a:ln>
              <a:solidFill>
                <a:schemeClr val="tx1"/>
              </a:solidFill>
              <a:effectLst/>
              <a:latin typeface="Times New Roman" pitchFamily="18" charset="0"/>
              <a:ea typeface="ＭＳ Ｐゴシック" charset="-128"/>
            </a:endParaRPr>
          </a:p>
          <a:p>
            <a:pPr marL="0" marR="0" indent="0" algn="ctr" defTabSz="914400" rtl="0" eaLnBrk="1" fontAlgn="base" latinLnBrk="0" hangingPunct="1">
              <a:lnSpc>
                <a:spcPct val="100000"/>
              </a:lnSpc>
              <a:spcBef>
                <a:spcPct val="0"/>
              </a:spcBef>
              <a:spcAft>
                <a:spcPct val="0"/>
              </a:spcAft>
              <a:buClrTx/>
              <a:buSzTx/>
              <a:buFontTx/>
              <a:buNone/>
              <a:tabLst/>
            </a:pPr>
            <a:r>
              <a:rPr lang="en-US" dirty="0"/>
              <a:t>LVDT Standard</a:t>
            </a:r>
            <a:endParaRPr kumimoji="1" lang="en-US" sz="1600" b="1" i="0" u="none" strike="noStrike" cap="none" normalizeH="0" baseline="0" dirty="0">
              <a:ln>
                <a:noFill/>
              </a:ln>
              <a:solidFill>
                <a:schemeClr val="tx1"/>
              </a:solidFill>
              <a:effectLst/>
              <a:latin typeface="Times New Roman" pitchFamily="18" charset="0"/>
              <a:ea typeface="ＭＳ Ｐゴシック" charset="-128"/>
            </a:endParaRPr>
          </a:p>
        </p:txBody>
      </p:sp>
      <p:sp>
        <p:nvSpPr>
          <p:cNvPr id="10" name="Flowchart: Alternate Process 9">
            <a:extLst>
              <a:ext uri="{FF2B5EF4-FFF2-40B4-BE49-F238E27FC236}">
                <a16:creationId xmlns:a16="http://schemas.microsoft.com/office/drawing/2014/main" id="{32901DCC-351D-40AC-8D2B-F4B895C18FF2}"/>
              </a:ext>
            </a:extLst>
          </p:cNvPr>
          <p:cNvSpPr/>
          <p:nvPr/>
        </p:nvSpPr>
        <p:spPr bwMode="auto">
          <a:xfrm>
            <a:off x="3563888" y="1124744"/>
            <a:ext cx="2160240" cy="936104"/>
          </a:xfrm>
          <a:prstGeom prst="flowChartAlternateProcess">
            <a:avLst/>
          </a:prstGeom>
          <a:solidFill>
            <a:schemeClr val="bg1">
              <a:lumMod val="95000"/>
            </a:schemeClr>
          </a:solid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2000" dirty="0"/>
              <a:t>Selected Lines</a:t>
            </a:r>
            <a:endParaRPr kumimoji="1" lang="en-US" sz="2000" b="1" i="0" u="none" strike="noStrike" cap="none" normalizeH="0" baseline="0" dirty="0">
              <a:ln>
                <a:noFill/>
              </a:ln>
              <a:solidFill>
                <a:schemeClr val="tx1"/>
              </a:solidFill>
              <a:effectLst/>
              <a:latin typeface="Times New Roman" pitchFamily="18" charset="0"/>
              <a:ea typeface="ＭＳ Ｐゴシック" charset="-128"/>
            </a:endParaRPr>
          </a:p>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dirty="0">
              <a:ln>
                <a:noFill/>
              </a:ln>
              <a:solidFill>
                <a:schemeClr val="tx1"/>
              </a:solidFill>
              <a:effectLst/>
              <a:latin typeface="Times New Roman" pitchFamily="18" charset="0"/>
              <a:ea typeface="ＭＳ Ｐゴシック" charset="-128"/>
            </a:endParaRPr>
          </a:p>
          <a:p>
            <a:pPr marL="0" marR="0" indent="0" algn="ctr" defTabSz="914400" rtl="0" eaLnBrk="1" fontAlgn="base" latinLnBrk="0" hangingPunct="1">
              <a:lnSpc>
                <a:spcPct val="100000"/>
              </a:lnSpc>
              <a:spcBef>
                <a:spcPct val="0"/>
              </a:spcBef>
              <a:spcAft>
                <a:spcPct val="0"/>
              </a:spcAft>
              <a:buClrTx/>
              <a:buSzTx/>
              <a:buFontTx/>
              <a:buNone/>
              <a:tabLst/>
            </a:pPr>
            <a:r>
              <a:rPr kumimoji="1" lang="en-US" sz="1600" b="1" i="0" u="none" strike="noStrike" cap="none" normalizeH="0" baseline="0" dirty="0">
                <a:ln>
                  <a:noFill/>
                </a:ln>
                <a:solidFill>
                  <a:schemeClr val="tx1"/>
                </a:solidFill>
                <a:effectLst/>
                <a:highlight>
                  <a:srgbClr val="00FF00"/>
                </a:highlight>
                <a:latin typeface="Times New Roman" pitchFamily="18" charset="0"/>
                <a:ea typeface="ＭＳ Ｐゴシック" charset="-128"/>
              </a:rPr>
              <a:t>Implemented</a:t>
            </a:r>
          </a:p>
        </p:txBody>
      </p:sp>
      <p:sp>
        <p:nvSpPr>
          <p:cNvPr id="11" name="Flowchart: Alternate Process 10">
            <a:extLst>
              <a:ext uri="{FF2B5EF4-FFF2-40B4-BE49-F238E27FC236}">
                <a16:creationId xmlns:a16="http://schemas.microsoft.com/office/drawing/2014/main" id="{98C78073-FC0C-4FD5-849A-78E3149F66C1}"/>
              </a:ext>
            </a:extLst>
          </p:cNvPr>
          <p:cNvSpPr/>
          <p:nvPr/>
        </p:nvSpPr>
        <p:spPr bwMode="auto">
          <a:xfrm>
            <a:off x="6792996" y="1110212"/>
            <a:ext cx="2160240" cy="936104"/>
          </a:xfrm>
          <a:prstGeom prst="flowChartAlternateProcess">
            <a:avLst/>
          </a:prstGeom>
          <a:solidFill>
            <a:schemeClr val="bg1">
              <a:lumMod val="95000"/>
            </a:schemeClr>
          </a:solid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2000" dirty="0"/>
              <a:t>Current State</a:t>
            </a:r>
            <a:endParaRPr kumimoji="1" lang="en-US" sz="2000" b="1" i="0" u="none" strike="noStrike" cap="none" normalizeH="0" baseline="0" dirty="0">
              <a:ln>
                <a:noFill/>
              </a:ln>
              <a:solidFill>
                <a:schemeClr val="tx1"/>
              </a:solidFill>
              <a:effectLst/>
              <a:latin typeface="Times New Roman" pitchFamily="18" charset="0"/>
              <a:ea typeface="ＭＳ Ｐゴシック" charset="-128"/>
            </a:endParaRPr>
          </a:p>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dirty="0">
              <a:ln>
                <a:noFill/>
              </a:ln>
              <a:solidFill>
                <a:schemeClr val="tx1"/>
              </a:solidFill>
              <a:effectLst/>
              <a:latin typeface="Times New Roman" pitchFamily="18" charset="0"/>
              <a:ea typeface="ＭＳ Ｐゴシック" charset="-128"/>
            </a:endParaRPr>
          </a:p>
          <a:p>
            <a:pPr marL="0" marR="0" indent="0" algn="ctr" defTabSz="914400" rtl="0" eaLnBrk="1" fontAlgn="base" latinLnBrk="0" hangingPunct="1">
              <a:lnSpc>
                <a:spcPct val="100000"/>
              </a:lnSpc>
              <a:spcBef>
                <a:spcPct val="0"/>
              </a:spcBef>
              <a:spcAft>
                <a:spcPct val="0"/>
              </a:spcAft>
              <a:buClrTx/>
              <a:buSzTx/>
              <a:buFontTx/>
              <a:buNone/>
              <a:tabLst/>
            </a:pPr>
            <a:r>
              <a:rPr kumimoji="1" lang="en-US" sz="1600" b="1" i="0" u="none" strike="noStrike" cap="none" normalizeH="0" baseline="0" dirty="0">
                <a:ln>
                  <a:noFill/>
                </a:ln>
                <a:solidFill>
                  <a:schemeClr val="tx1"/>
                </a:solidFill>
                <a:effectLst/>
                <a:latin typeface="Times New Roman" pitchFamily="18" charset="0"/>
                <a:ea typeface="ＭＳ Ｐゴシック" charset="-128"/>
              </a:rPr>
              <a:t>100% Deployment</a:t>
            </a:r>
          </a:p>
        </p:txBody>
      </p:sp>
      <p:cxnSp>
        <p:nvCxnSpPr>
          <p:cNvPr id="12" name="Straight Arrow Connector 11">
            <a:extLst>
              <a:ext uri="{FF2B5EF4-FFF2-40B4-BE49-F238E27FC236}">
                <a16:creationId xmlns:a16="http://schemas.microsoft.com/office/drawing/2014/main" id="{4060564B-2213-48A7-AFF8-204D530685C4}"/>
              </a:ext>
            </a:extLst>
          </p:cNvPr>
          <p:cNvCxnSpPr>
            <a:stCxn id="8" idx="3"/>
            <a:endCxn id="10" idx="1"/>
          </p:cNvCxnSpPr>
          <p:nvPr/>
        </p:nvCxnSpPr>
        <p:spPr bwMode="auto">
          <a:xfrm>
            <a:off x="2483768" y="1592796"/>
            <a:ext cx="1080120" cy="0"/>
          </a:xfrm>
          <a:prstGeom prst="straightConnector1">
            <a:avLst/>
          </a:prstGeom>
          <a:solidFill>
            <a:schemeClr val="accent1"/>
          </a:solidFill>
          <a:ln w="57150" cap="flat" cmpd="sng" algn="ctr">
            <a:solidFill>
              <a:schemeClr val="bg2"/>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4" name="Straight Arrow Connector 13">
            <a:extLst>
              <a:ext uri="{FF2B5EF4-FFF2-40B4-BE49-F238E27FC236}">
                <a16:creationId xmlns:a16="http://schemas.microsoft.com/office/drawing/2014/main" id="{93F38A14-17B5-4F8E-8F11-CAD309C7A974}"/>
              </a:ext>
            </a:extLst>
          </p:cNvPr>
          <p:cNvCxnSpPr/>
          <p:nvPr/>
        </p:nvCxnSpPr>
        <p:spPr bwMode="auto">
          <a:xfrm>
            <a:off x="5724128" y="1603372"/>
            <a:ext cx="1080120" cy="0"/>
          </a:xfrm>
          <a:prstGeom prst="straightConnector1">
            <a:avLst/>
          </a:prstGeom>
          <a:solidFill>
            <a:schemeClr val="accent1"/>
          </a:solidFill>
          <a:ln w="57150" cap="flat" cmpd="sng" algn="ctr">
            <a:solidFill>
              <a:schemeClr val="bg2"/>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5" name="Straight Arrow Connector 14">
            <a:extLst>
              <a:ext uri="{FF2B5EF4-FFF2-40B4-BE49-F238E27FC236}">
                <a16:creationId xmlns:a16="http://schemas.microsoft.com/office/drawing/2014/main" id="{39F70E8B-804F-406F-9CD5-2EF89D12AC16}"/>
              </a:ext>
            </a:extLst>
          </p:cNvPr>
          <p:cNvCxnSpPr>
            <a:cxnSpLocks/>
          </p:cNvCxnSpPr>
          <p:nvPr/>
        </p:nvCxnSpPr>
        <p:spPr bwMode="auto">
          <a:xfrm rot="5400000">
            <a:off x="4130389" y="2600908"/>
            <a:ext cx="1080120" cy="0"/>
          </a:xfrm>
          <a:prstGeom prst="straightConnector1">
            <a:avLst/>
          </a:prstGeom>
          <a:solidFill>
            <a:schemeClr val="accent1"/>
          </a:solidFill>
          <a:ln w="57150" cap="flat" cmpd="sng" algn="ctr">
            <a:solidFill>
              <a:schemeClr val="bg2"/>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7" name="Flowchart: Alternate Process 16">
            <a:extLst>
              <a:ext uri="{FF2B5EF4-FFF2-40B4-BE49-F238E27FC236}">
                <a16:creationId xmlns:a16="http://schemas.microsoft.com/office/drawing/2014/main" id="{7AF7D2F2-837C-4BFE-9813-28AEC458081B}"/>
              </a:ext>
            </a:extLst>
          </p:cNvPr>
          <p:cNvSpPr/>
          <p:nvPr/>
        </p:nvSpPr>
        <p:spPr bwMode="auto">
          <a:xfrm>
            <a:off x="3682336" y="3140968"/>
            <a:ext cx="2160240" cy="936104"/>
          </a:xfrm>
          <a:prstGeom prst="flowChartAlternateProcess">
            <a:avLst/>
          </a:prstGeom>
          <a:solidFill>
            <a:schemeClr val="bg1">
              <a:lumMod val="95000"/>
            </a:schemeClr>
          </a:solid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2000" dirty="0"/>
              <a:t>Other Lines</a:t>
            </a:r>
            <a:endParaRPr kumimoji="1" lang="en-US" sz="2000" b="1" i="0" u="none" strike="noStrike" cap="none" normalizeH="0" baseline="0" dirty="0">
              <a:ln>
                <a:noFill/>
              </a:ln>
              <a:solidFill>
                <a:schemeClr val="tx1"/>
              </a:solidFill>
              <a:effectLst/>
              <a:latin typeface="Times New Roman" pitchFamily="18" charset="0"/>
              <a:ea typeface="ＭＳ Ｐゴシック" charset="-128"/>
            </a:endParaRPr>
          </a:p>
          <a:p>
            <a:pPr marL="0" marR="0" indent="0" algn="ctr" defTabSz="914400" rtl="0" eaLnBrk="1" fontAlgn="base" latinLnBrk="0" hangingPunct="1">
              <a:lnSpc>
                <a:spcPct val="100000"/>
              </a:lnSpc>
              <a:spcBef>
                <a:spcPct val="0"/>
              </a:spcBef>
              <a:spcAft>
                <a:spcPct val="0"/>
              </a:spcAft>
              <a:buClrTx/>
              <a:buSzTx/>
              <a:buFontTx/>
              <a:buNone/>
              <a:tabLst/>
            </a:pPr>
            <a:r>
              <a:rPr kumimoji="1" lang="en-US" sz="1600" b="1" i="0" u="none" strike="noStrike" cap="none" normalizeH="0" baseline="0" dirty="0">
                <a:ln>
                  <a:noFill/>
                </a:ln>
                <a:effectLst/>
                <a:highlight>
                  <a:srgbClr val="FF0000"/>
                </a:highlight>
                <a:latin typeface="Times New Roman" pitchFamily="18" charset="0"/>
                <a:ea typeface="ＭＳ Ｐゴシック" charset="-128"/>
              </a:rPr>
              <a:t>Not Implemented</a:t>
            </a:r>
          </a:p>
          <a:p>
            <a:pPr marL="0" marR="0" indent="0" algn="ctr" defTabSz="914400" rtl="0" eaLnBrk="1" fontAlgn="base" latinLnBrk="0" hangingPunct="1">
              <a:lnSpc>
                <a:spcPct val="100000"/>
              </a:lnSpc>
              <a:spcBef>
                <a:spcPct val="0"/>
              </a:spcBef>
              <a:spcAft>
                <a:spcPct val="0"/>
              </a:spcAft>
              <a:buClrTx/>
              <a:buSzTx/>
              <a:buFontTx/>
              <a:buNone/>
              <a:tabLst/>
            </a:pPr>
            <a:r>
              <a:rPr lang="en-US" dirty="0">
                <a:highlight>
                  <a:srgbClr val="FF0000"/>
                </a:highlight>
              </a:rPr>
              <a:t>Customer Complaint</a:t>
            </a:r>
            <a:endParaRPr kumimoji="1" lang="en-US" sz="1600" b="1" i="0" u="none" strike="noStrike" cap="none" normalizeH="0" baseline="0" dirty="0">
              <a:ln>
                <a:noFill/>
              </a:ln>
              <a:effectLst/>
              <a:highlight>
                <a:srgbClr val="FF0000"/>
              </a:highlight>
            </a:endParaRPr>
          </a:p>
        </p:txBody>
      </p:sp>
      <p:sp>
        <p:nvSpPr>
          <p:cNvPr id="16" name="TextBox 15">
            <a:extLst>
              <a:ext uri="{FF2B5EF4-FFF2-40B4-BE49-F238E27FC236}">
                <a16:creationId xmlns:a16="http://schemas.microsoft.com/office/drawing/2014/main" id="{3DC9CF58-EED1-4527-A1E2-B5B86A661175}"/>
              </a:ext>
            </a:extLst>
          </p:cNvPr>
          <p:cNvSpPr txBox="1"/>
          <p:nvPr/>
        </p:nvSpPr>
        <p:spPr>
          <a:xfrm>
            <a:off x="31692" y="6165304"/>
            <a:ext cx="8788780" cy="369332"/>
          </a:xfrm>
          <a:prstGeom prst="rect">
            <a:avLst/>
          </a:prstGeom>
          <a:noFill/>
        </p:spPr>
        <p:txBody>
          <a:bodyPr wrap="square" rtlCol="0">
            <a:spAutoFit/>
          </a:bodyPr>
          <a:lstStyle/>
          <a:p>
            <a:pPr algn="l"/>
            <a:r>
              <a:rPr lang="en-US" sz="1800" dirty="0"/>
              <a:t>Reflection : </a:t>
            </a:r>
            <a:r>
              <a:rPr lang="en-US" sz="1800" b="0" dirty="0"/>
              <a:t>Standard existed, but Yokoten was not completed across all applicable Lines</a:t>
            </a:r>
          </a:p>
        </p:txBody>
      </p:sp>
    </p:spTree>
    <p:extLst>
      <p:ext uri="{BB962C8B-B14F-4D97-AF65-F5344CB8AC3E}">
        <p14:creationId xmlns:p14="http://schemas.microsoft.com/office/powerpoint/2010/main" val="39452162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Text Box 5"/>
          <p:cNvSpPr txBox="1">
            <a:spLocks noChangeArrowheads="1"/>
          </p:cNvSpPr>
          <p:nvPr/>
        </p:nvSpPr>
        <p:spPr bwMode="auto">
          <a:xfrm>
            <a:off x="31692" y="188640"/>
            <a:ext cx="7237510" cy="424651"/>
          </a:xfrm>
          <a:prstGeom prst="rect">
            <a:avLst/>
          </a:prstGeom>
          <a:noFill/>
          <a:ln w="9525">
            <a:noFill/>
            <a:miter lim="800000"/>
            <a:headEnd/>
            <a:tailEnd/>
          </a:ln>
        </p:spPr>
        <p:txBody>
          <a:bodyPr wrap="square" lIns="91357" tIns="45680" rIns="91357" bIns="45680">
            <a:spAutoFit/>
          </a:bodyPr>
          <a:lstStyle>
            <a:defPPr>
              <a:defRPr lang="ja-JP"/>
            </a:defPPr>
            <a:lvl1pPr algn="l">
              <a:lnSpc>
                <a:spcPct val="90000"/>
              </a:lnSpc>
              <a:spcBef>
                <a:spcPct val="20000"/>
              </a:spcBef>
              <a:defRPr sz="2400" b="0" i="1">
                <a:latin typeface="Calibri" panose="020F0502020204030204" pitchFamily="34" charset="0"/>
              </a:defRPr>
            </a:lvl1pPr>
          </a:lstStyle>
          <a:p>
            <a:r>
              <a:rPr lang="en-US" dirty="0"/>
              <a:t>Reflection : Plant and CQA side</a:t>
            </a:r>
          </a:p>
        </p:txBody>
      </p:sp>
      <p:graphicFrame>
        <p:nvGraphicFramePr>
          <p:cNvPr id="4" name="Table 3">
            <a:extLst>
              <a:ext uri="{FF2B5EF4-FFF2-40B4-BE49-F238E27FC236}">
                <a16:creationId xmlns:a16="http://schemas.microsoft.com/office/drawing/2014/main" id="{1A8FD6F3-3279-4D42-9183-1C2B2E066ED0}"/>
              </a:ext>
            </a:extLst>
          </p:cNvPr>
          <p:cNvGraphicFramePr>
            <a:graphicFrameLocks noGrp="1"/>
          </p:cNvGraphicFramePr>
          <p:nvPr>
            <p:extLst>
              <p:ext uri="{D42A27DB-BD31-4B8C-83A1-F6EECF244321}">
                <p14:modId xmlns:p14="http://schemas.microsoft.com/office/powerpoint/2010/main" val="3293931898"/>
              </p:ext>
            </p:extLst>
          </p:nvPr>
        </p:nvGraphicFramePr>
        <p:xfrm>
          <a:off x="107504" y="2928109"/>
          <a:ext cx="8712968" cy="3597233"/>
        </p:xfrm>
        <a:graphic>
          <a:graphicData uri="http://schemas.openxmlformats.org/drawingml/2006/table">
            <a:tbl>
              <a:tblPr firstRow="1" bandRow="1">
                <a:tableStyleId>{5C22544A-7EE6-4342-B048-85BDC9FD1C3A}</a:tableStyleId>
              </a:tblPr>
              <a:tblGrid>
                <a:gridCol w="4356484">
                  <a:extLst>
                    <a:ext uri="{9D8B030D-6E8A-4147-A177-3AD203B41FA5}">
                      <a16:colId xmlns:a16="http://schemas.microsoft.com/office/drawing/2014/main" val="1532212419"/>
                    </a:ext>
                  </a:extLst>
                </a:gridCol>
                <a:gridCol w="4356484">
                  <a:extLst>
                    <a:ext uri="{9D8B030D-6E8A-4147-A177-3AD203B41FA5}">
                      <a16:colId xmlns:a16="http://schemas.microsoft.com/office/drawing/2014/main" val="2882855474"/>
                    </a:ext>
                  </a:extLst>
                </a:gridCol>
              </a:tblGrid>
              <a:tr h="347915">
                <a:tc>
                  <a:txBody>
                    <a:bodyPr/>
                    <a:lstStyle/>
                    <a:p>
                      <a:r>
                        <a:rPr lang="en-US" sz="1400" dirty="0">
                          <a:solidFill>
                            <a:schemeClr val="tx1"/>
                          </a:solidFill>
                        </a:rPr>
                        <a:t>Action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solidFill>
                            <a:schemeClr val="tx1"/>
                          </a:solidFill>
                        </a:rPr>
                        <a:t>Purpose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91944186"/>
                  </a:ext>
                </a:extLst>
              </a:tr>
              <a:tr h="541553">
                <a:tc>
                  <a:txBody>
                    <a:bodyPr/>
                    <a:lstStyle/>
                    <a:p>
                      <a:r>
                        <a:rPr lang="en-US" sz="1400" dirty="0"/>
                        <a:t>Identify all applicable lines using conventional gauges.</a:t>
                      </a:r>
                      <a:endParaRPr 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t>Find remaining gaps.</a:t>
                      </a:r>
                      <a:endParaRPr 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48866517"/>
                  </a:ext>
                </a:extLst>
              </a:tr>
              <a:tr h="541553">
                <a:tc>
                  <a:txBody>
                    <a:bodyPr/>
                    <a:lstStyle/>
                    <a:p>
                      <a:r>
                        <a:rPr lang="en-US" sz="1400" dirty="0"/>
                        <a:t>Complete 100% deployment of the LVDT gauge on all applicable lines.</a:t>
                      </a:r>
                      <a:endParaRPr 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t>Standardize inspection.</a:t>
                      </a:r>
                      <a:endParaRPr 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56674314"/>
                  </a:ext>
                </a:extLst>
              </a:tr>
              <a:tr h="541553">
                <a:tc>
                  <a:txBody>
                    <a:bodyPr/>
                    <a:lstStyle/>
                    <a:p>
                      <a:r>
                        <a:rPr lang="en-US" sz="1400" dirty="0"/>
                        <a:t>Update Control Plan, SOP, Inspection Standards </a:t>
                      </a:r>
                      <a:r>
                        <a:rPr lang="en-US" sz="1400" dirty="0">
                          <a:highlight>
                            <a:srgbClr val="00FFFF"/>
                          </a:highlight>
                        </a:rPr>
                        <a:t>and QA network.</a:t>
                      </a:r>
                      <a:endParaRPr lang="en-US" sz="1400" dirty="0">
                        <a:solidFill>
                          <a:schemeClr val="tx1"/>
                        </a:solidFill>
                        <a:highlight>
                          <a:srgbClr val="00FFFF"/>
                        </a:highligh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t>Make the new method mandatory.</a:t>
                      </a:r>
                      <a:endParaRPr 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97742126"/>
                  </a:ext>
                </a:extLst>
              </a:tr>
              <a:tr h="541553">
                <a:tc>
                  <a:txBody>
                    <a:bodyPr/>
                    <a:lstStyle/>
                    <a:p>
                      <a:r>
                        <a:rPr lang="en-US" sz="1400" dirty="0"/>
                        <a:t>Verify implementation through Layered Process Audit (LPA).</a:t>
                      </a:r>
                      <a:endParaRPr 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t>Ensure compliance</a:t>
                      </a:r>
                      <a:endParaRPr 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89771291"/>
                  </a:ext>
                </a:extLst>
              </a:tr>
              <a:tr h="541553">
                <a:tc>
                  <a:txBody>
                    <a:bodyPr/>
                    <a:lstStyle/>
                    <a:p>
                      <a:r>
                        <a:rPr lang="en-US" sz="1400" dirty="0"/>
                        <a:t>Maintain a Yokoten deployment tracking list with completion responsibility and target dates.</a:t>
                      </a:r>
                      <a:endParaRPr 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t>Prevent missed deployment</a:t>
                      </a:r>
                      <a:endParaRPr 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51403412"/>
                  </a:ext>
                </a:extLst>
              </a:tr>
              <a:tr h="541553">
                <a:tc>
                  <a:txBody>
                    <a:bodyPr/>
                    <a:lstStyle/>
                    <a:p>
                      <a:r>
                        <a:rPr lang="en-US" sz="1400" dirty="0"/>
                        <a:t>Review all group-plant countermeasures for pending horizontal deployment </a:t>
                      </a:r>
                      <a:r>
                        <a:rPr lang="en-US" sz="1400" dirty="0">
                          <a:highlight>
                            <a:srgbClr val="00FFFF"/>
                          </a:highlight>
                        </a:rPr>
                        <a:t>by 3G</a:t>
                      </a:r>
                      <a:endParaRPr lang="en-US" sz="1400" dirty="0">
                        <a:solidFill>
                          <a:schemeClr val="tx1"/>
                        </a:solidFill>
                        <a:highlight>
                          <a:srgbClr val="00FFFF"/>
                        </a:highligh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t>Prevent recurrence of similar issues.</a:t>
                      </a:r>
                      <a:endParaRPr 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42227915"/>
                  </a:ext>
                </a:extLst>
              </a:tr>
            </a:tbl>
          </a:graphicData>
        </a:graphic>
      </p:graphicFrame>
      <p:sp>
        <p:nvSpPr>
          <p:cNvPr id="5" name="TextBox 4">
            <a:extLst>
              <a:ext uri="{FF2B5EF4-FFF2-40B4-BE49-F238E27FC236}">
                <a16:creationId xmlns:a16="http://schemas.microsoft.com/office/drawing/2014/main" id="{39E3402B-EA9F-4589-B4A9-9E92D574839C}"/>
              </a:ext>
            </a:extLst>
          </p:cNvPr>
          <p:cNvSpPr txBox="1"/>
          <p:nvPr/>
        </p:nvSpPr>
        <p:spPr>
          <a:xfrm>
            <a:off x="107504" y="804451"/>
            <a:ext cx="8928992" cy="2154436"/>
          </a:xfrm>
          <a:prstGeom prst="rect">
            <a:avLst/>
          </a:prstGeom>
          <a:noFill/>
        </p:spPr>
        <p:txBody>
          <a:bodyPr wrap="square" rtlCol="0">
            <a:spAutoFit/>
          </a:bodyPr>
          <a:lstStyle/>
          <a:p>
            <a:pPr algn="l"/>
            <a:r>
              <a:rPr lang="en-US" sz="1800" b="0" u="sng" dirty="0">
                <a:solidFill>
                  <a:schemeClr val="dk1"/>
                </a:solidFill>
                <a:latin typeface="+mn-lt"/>
                <a:ea typeface="+mn-ea"/>
              </a:rPr>
              <a:t>Since the LVDT standard already existed and only selected lines implemented it, causes for Gap are :</a:t>
            </a:r>
          </a:p>
          <a:p>
            <a:pPr marL="285750" indent="-285750" algn="l">
              <a:buFont typeface="Arial" panose="020B0604020202020204" pitchFamily="34" charset="0"/>
              <a:buChar char="•"/>
            </a:pPr>
            <a:r>
              <a:rPr lang="en-US" b="0" dirty="0">
                <a:solidFill>
                  <a:schemeClr val="dk1"/>
                </a:solidFill>
                <a:latin typeface="+mn-lt"/>
                <a:ea typeface="+mn-ea"/>
              </a:rPr>
              <a:t>Incomplete applicability review – all applicable lines were not included.</a:t>
            </a:r>
          </a:p>
          <a:p>
            <a:pPr marL="285750" indent="-285750" algn="l">
              <a:buFont typeface="Arial" panose="020B0604020202020204" pitchFamily="34" charset="0"/>
              <a:buChar char="•"/>
            </a:pPr>
            <a:r>
              <a:rPr lang="en-US" b="0" dirty="0">
                <a:solidFill>
                  <a:schemeClr val="dk1"/>
                </a:solidFill>
                <a:latin typeface="+mn-lt"/>
                <a:ea typeface="+mn-ea"/>
              </a:rPr>
              <a:t>No ownership and follow-up – implementation was not tracked to 100% completion.</a:t>
            </a:r>
          </a:p>
          <a:p>
            <a:pPr marL="285750" indent="-285750" algn="l">
              <a:buFont typeface="Arial" panose="020B0604020202020204" pitchFamily="34" charset="0"/>
              <a:buChar char="•"/>
            </a:pPr>
            <a:r>
              <a:rPr lang="en-US" b="0" dirty="0">
                <a:solidFill>
                  <a:schemeClr val="dk1"/>
                </a:solidFill>
                <a:latin typeface="+mn-lt"/>
                <a:ea typeface="+mn-ea"/>
              </a:rPr>
              <a:t>Verification gap – audits did not detect that some lines were still using the conventional gauge.</a:t>
            </a:r>
          </a:p>
          <a:p>
            <a:pPr marL="285750" indent="-285750" algn="l">
              <a:buFont typeface="Arial" panose="020B0604020202020204" pitchFamily="34" charset="0"/>
              <a:buChar char="•"/>
            </a:pPr>
            <a:r>
              <a:rPr lang="en-US" b="0" dirty="0">
                <a:solidFill>
                  <a:schemeClr val="dk1"/>
                </a:solidFill>
                <a:latin typeface="+mn-lt"/>
                <a:ea typeface="+mn-ea"/>
              </a:rPr>
              <a:t>Week 3G verification from CQA side for remote plant [JIN CHN].</a:t>
            </a:r>
          </a:p>
          <a:p>
            <a:pPr marL="285750" indent="-285750" algn="l">
              <a:buFont typeface="Arial" panose="020B0604020202020204" pitchFamily="34" charset="0"/>
              <a:buChar char="•"/>
            </a:pPr>
            <a:r>
              <a:rPr lang="en-US" b="0" dirty="0">
                <a:solidFill>
                  <a:schemeClr val="dk1"/>
                </a:solidFill>
                <a:latin typeface="+mn-lt"/>
                <a:ea typeface="+mn-ea"/>
              </a:rPr>
              <a:t>Week linkage with QA network of Yokoten items.  </a:t>
            </a:r>
          </a:p>
          <a:p>
            <a:pPr marL="285750" indent="-285750" algn="l">
              <a:buFont typeface="Arial" panose="020B0604020202020204" pitchFamily="34" charset="0"/>
              <a:buChar char="•"/>
            </a:pPr>
            <a:endParaRPr lang="en-US" sz="1800" b="0" dirty="0"/>
          </a:p>
        </p:txBody>
      </p:sp>
    </p:spTree>
    <p:extLst>
      <p:ext uri="{BB962C8B-B14F-4D97-AF65-F5344CB8AC3E}">
        <p14:creationId xmlns:p14="http://schemas.microsoft.com/office/powerpoint/2010/main" val="1388496855"/>
      </p:ext>
    </p:extLst>
  </p:cSld>
  <p:clrMapOvr>
    <a:masterClrMapping/>
  </p:clrMapOvr>
</p:sld>
</file>

<file path=ppt/theme/theme1.xml><?xml version="1.0" encoding="utf-8"?>
<a:theme xmlns:a="http://schemas.openxmlformats.org/drawingml/2006/main" name="デザインの設定">
  <a:themeElements>
    <a:clrScheme name="デザインの設定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デザインの設定">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ja-JP" altLang="en-US" sz="1600" b="1" i="0" u="none" strike="noStrike" cap="none" normalizeH="0" baseline="0" smtClean="0">
            <a:ln>
              <a:noFill/>
            </a:ln>
            <a:solidFill>
              <a:schemeClr val="tx1"/>
            </a:solidFill>
            <a:effectLst/>
            <a:latin typeface="Times New Roman" pitchFamily="18" charset="0"/>
            <a:ea typeface="ＭＳ Ｐゴシック" charset="-128"/>
          </a:defRPr>
        </a:defPPr>
      </a:lstStyle>
    </a:spDef>
    <a:lnDef>
      <a:spPr bwMode="auto">
        <a:xfrm>
          <a:off x="0" y="0"/>
          <a:ext cx="1" cy="1"/>
        </a:xfrm>
        <a:custGeom>
          <a:avLst/>
          <a:gdLst/>
          <a:ahLst/>
          <a:cxnLst/>
          <a:rect l="0" t="0" r="0" b="0"/>
          <a:pathLst/>
        </a:cu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ja-JP" altLang="en-US" sz="1600" b="1" i="0" u="none" strike="noStrike" cap="none" normalizeH="0" baseline="0" smtClean="0">
            <a:ln>
              <a:noFill/>
            </a:ln>
            <a:solidFill>
              <a:schemeClr val="tx1"/>
            </a:solidFill>
            <a:effectLst/>
            <a:latin typeface="Times New Roman" pitchFamily="18" charset="0"/>
            <a:ea typeface="ＭＳ Ｐゴシック" charset="-128"/>
          </a:defRPr>
        </a:defPPr>
      </a:lstStyle>
    </a:lnDef>
  </a:objectDefaults>
  <a:extraClrSchemeLst>
    <a:extraClrScheme>
      <a:clrScheme name="デザインの設定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デザインの設定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デザインの設定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デザインの設定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デザインの設定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デザインの設定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デザインの設定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デザインの設定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デザインの設定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デザインの設定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デザインの設定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デザインの設定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Unknown Document Type" ma:contentTypeID="0x010104" ma:contentTypeVersion="0" ma:contentTypeDescription="" ma:contentTypeScope="" ma:versionID="05d83ceaa0bbd2e3bc716e6e66bd857a">
  <xsd:schema xmlns:xsd="http://www.w3.org/2001/XMLSchema" xmlns:xs="http://www.w3.org/2001/XMLSchema" xmlns:p="http://schemas.microsoft.com/office/2006/metadata/properties" targetNamespace="http://schemas.microsoft.com/office/2006/metadata/properties" ma:root="true" ma:fieldsID="b3d69fe45253d5ff147bb69036b756a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3"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2BAE97B-11FC-4FCF-A38B-82789D3DC78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5CBB636D-F13E-47F2-9A4C-FC2B3C4C5FD6}">
  <ds:schemaRefs>
    <ds:schemaRef ds:uri="http://schemas.microsoft.com/sharepoint/v3/contenttype/forms"/>
  </ds:schemaRefs>
</ds:datastoreItem>
</file>

<file path=customXml/itemProps3.xml><?xml version="1.0" encoding="utf-8"?>
<ds:datastoreItem xmlns:ds="http://schemas.openxmlformats.org/officeDocument/2006/customXml" ds:itemID="{8EACA5CC-29F5-442B-A406-DF53029F78C2}">
  <ds:schemaRefs>
    <ds:schemaRef ds:uri="http://schemas.microsoft.com/office/2006/documentManagement/types"/>
    <ds:schemaRef ds:uri="http://schemas.openxmlformats.org/package/2006/metadata/core-properties"/>
    <ds:schemaRef ds:uri="http://purl.org/dc/terms/"/>
    <ds:schemaRef ds:uri="http://purl.org/dc/dcmitype/"/>
    <ds:schemaRef ds:uri="http://purl.org/dc/elements/1.1/"/>
    <ds:schemaRef ds:uri="http://schemas.microsoft.com/office/infopath/2007/PartnerControls"/>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111315</TotalTime>
  <Words>726</Words>
  <Application>Microsoft Office PowerPoint</Application>
  <PresentationFormat>On-screen Show (4:3)</PresentationFormat>
  <Paragraphs>133</Paragraphs>
  <Slides>6</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vt:i4>
      </vt:variant>
    </vt:vector>
  </HeadingPairs>
  <TitlesOfParts>
    <vt:vector size="14" baseType="lpstr">
      <vt:lpstr>Gulim</vt:lpstr>
      <vt:lpstr>ＭＳ Ｐゴシック</vt:lpstr>
      <vt:lpstr>ＭＳ Ｐ明朝</vt:lpstr>
      <vt:lpstr>Arial</vt:lpstr>
      <vt:lpstr>Calibri</vt:lpstr>
      <vt:lpstr>Times New Roman</vt:lpstr>
      <vt:lpstr>Verdana</vt:lpstr>
      <vt:lpstr>デザインの設定</vt:lpstr>
      <vt:lpstr>PowerPoint Presentation</vt:lpstr>
      <vt:lpstr>PowerPoint Presentation</vt:lpstr>
      <vt:lpstr>PowerPoint Presentation</vt:lpstr>
      <vt:lpstr>PowerPoint Presentation</vt:lpstr>
      <vt:lpstr>PowerPoint Presentation</vt:lpstr>
      <vt:lpstr>PowerPoint Presentation</vt:lpstr>
    </vt:vector>
  </TitlesOfParts>
  <Company>株式会社ジェイテクト</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PPTマスタ（統合ロゴ入り）</dc:title>
  <dc:creator>広報部</dc:creator>
  <cp:lastModifiedBy>Avishek Singh</cp:lastModifiedBy>
  <cp:revision>6143</cp:revision>
  <cp:lastPrinted>2009-05-12T04:23:46Z</cp:lastPrinted>
  <dcterms:created xsi:type="dcterms:W3CDTF">2005-01-07T08:52:57Z</dcterms:created>
  <dcterms:modified xsi:type="dcterms:W3CDTF">2026-09-25T11:20:28Z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TAG2">
    <vt:lpwstr>0008003629000000000001023560</vt:lpwstr>
  </property>
</Properties>
</file>