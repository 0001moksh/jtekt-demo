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  <p:sldMasterId id="2147483673" r:id="rId5"/>
  </p:sldMasterIdLst>
  <p:notesMasterIdLst>
    <p:notesMasterId r:id="rId21"/>
  </p:notesMasterIdLst>
  <p:handoutMasterIdLst>
    <p:handoutMasterId r:id="rId22"/>
  </p:handoutMasterIdLst>
  <p:sldIdLst>
    <p:sldId id="5828" r:id="rId6"/>
    <p:sldId id="5827" r:id="rId7"/>
    <p:sldId id="301" r:id="rId8"/>
    <p:sldId id="5791" r:id="rId9"/>
    <p:sldId id="5792" r:id="rId10"/>
    <p:sldId id="5822" r:id="rId11"/>
    <p:sldId id="5793" r:id="rId12"/>
    <p:sldId id="5794" r:id="rId13"/>
    <p:sldId id="5823" r:id="rId14"/>
    <p:sldId id="5824" r:id="rId15"/>
    <p:sldId id="5831" r:id="rId16"/>
    <p:sldId id="5826" r:id="rId17"/>
    <p:sldId id="5829" r:id="rId18"/>
    <p:sldId id="5536" r:id="rId19"/>
    <p:sldId id="5830" r:id="rId20"/>
  </p:sldIdLst>
  <p:sldSz cx="9144000" cy="6858000" type="screen4x3"/>
  <p:notesSz cx="6669088" cy="9926638"/>
  <p:defaultTextStyle>
    <a:defPPr>
      <a:defRPr lang="ja-JP"/>
    </a:defPPr>
    <a:lvl1pPr algn="ctr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5pPr>
    <a:lvl6pPr marL="2286000" algn="l" defTabSz="914400" rtl="0" eaLnBrk="1" latinLnBrk="0" hangingPunct="1">
      <a:defRPr kumimoji="1" sz="1600" b="1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6pPr>
    <a:lvl7pPr marL="2743200" algn="l" defTabSz="914400" rtl="0" eaLnBrk="1" latinLnBrk="0" hangingPunct="1">
      <a:defRPr kumimoji="1" sz="1600" b="1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7pPr>
    <a:lvl8pPr marL="3200400" algn="l" defTabSz="914400" rtl="0" eaLnBrk="1" latinLnBrk="0" hangingPunct="1">
      <a:defRPr kumimoji="1" sz="1600" b="1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8pPr>
    <a:lvl9pPr marL="3657600" algn="l" defTabSz="914400" rtl="0" eaLnBrk="1" latinLnBrk="0" hangingPunct="1">
      <a:defRPr kumimoji="1" sz="1600" b="1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185D025-160D-4CE4-BFB4-CF26B5D42A8A}">
          <p14:sldIdLst>
            <p14:sldId id="5828"/>
            <p14:sldId id="5827"/>
            <p14:sldId id="301"/>
            <p14:sldId id="5791"/>
            <p14:sldId id="5792"/>
            <p14:sldId id="5822"/>
            <p14:sldId id="5793"/>
            <p14:sldId id="5794"/>
            <p14:sldId id="5823"/>
            <p14:sldId id="5824"/>
            <p14:sldId id="5831"/>
            <p14:sldId id="5826"/>
            <p14:sldId id="5829"/>
            <p14:sldId id="5536"/>
            <p14:sldId id="583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0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shal Kinha" initials="VK" lastIdx="1" clrIdx="0">
    <p:extLst/>
  </p:cmAuthor>
  <p:cmAuthor id="2" name="Deepender Yadav" initials="DY" lastIdx="1" clrIdx="1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90BDF"/>
    <a:srgbClr val="FFE79B"/>
    <a:srgbClr val="C9E7A7"/>
    <a:srgbClr val="DF9B41"/>
    <a:srgbClr val="0066FF"/>
    <a:srgbClr val="F35C2D"/>
    <a:srgbClr val="FFE07D"/>
    <a:srgbClr val="004821"/>
    <a:srgbClr val="9900FF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2262" autoAdjust="0"/>
  </p:normalViewPr>
  <p:slideViewPr>
    <p:cSldViewPr>
      <p:cViewPr varScale="1">
        <p:scale>
          <a:sx n="77" d="100"/>
          <a:sy n="77" d="100"/>
        </p:scale>
        <p:origin x="1004" y="72"/>
      </p:cViewPr>
      <p:guideLst>
        <p:guide orient="horz" pos="2160"/>
        <p:guide pos="29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>
        <p:scale>
          <a:sx n="80" d="100"/>
          <a:sy n="80" d="100"/>
        </p:scale>
        <p:origin x="-2352" y="-72"/>
      </p:cViewPr>
      <p:guideLst>
        <p:guide orient="horz" pos="3126"/>
        <p:guide pos="210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commentAuthors" Target="commentAuthor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66937" cy="459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5" tIns="45713" rIns="91425" bIns="45713" numCol="1" anchor="t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50000"/>
              </a:spcBef>
              <a:defRPr sz="1200"/>
            </a:lvl1pPr>
          </a:lstStyle>
          <a:p>
            <a:endParaRPr lang="en-US" altLang="ja-JP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2286" y="0"/>
            <a:ext cx="2866937" cy="459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5" tIns="45713" rIns="91425" bIns="45713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50000"/>
              </a:spcBef>
              <a:defRPr sz="1200"/>
            </a:lvl1pPr>
          </a:lstStyle>
          <a:p>
            <a:endParaRPr lang="en-US" altLang="ja-JP" dirty="0"/>
          </a:p>
        </p:txBody>
      </p:sp>
      <p:sp>
        <p:nvSpPr>
          <p:cNvPr id="1146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907"/>
            <a:ext cx="2866937" cy="459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5" tIns="45713" rIns="91425" bIns="45713" numCol="1" anchor="b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50000"/>
              </a:spcBef>
              <a:defRPr sz="1200"/>
            </a:lvl1pPr>
          </a:lstStyle>
          <a:p>
            <a:endParaRPr lang="en-US" altLang="ja-JP" dirty="0"/>
          </a:p>
        </p:txBody>
      </p:sp>
      <p:sp>
        <p:nvSpPr>
          <p:cNvPr id="1146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2286" y="9429907"/>
            <a:ext cx="2866937" cy="459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5" tIns="45713" rIns="91425" bIns="45713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50000"/>
              </a:spcBef>
              <a:defRPr sz="1200"/>
            </a:lvl1pPr>
          </a:lstStyle>
          <a:p>
            <a:fld id="{092CF6AF-2ABC-45BB-86AD-CD651C38652D}" type="slidenum">
              <a:rPr lang="en-US" altLang="ja-JP"/>
              <a:pPr/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8272727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515" cy="496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5" tIns="45713" rIns="91425" bIns="45713" numCol="1" anchor="t" anchorCtr="0" compatLnSpc="1">
            <a:prstTxWarp prst="textNoShape">
              <a:avLst/>
            </a:prstTxWarp>
          </a:bodyPr>
          <a:lstStyle>
            <a:lvl1pPr algn="l">
              <a:defRPr sz="1200" b="0">
                <a:latin typeface="Arial" charset="0"/>
              </a:defRPr>
            </a:lvl1pPr>
          </a:lstStyle>
          <a:p>
            <a:endParaRPr lang="en-US" altLang="ja-JP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7002" y="0"/>
            <a:ext cx="2890514" cy="496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5" tIns="45713" rIns="91425" bIns="45713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 altLang="ja-JP" dirty="0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40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437" y="4714953"/>
            <a:ext cx="5336214" cy="4467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5" tIns="45713" rIns="91425" bIns="457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309"/>
            <a:ext cx="2890515" cy="496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5" tIns="45713" rIns="91425" bIns="45713" numCol="1" anchor="b" anchorCtr="0" compatLnSpc="1">
            <a:prstTxWarp prst="textNoShape">
              <a:avLst/>
            </a:prstTxWarp>
          </a:bodyPr>
          <a:lstStyle>
            <a:lvl1pPr algn="l">
              <a:defRPr sz="1200" b="0">
                <a:latin typeface="Arial" charset="0"/>
              </a:defRPr>
            </a:lvl1pPr>
          </a:lstStyle>
          <a:p>
            <a:endParaRPr lang="en-US" altLang="ja-JP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7002" y="9428309"/>
            <a:ext cx="2890514" cy="496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5" tIns="45713" rIns="91425" bIns="45713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6CEB0035-A28B-4582-95C1-F76F12C4421F}" type="slidenum">
              <a:rPr lang="en-US" altLang="ja-JP"/>
              <a:pPr/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7292767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980580-D440-42B6-AC7B-67CFB85BC5F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595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9F6F9C-5A93-4966-A2DC-2E571DE37E9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7628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9F6F9C-5A93-4966-A2DC-2E571DE37E9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223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9F6F9C-5A93-4966-A2DC-2E571DE37E9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9657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9F6F9C-5A93-4966-A2DC-2E571DE37E9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8869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9F6F9C-5A93-4966-A2DC-2E571DE37E9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186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1583F-3227-4232-A5F4-69F8802B208D}" type="datetimeFigureOut">
              <a:rPr lang="en-IN" smtClean="0"/>
              <a:t>25-09-2026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9241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1583F-3227-4232-A5F4-69F8802B208D}" type="datetimeFigureOut">
              <a:rPr lang="en-IN" smtClean="0"/>
              <a:t>25-09-2026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2461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1583F-3227-4232-A5F4-69F8802B208D}" type="datetimeFigureOut">
              <a:rPr lang="en-IN" smtClean="0"/>
              <a:t>25-09-2026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1149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1583F-3227-4232-A5F4-69F8802B208D}" type="datetimeFigureOut">
              <a:rPr lang="en-IN" smtClean="0"/>
              <a:t>25-09-2026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6231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7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1583F-3227-4232-A5F4-69F8802B208D}" type="datetimeFigureOut">
              <a:rPr lang="en-IN" smtClean="0"/>
              <a:t>25-09-2026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7292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1583F-3227-4232-A5F4-69F8802B208D}" type="datetimeFigureOut">
              <a:rPr lang="en-IN" smtClean="0"/>
              <a:t>25-09-2026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9526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1583F-3227-4232-A5F4-69F8802B208D}" type="datetimeFigureOut">
              <a:rPr lang="en-IN" smtClean="0"/>
              <a:t>25-09-2026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8657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1583F-3227-4232-A5F4-69F8802B208D}" type="datetimeFigureOut">
              <a:rPr lang="en-IN" smtClean="0"/>
              <a:t>25-09-2026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972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1583F-3227-4232-A5F4-69F8802B208D}" type="datetimeFigureOut">
              <a:rPr lang="en-IN" smtClean="0"/>
              <a:t>25-09-2026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0860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1583F-3227-4232-A5F4-69F8802B208D}" type="datetimeFigureOut">
              <a:rPr lang="en-IN" smtClean="0"/>
              <a:t>25-09-2026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6268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1583F-3227-4232-A5F4-69F8802B208D}" type="datetimeFigureOut">
              <a:rPr lang="en-IN" smtClean="0"/>
              <a:t>25-09-2026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21294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 altLang="ja-JP"/>
              <a:t>Click to edit Master subtitle style</a:t>
            </a:r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6657704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ja-JP"/>
              <a:t>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8977161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 altLang="ja-JP"/>
              <a:t>Edit Master text styles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5887071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altLang="ja-JP"/>
              <a:t>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altLang="ja-JP"/>
              <a:t>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0454064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ja-JP"/>
              <a:t>Edit Master text styles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ja-JP"/>
              <a:t>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ja-JP"/>
              <a:t>Edit Master text styles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ja-JP"/>
              <a:t>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8664267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2908525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7467384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ja-JP"/>
              <a:t>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altLang="ja-JP"/>
              <a:t>Edit Master text styles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2183109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altLang="ja-JP" dirty="0"/>
              <a:t>Click icon to add picture</a:t>
            </a:r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altLang="ja-JP"/>
              <a:t>Edit Master text styles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5501143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altLang="ja-JP"/>
              <a:t>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8185874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altLang="ja-JP"/>
              <a:t>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540008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JTEKT 2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84458" y="76200"/>
            <a:ext cx="7159342" cy="468288"/>
          </a:xfrm>
          <a:prstGeom prst="rect">
            <a:avLst/>
          </a:prstGeom>
        </p:spPr>
        <p:txBody>
          <a:bodyPr/>
          <a:lstStyle>
            <a:lvl1pPr algn="l">
              <a:defRPr sz="2400" b="1"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6"/>
          <p:cNvSpPr txBox="1">
            <a:spLocks noChangeArrowheads="1"/>
          </p:cNvSpPr>
          <p:nvPr userDrawn="1"/>
        </p:nvSpPr>
        <p:spPr bwMode="auto">
          <a:xfrm>
            <a:off x="7916863" y="6248400"/>
            <a:ext cx="12271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>
            <a:defPPr>
              <a:defRPr lang="en-US"/>
            </a:defPPr>
            <a:lvl1pPr algn="r" rtl="0" eaLnBrk="1" fontAlgn="auto" hangingPunct="1">
              <a:spcBef>
                <a:spcPts val="0"/>
              </a:spcBef>
              <a:spcAft>
                <a:spcPts val="0"/>
              </a:spcAft>
              <a:defRPr sz="1400" kern="1200">
                <a:solidFill>
                  <a:prstClr val="black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9pPr>
          </a:lstStyle>
          <a:p>
            <a:pPr>
              <a:defRPr/>
            </a:pPr>
            <a:fld id="{0841A69B-AFFC-47C8-A3CE-EBB619C0662C}" type="slidenum">
              <a:rPr lang="en-US" sz="1200" b="0" smtClean="0">
                <a:solidFill>
                  <a:schemeClr val="bg1">
                    <a:lumMod val="65000"/>
                  </a:schemeClr>
                </a:solidFill>
              </a:rPr>
              <a:pPr>
                <a:defRPr/>
              </a:pPr>
              <a:t>‹#›</a:t>
            </a:fld>
            <a:r>
              <a:rPr lang="en-US" sz="1200" b="0" dirty="0">
                <a:solidFill>
                  <a:schemeClr val="bg1">
                    <a:lumMod val="65000"/>
                  </a:schemeClr>
                </a:solidFill>
              </a:rPr>
              <a:t>/7</a:t>
            </a:r>
          </a:p>
        </p:txBody>
      </p:sp>
    </p:spTree>
    <p:extLst>
      <p:ext uri="{BB962C8B-B14F-4D97-AF65-F5344CB8AC3E}">
        <p14:creationId xmlns:p14="http://schemas.microsoft.com/office/powerpoint/2010/main" val="183806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21583F-3227-4232-A5F4-69F8802B208D}" type="datetimeFigureOut">
              <a:rPr lang="en-IN" smtClean="0"/>
              <a:t>25-09-2026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2895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63" name="Base" hidden="1"/>
          <p:cNvSpPr>
            <a:spLocks noChangeArrowheads="1"/>
          </p:cNvSpPr>
          <p:nvPr/>
        </p:nvSpPr>
        <p:spPr bwMode="auto">
          <a:xfrm>
            <a:off x="1524000" y="1397000"/>
            <a:ext cx="6096000" cy="406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 sz="1200"/>
          </a:p>
        </p:txBody>
      </p:sp>
      <p:sp>
        <p:nvSpPr>
          <p:cNvPr id="121870" name="Text Box 14"/>
          <p:cNvSpPr txBox="1">
            <a:spLocks noChangeArrowheads="1"/>
          </p:cNvSpPr>
          <p:nvPr/>
        </p:nvSpPr>
        <p:spPr bwMode="white">
          <a:xfrm>
            <a:off x="6553200" y="6669089"/>
            <a:ext cx="2362200" cy="149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68411" tIns="34215" rIns="68411" bIns="0">
            <a:spAutoFit/>
          </a:bodyPr>
          <a:lstStyle/>
          <a:p>
            <a:pPr algn="r" eaLnBrk="0" hangingPunct="0">
              <a:spcBef>
                <a:spcPct val="50000"/>
              </a:spcBef>
            </a:pPr>
            <a:r>
              <a:rPr lang="en-US" altLang="ja-JP" sz="750" dirty="0">
                <a:solidFill>
                  <a:schemeClr val="bg1"/>
                </a:solidFill>
              </a:rPr>
              <a:t>JTEKT</a:t>
            </a:r>
            <a:r>
              <a:rPr lang="ja-JP" altLang="en-US" sz="750">
                <a:solidFill>
                  <a:schemeClr val="bg1"/>
                </a:solidFill>
              </a:rPr>
              <a:t>　</a:t>
            </a:r>
            <a:r>
              <a:rPr lang="en-US" altLang="ja-JP" sz="750" dirty="0">
                <a:solidFill>
                  <a:schemeClr val="bg1"/>
                </a:solidFill>
              </a:rPr>
              <a:t>CORPORATION</a:t>
            </a:r>
          </a:p>
        </p:txBody>
      </p:sp>
      <p:sp>
        <p:nvSpPr>
          <p:cNvPr id="121871" name="Rectangle 1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64400" y="635158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50000"/>
              </a:spcBef>
              <a:defRPr sz="105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fld id="{DB51F427-BD09-4AA9-9D82-A288582C30B4}" type="slidenum">
              <a:rPr lang="en-US" altLang="ja-JP" smtClean="0"/>
              <a:pPr/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77933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ransition/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ＭＳ Ｐゴシック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ＭＳ Ｐゴシック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ＭＳ Ｐゴシック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ＭＳ Ｐゴシック" charset="-128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ＭＳ Ｐゴシック" charset="-128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ＭＳ Ｐゴシック" charset="-128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ＭＳ Ｐゴシック" charset="-128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ＭＳ Ｐゴシック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11" Type="http://schemas.microsoft.com/office/2007/relationships/hdphoto" Target="../media/hdphoto5.wdp"/><Relationship Id="rId5" Type="http://schemas.openxmlformats.org/officeDocument/2006/relationships/image" Target="../media/image7.png"/><Relationship Id="rId10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jpe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E67D0B-9474-4C0D-93AB-15DD82DFC595}"/>
              </a:ext>
            </a:extLst>
          </p:cNvPr>
          <p:cNvSpPr/>
          <p:nvPr/>
        </p:nvSpPr>
        <p:spPr>
          <a:xfrm>
            <a:off x="395536" y="2276872"/>
            <a:ext cx="7883091" cy="1134912"/>
          </a:xfrm>
          <a:prstGeom prst="rect">
            <a:avLst/>
          </a:prstGeom>
        </p:spPr>
        <p:txBody>
          <a:bodyPr wrap="square" lIns="0" tIns="0" rIns="0">
            <a:noAutofit/>
          </a:bodyPr>
          <a:lstStyle/>
          <a:p>
            <a:pPr algn="ctr"/>
            <a:r>
              <a:rPr lang="en-US" sz="3600" b="1" dirty="0">
                <a:solidFill>
                  <a:srgbClr val="290BDF"/>
                </a:solidFill>
                <a:cs typeface="Times New Roman" pitchFamily="18" charset="0"/>
              </a:rPr>
              <a:t>In House Quality Concern </a:t>
            </a:r>
          </a:p>
          <a:p>
            <a:pPr algn="ctr"/>
            <a:r>
              <a:rPr lang="en-US" sz="3600" b="1" dirty="0">
                <a:solidFill>
                  <a:srgbClr val="290BDF"/>
                </a:solidFill>
                <a:cs typeface="Times New Roman" pitchFamily="18" charset="0"/>
              </a:rPr>
              <a:t>Crack in </a:t>
            </a:r>
            <a:r>
              <a:rPr lang="en-US" sz="3600" dirty="0">
                <a:solidFill>
                  <a:srgbClr val="290BDF"/>
                </a:solidFill>
                <a:cs typeface="Times New Roman" pitchFamily="18" charset="0"/>
              </a:rPr>
              <a:t>Worm</a:t>
            </a:r>
            <a:r>
              <a:rPr lang="en-US" sz="3600" b="1" dirty="0">
                <a:solidFill>
                  <a:srgbClr val="290BDF"/>
                </a:solidFill>
                <a:cs typeface="Times New Roman" pitchFamily="18" charset="0"/>
              </a:rPr>
              <a:t> Shaft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968848"/>
              </p:ext>
            </p:extLst>
          </p:nvPr>
        </p:nvGraphicFramePr>
        <p:xfrm>
          <a:off x="5771438" y="5520713"/>
          <a:ext cx="3312368" cy="10766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8479">
                <a:tc>
                  <a:txBody>
                    <a:bodyPr/>
                    <a:lstStyle/>
                    <a:p>
                      <a:pPr algn="ctr"/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749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Reni</a:t>
                      </a:r>
                      <a:r>
                        <a:rPr lang="en-US" sz="1100" b="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Cherian 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Naresh Gauba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Yogesh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838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Approved By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Reviewed By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Prepared</a:t>
                      </a:r>
                      <a:r>
                        <a:rPr lang="en-US" sz="1100" b="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By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687808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" name="Table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813369"/>
              </p:ext>
            </p:extLst>
          </p:nvPr>
        </p:nvGraphicFramePr>
        <p:xfrm>
          <a:off x="107504" y="808961"/>
          <a:ext cx="4267444" cy="4403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5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556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aseline="0" dirty="0">
                          <a:solidFill>
                            <a:schemeClr val="tx1"/>
                          </a:solidFill>
                          <a:latin typeface="+mj-lt"/>
                        </a:rPr>
                        <a:t>Defect  Detail</a:t>
                      </a:r>
                      <a:endParaRPr 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91424" marR="91424" marT="45687" marB="456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556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Part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Name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1424" marR="91424" marT="45687" marB="456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Worm Shaft </a:t>
                      </a:r>
                    </a:p>
                  </a:txBody>
                  <a:tcPr marL="91424" marR="91424" marT="45687" marB="456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191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Model effected</a:t>
                      </a:r>
                    </a:p>
                  </a:txBody>
                  <a:tcPr marL="91424" marR="91424" marT="45687" marB="456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Y17,</a:t>
                      </a:r>
                      <a:r>
                        <a:rPr lang="en-US" sz="1600" b="0" i="0" u="none" strike="noStrike" baseline="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YHB 25MC, YXA 26MC &amp; YTA (part is common)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1424" marR="91424" marT="45687" marB="456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9012682"/>
                  </a:ext>
                </a:extLst>
              </a:tr>
              <a:tr h="428191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Qty</a:t>
                      </a:r>
                    </a:p>
                  </a:txBody>
                  <a:tcPr marL="91424" marR="91424" marT="45687" marB="456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N=6 part </a:t>
                      </a:r>
                    </a:p>
                  </a:txBody>
                  <a:tcPr marL="91424" marR="91424" marT="45687" marB="456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225765"/>
                  </a:ext>
                </a:extLst>
              </a:tr>
              <a:tr h="428191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Defect </a:t>
                      </a:r>
                    </a:p>
                  </a:txBody>
                  <a:tcPr marL="91424" marR="91424" marT="45687" marB="456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Crack observed </a:t>
                      </a:r>
                    </a:p>
                  </a:txBody>
                  <a:tcPr marL="91424" marR="91424" marT="45687" marB="456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701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Detected at</a:t>
                      </a:r>
                    </a:p>
                  </a:txBody>
                  <a:tcPr marL="91424" marR="91424" marT="45687" marB="456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After Whirling process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(100% visual inspection)</a:t>
                      </a:r>
                    </a:p>
                  </a:txBody>
                  <a:tcPr marL="91424" marR="91424" marT="45687" marB="456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4258129"/>
                  </a:ext>
                </a:extLst>
              </a:tr>
              <a:tr h="542701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Detected by</a:t>
                      </a:r>
                    </a:p>
                  </a:txBody>
                  <a:tcPr marL="91424" marR="91424" marT="45687" marB="456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Line Operator</a:t>
                      </a:r>
                    </a:p>
                  </a:txBody>
                  <a:tcPr marL="91424" marR="91424" marT="45687" marB="456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434896"/>
                  </a:ext>
                </a:extLst>
              </a:tr>
              <a:tr h="422556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Occurrence Date</a:t>
                      </a:r>
                    </a:p>
                  </a:txBody>
                  <a:tcPr marL="91424" marR="91424" marT="45687" marB="456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08.09.26</a:t>
                      </a:r>
                    </a:p>
                  </a:txBody>
                  <a:tcPr marL="91424" marR="91424" marT="45687" marB="456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556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Material grade</a:t>
                      </a:r>
                    </a:p>
                  </a:txBody>
                  <a:tcPr marL="91424" marR="91424" marT="45687" marB="456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SCM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435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1424" marR="91424" marT="45687" marB="456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3728738"/>
                  </a:ext>
                </a:extLst>
              </a:tr>
            </a:tbl>
          </a:graphicData>
        </a:graphic>
      </p:graphicFrame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rcRect l="19370" t="1483" r="14489"/>
          <a:stretch/>
        </p:blipFill>
        <p:spPr>
          <a:xfrm>
            <a:off x="4499992" y="806131"/>
            <a:ext cx="1083733" cy="453298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 bwMode="auto">
          <a:xfrm>
            <a:off x="4703853" y="1201242"/>
            <a:ext cx="587022" cy="3160889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ＭＳ Ｐゴシック" charset="-128"/>
            </a:endParaRPr>
          </a:p>
        </p:txBody>
      </p:sp>
      <p:sp>
        <p:nvSpPr>
          <p:cNvPr id="16" name="Rounded Rectangular Callout 15"/>
          <p:cNvSpPr/>
          <p:nvPr/>
        </p:nvSpPr>
        <p:spPr bwMode="auto">
          <a:xfrm>
            <a:off x="4374948" y="5368542"/>
            <a:ext cx="803714" cy="317048"/>
          </a:xfrm>
          <a:prstGeom prst="wedgeRoundRectCallout">
            <a:avLst>
              <a:gd name="adj1" fmla="val 12135"/>
              <a:gd name="adj2" fmla="val -196028"/>
              <a:gd name="adj3" fmla="val 16667"/>
            </a:avLst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200" dirty="0">
                <a:solidFill>
                  <a:srgbClr val="FF0000"/>
                </a:solidFill>
                <a:latin typeface="Times New Roman" pitchFamily="18" charset="0"/>
                <a:ea typeface="ＭＳ Ｐゴシック" charset="-128"/>
              </a:rPr>
              <a:t>NG</a:t>
            </a:r>
            <a:r>
              <a:rPr kumimoji="1" lang="en-US" sz="120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ＭＳ Ｐゴシック" charset="-128"/>
              </a:rPr>
              <a:t> Part</a:t>
            </a:r>
            <a:endParaRPr kumimoji="1" lang="en-IN" sz="120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ea typeface="ＭＳ Ｐゴシック" charset="-128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93126" y="844175"/>
            <a:ext cx="1249598" cy="4254178"/>
          </a:xfrm>
          <a:prstGeom prst="rect">
            <a:avLst/>
          </a:prstGeom>
        </p:spPr>
      </p:pic>
      <p:sp>
        <p:nvSpPr>
          <p:cNvPr id="18" name="Rounded Rectangular Callout 17"/>
          <p:cNvSpPr/>
          <p:nvPr/>
        </p:nvSpPr>
        <p:spPr bwMode="auto">
          <a:xfrm>
            <a:off x="6872021" y="5271073"/>
            <a:ext cx="924519" cy="414517"/>
          </a:xfrm>
          <a:prstGeom prst="wedgeRoundRectCallout">
            <a:avLst>
              <a:gd name="adj1" fmla="val -8438"/>
              <a:gd name="adj2" fmla="val -247419"/>
              <a:gd name="adj3" fmla="val 16667"/>
            </a:avLst>
          </a:prstGeom>
          <a:solidFill>
            <a:schemeClr val="bg1"/>
          </a:solidFill>
          <a:ln w="9525" cap="flat" cmpd="sng" algn="ctr">
            <a:solidFill>
              <a:srgbClr val="5AE739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40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itchFamily="18" charset="0"/>
                <a:ea typeface="ＭＳ Ｐゴシック" charset="-128"/>
              </a:rPr>
              <a:t>OK</a:t>
            </a:r>
            <a:r>
              <a:rPr kumimoji="1" lang="en-US" sz="1400" i="0" u="none" strike="noStrike" cap="none" normalizeH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itchFamily="18" charset="0"/>
                <a:ea typeface="ＭＳ Ｐゴシック" charset="-128"/>
              </a:rPr>
              <a:t> Part</a:t>
            </a:r>
            <a:endParaRPr kumimoji="1" lang="en-IN" sz="1400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Times New Roman" pitchFamily="18" charset="0"/>
              <a:ea typeface="ＭＳ Ｐゴシック" charset="-128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6903114" y="1617758"/>
            <a:ext cx="587022" cy="3160889"/>
          </a:xfrm>
          <a:prstGeom prst="rect">
            <a:avLst/>
          </a:prstGeom>
          <a:noFill/>
          <a:ln w="57150" cap="flat" cmpd="sng" algn="ctr">
            <a:solidFill>
              <a:srgbClr val="00B050"/>
            </a:solidFill>
            <a:prstDash val="sys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ＭＳ Ｐゴシック" charset="-128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rcRect l="19370" t="33386" r="14489" b="41438"/>
          <a:stretch/>
        </p:blipFill>
        <p:spPr>
          <a:xfrm>
            <a:off x="5503451" y="3669436"/>
            <a:ext cx="1296144" cy="138539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cxnSp>
        <p:nvCxnSpPr>
          <p:cNvPr id="21" name="Straight Arrow Connector 20"/>
          <p:cNvCxnSpPr>
            <a:endCxn id="20" idx="0"/>
          </p:cNvCxnSpPr>
          <p:nvPr/>
        </p:nvCxnSpPr>
        <p:spPr bwMode="auto">
          <a:xfrm>
            <a:off x="5290875" y="3281868"/>
            <a:ext cx="860648" cy="38756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2" name="Rectangle 40"/>
          <p:cNvSpPr>
            <a:spLocks noChangeArrowheads="1"/>
          </p:cNvSpPr>
          <p:nvPr/>
        </p:nvSpPr>
        <p:spPr bwMode="auto">
          <a:xfrm>
            <a:off x="35496" y="209484"/>
            <a:ext cx="525463" cy="339196"/>
          </a:xfrm>
          <a:prstGeom prst="rect">
            <a:avLst/>
          </a:prstGeom>
          <a:gradFill rotWithShape="0">
            <a:gsLst>
              <a:gs pos="0">
                <a:srgbClr val="3366CC">
                  <a:gamma/>
                  <a:shade val="9020"/>
                  <a:invGamma/>
                </a:srgbClr>
              </a:gs>
              <a:gs pos="50000">
                <a:srgbClr val="3366CC"/>
              </a:gs>
              <a:gs pos="100000">
                <a:srgbClr val="3366CC">
                  <a:gamma/>
                  <a:shade val="9020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pPr algn="ctr" eaLnBrk="1" hangingPunct="1"/>
            <a:r>
              <a:rPr kumimoji="1" lang="en-US" altLang="ko-KR" sz="1600" b="1" dirty="0">
                <a:solidFill>
                  <a:schemeClr val="bg1"/>
                </a:solidFill>
                <a:latin typeface="Arial Narrow" pitchFamily="34" charset="0"/>
                <a:ea typeface="HY견고딕" pitchFamily="18" charset="-127"/>
                <a:cs typeface="Arial" charset="0"/>
              </a:rPr>
              <a:t>1</a:t>
            </a:r>
          </a:p>
        </p:txBody>
      </p:sp>
      <p:sp>
        <p:nvSpPr>
          <p:cNvPr id="23" name="Rectangle 32"/>
          <p:cNvSpPr>
            <a:spLocks noChangeArrowheads="1"/>
          </p:cNvSpPr>
          <p:nvPr/>
        </p:nvSpPr>
        <p:spPr bwMode="auto">
          <a:xfrm>
            <a:off x="535559" y="209484"/>
            <a:ext cx="2305116" cy="339196"/>
          </a:xfrm>
          <a:prstGeom prst="rect">
            <a:avLst/>
          </a:prstGeom>
          <a:gradFill rotWithShape="0">
            <a:gsLst>
              <a:gs pos="0">
                <a:srgbClr val="99CCFF"/>
              </a:gs>
              <a:gs pos="100000">
                <a:srgbClr val="99CCFF">
                  <a:gamma/>
                  <a:tint val="12157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r>
              <a:rPr lang="en-US" altLang="ko-KR" sz="1600" b="1" dirty="0">
                <a:ea typeface="HY견고딕" pitchFamily="18" charset="-127"/>
                <a:cs typeface="Arial" charset="0"/>
              </a:rPr>
              <a:t>PROBLEM DETAIL</a:t>
            </a:r>
          </a:p>
        </p:txBody>
      </p:sp>
      <p:sp>
        <p:nvSpPr>
          <p:cNvPr id="3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8460432" y="6360531"/>
            <a:ext cx="564952" cy="246277"/>
          </a:xfrm>
        </p:spPr>
        <p:txBody>
          <a:bodyPr/>
          <a:lstStyle/>
          <a:p>
            <a:pPr algn="ctr">
              <a:defRPr/>
            </a:pPr>
            <a:fld id="{502979E4-186A-4299-BF7F-5CD384D58096}" type="slidenum">
              <a:rPr lang="en-US" altLang="ja-JP" smtClean="0"/>
              <a:pPr algn="ctr">
                <a:defRPr/>
              </a:pPr>
              <a:t>2</a:t>
            </a:fld>
            <a:endParaRPr lang="en-US" altLang="ja-JP" dirty="0"/>
          </a:p>
        </p:txBody>
      </p:sp>
      <p:sp>
        <p:nvSpPr>
          <p:cNvPr id="33" name="TextBox 32"/>
          <p:cNvSpPr txBox="1"/>
          <p:nvPr/>
        </p:nvSpPr>
        <p:spPr>
          <a:xfrm>
            <a:off x="251519" y="5417151"/>
            <a:ext cx="2016225" cy="30777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SUPPLY CHAIN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520" y="5883506"/>
            <a:ext cx="12964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XXXX</a:t>
            </a:r>
          </a:p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(RM Supplier)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29667" y="5881715"/>
            <a:ext cx="1617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XXXX	</a:t>
            </a:r>
          </a:p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(Heat Treatment 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82284" y="5881715"/>
            <a:ext cx="12964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XXXX</a:t>
            </a:r>
          </a:p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(Machining)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55445" y="5862365"/>
            <a:ext cx="12964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XXX</a:t>
            </a:r>
          </a:p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(Machining)</a:t>
            </a:r>
          </a:p>
        </p:txBody>
      </p:sp>
      <p:sp>
        <p:nvSpPr>
          <p:cNvPr id="38" name="Right Arrow 37"/>
          <p:cNvSpPr/>
          <p:nvPr/>
        </p:nvSpPr>
        <p:spPr bwMode="auto">
          <a:xfrm>
            <a:off x="1477574" y="6117016"/>
            <a:ext cx="193635" cy="19230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ＭＳ Ｐゴシック" charset="-128"/>
            </a:endParaRPr>
          </a:p>
        </p:txBody>
      </p:sp>
      <p:sp>
        <p:nvSpPr>
          <p:cNvPr id="39" name="Right Arrow 38"/>
          <p:cNvSpPr/>
          <p:nvPr/>
        </p:nvSpPr>
        <p:spPr bwMode="auto">
          <a:xfrm>
            <a:off x="3203486" y="6117016"/>
            <a:ext cx="193635" cy="19230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ＭＳ Ｐゴシック" charset="-128"/>
            </a:endParaRPr>
          </a:p>
        </p:txBody>
      </p:sp>
      <p:sp>
        <p:nvSpPr>
          <p:cNvPr id="40" name="Right Arrow 39"/>
          <p:cNvSpPr/>
          <p:nvPr/>
        </p:nvSpPr>
        <p:spPr bwMode="auto">
          <a:xfrm>
            <a:off x="4516037" y="6092189"/>
            <a:ext cx="193635" cy="19230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ＭＳ Ｐゴシック" charset="-128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193717" y="5926731"/>
            <a:ext cx="12964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XXXX</a:t>
            </a:r>
          </a:p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(CEPS ASSY)</a:t>
            </a:r>
          </a:p>
        </p:txBody>
      </p:sp>
      <p:sp>
        <p:nvSpPr>
          <p:cNvPr id="43" name="Right Arrow 42"/>
          <p:cNvSpPr/>
          <p:nvPr/>
        </p:nvSpPr>
        <p:spPr bwMode="auto">
          <a:xfrm>
            <a:off x="5897636" y="6098949"/>
            <a:ext cx="193635" cy="19230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3383819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484334"/>
              </p:ext>
            </p:extLst>
          </p:nvPr>
        </p:nvGraphicFramePr>
        <p:xfrm>
          <a:off x="359437" y="827400"/>
          <a:ext cx="8475074" cy="5864190"/>
        </p:xfrm>
        <a:graphic>
          <a:graphicData uri="http://schemas.openxmlformats.org/drawingml/2006/table">
            <a:tbl>
              <a:tblPr firstRow="1" firstCol="1" bandRow="1"/>
              <a:tblGrid>
                <a:gridCol w="2207793">
                  <a:extLst>
                    <a:ext uri="{9D8B030D-6E8A-4147-A177-3AD203B41FA5}">
                      <a16:colId xmlns:a16="http://schemas.microsoft.com/office/drawing/2014/main" val="4156975112"/>
                    </a:ext>
                  </a:extLst>
                </a:gridCol>
                <a:gridCol w="6267281">
                  <a:extLst>
                    <a:ext uri="{9D8B030D-6E8A-4147-A177-3AD203B41FA5}">
                      <a16:colId xmlns:a16="http://schemas.microsoft.com/office/drawing/2014/main" val="2267227461"/>
                    </a:ext>
                  </a:extLst>
                </a:gridCol>
              </a:tblGrid>
              <a:tr h="141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Item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Summary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6411792"/>
                  </a:ext>
                </a:extLst>
              </a:tr>
              <a:tr h="28199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Problem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Worm shaft crack detected during visual inspection at </a:t>
                      </a: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JIN Bawal . 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 6 NG parts identified (2 machining level + 4 child parts).</a:t>
                      </a: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2283130"/>
                  </a:ext>
                </a:extLst>
              </a:tr>
              <a:tr h="42479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Containment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100% magnifying glass inspection at JIN receiving &amp; machining. </a:t>
                      </a:r>
                    </a:p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200% MPI implemented at Dynamic. </a:t>
                      </a:r>
                    </a:p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Suspected stock segregated and under control.</a:t>
                      </a: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8788805"/>
                  </a:ext>
                </a:extLst>
              </a:tr>
              <a:tr h="42989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Customer Impact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 performance difference observed between OK &amp; NG parts in C-EPS evaluation. </a:t>
                      </a:r>
                    </a:p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Reliability impact under validation.</a:t>
                      </a: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6086235"/>
                  </a:ext>
                </a:extLst>
              </a:tr>
              <a:tr h="28199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Traceability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Suspected heat identified </a:t>
                      </a:r>
                      <a:r>
                        <a:rPr lang="en-US" sz="11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as M215871. </a:t>
                      </a:r>
                    </a:p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Complete supply chain traced: </a:t>
                      </a: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Mukand  → </a:t>
                      </a: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Omega → Dynamic → JIN.</a:t>
                      </a: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6182299"/>
                  </a:ext>
                </a:extLst>
              </a:tr>
              <a:tr h="28199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XXXX Findings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SEM, microstructure and joint analysis did not confirm RM abnormality. </a:t>
                      </a:r>
                    </a:p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Current evidence points towards heat-treatment related crack generation.</a:t>
                      </a: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747449"/>
                  </a:ext>
                </a:extLst>
              </a:tr>
              <a:tr h="28199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Supplier Position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Mukand</a:t>
                      </a: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/Omega have not confirmed raw material responsibility. </a:t>
                      </a:r>
                    </a:p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Investigation and FTA validation are continuing.</a:t>
                      </a: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3056131"/>
                  </a:ext>
                </a:extLst>
              </a:tr>
              <a:tr h="28199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XXXX Concern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Actual crack generation mechanism remains unproven. </a:t>
                      </a:r>
                    </a:p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Occurrence root cause and permanent countermeasure not yet validated.</a:t>
                      </a: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2398846"/>
                  </a:ext>
                </a:extLst>
              </a:tr>
              <a:tr h="42479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Outflow Root Cause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MPI visual inspection weakness identified. </a:t>
                      </a:r>
                    </a:p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WI non-adherence, operator fatigue, inspection guideline gaps and inadequate monitoring suspected.</a:t>
                      </a: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9948990"/>
                  </a:ext>
                </a:extLst>
              </a:tr>
              <a:tr h="71218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Current Status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Containment completed. </a:t>
                      </a:r>
                    </a:p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Traceability completed.  </a:t>
                      </a:r>
                    </a:p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Joint supplier analysis completed. </a:t>
                      </a:r>
                    </a:p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SEM review completed. </a:t>
                      </a:r>
                    </a:p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Durability test and FTA validation in progress.</a:t>
                      </a: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7977131"/>
                  </a:ext>
                </a:extLst>
              </a:tr>
              <a:tr h="80661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Open Points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Final occurrence root cause pending. </a:t>
                      </a:r>
                    </a:p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Heat-treatment mechanism not validated. </a:t>
                      </a:r>
                    </a:p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Durability test not completed. </a:t>
                      </a:r>
                    </a:p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Supplier final report pending. </a:t>
                      </a:r>
                    </a:p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Permanent countermeasure pending.</a:t>
                      </a: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4305615"/>
                  </a:ext>
                </a:extLst>
              </a:tr>
              <a:tr h="28199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Supplier Commitment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Final investigation report </a:t>
                      </a: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from Mukand /</a:t>
                      </a: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Omega. </a:t>
                      </a:r>
                    </a:p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FTA validation and technical conclusion submission.</a:t>
                      </a: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7984714"/>
                  </a:ext>
                </a:extLst>
              </a:tr>
              <a:tr h="42479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Management Support Required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Continue escalation with </a:t>
                      </a:r>
                      <a:r>
                        <a:rPr lang="en-US" sz="1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Mukand</a:t>
                      </a: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/Omega management. </a:t>
                      </a:r>
                    </a:p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Obtain technically validated root cause, countermeasure and closure evidence before concern closure.</a:t>
                      </a: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8321210"/>
                  </a:ext>
                </a:extLst>
              </a:tr>
            </a:tbl>
          </a:graphicData>
        </a:graphic>
      </p:graphicFrame>
      <p:sp>
        <p:nvSpPr>
          <p:cNvPr id="5" name="Rectangle 40"/>
          <p:cNvSpPr>
            <a:spLocks noChangeArrowheads="1"/>
          </p:cNvSpPr>
          <p:nvPr/>
        </p:nvSpPr>
        <p:spPr bwMode="auto">
          <a:xfrm>
            <a:off x="166621" y="152400"/>
            <a:ext cx="525463" cy="339196"/>
          </a:xfrm>
          <a:prstGeom prst="rect">
            <a:avLst/>
          </a:prstGeom>
          <a:gradFill rotWithShape="0">
            <a:gsLst>
              <a:gs pos="0">
                <a:srgbClr val="3366CC">
                  <a:gamma/>
                  <a:shade val="9020"/>
                  <a:invGamma/>
                </a:srgbClr>
              </a:gs>
              <a:gs pos="50000">
                <a:srgbClr val="3366CC"/>
              </a:gs>
              <a:gs pos="100000">
                <a:srgbClr val="3366CC">
                  <a:gamma/>
                  <a:shade val="9020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pPr algn="ctr" eaLnBrk="1" hangingPunct="1"/>
            <a:r>
              <a:rPr kumimoji="1" lang="en-US" altLang="ko-KR" sz="1600" b="1" dirty="0">
                <a:solidFill>
                  <a:schemeClr val="bg1"/>
                </a:solidFill>
                <a:latin typeface="Arial Narrow" pitchFamily="34" charset="0"/>
                <a:ea typeface="HY견고딕" pitchFamily="18" charset="-127"/>
                <a:cs typeface="Arial" charset="0"/>
              </a:rPr>
              <a:t>2</a:t>
            </a:r>
          </a:p>
        </p:txBody>
      </p:sp>
      <p:sp>
        <p:nvSpPr>
          <p:cNvPr id="6" name="Rectangle 32"/>
          <p:cNvSpPr>
            <a:spLocks noChangeArrowheads="1"/>
          </p:cNvSpPr>
          <p:nvPr/>
        </p:nvSpPr>
        <p:spPr bwMode="auto">
          <a:xfrm>
            <a:off x="666683" y="152400"/>
            <a:ext cx="5410559" cy="339196"/>
          </a:xfrm>
          <a:prstGeom prst="rect">
            <a:avLst/>
          </a:prstGeom>
          <a:gradFill rotWithShape="0">
            <a:gsLst>
              <a:gs pos="0">
                <a:srgbClr val="99CCFF"/>
              </a:gs>
              <a:gs pos="100000">
                <a:srgbClr val="99CCFF">
                  <a:gamma/>
                  <a:tint val="12157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r>
              <a:rPr lang="en-US" altLang="ko-KR" sz="1600" b="1" dirty="0">
                <a:ea typeface="HY견고딕" pitchFamily="18" charset="-127"/>
                <a:cs typeface="Arial" charset="0"/>
              </a:rPr>
              <a:t>Current Status, Key Findings &amp; Open Issues</a:t>
            </a:r>
          </a:p>
        </p:txBody>
      </p:sp>
    </p:spTree>
    <p:extLst>
      <p:ext uri="{BB962C8B-B14F-4D97-AF65-F5344CB8AC3E}">
        <p14:creationId xmlns:p14="http://schemas.microsoft.com/office/powerpoint/2010/main" val="38558718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3"/>
          <p:cNvSpPr>
            <a:spLocks noChangeArrowheads="1"/>
          </p:cNvSpPr>
          <p:nvPr/>
        </p:nvSpPr>
        <p:spPr bwMode="auto">
          <a:xfrm>
            <a:off x="71348" y="171969"/>
            <a:ext cx="342900" cy="339196"/>
          </a:xfrm>
          <a:prstGeom prst="rect">
            <a:avLst/>
          </a:prstGeom>
          <a:gradFill rotWithShape="0">
            <a:gsLst>
              <a:gs pos="0">
                <a:srgbClr val="3366CC">
                  <a:gamma/>
                  <a:shade val="9020"/>
                  <a:invGamma/>
                </a:srgbClr>
              </a:gs>
              <a:gs pos="50000">
                <a:srgbClr val="3366CC"/>
              </a:gs>
              <a:gs pos="100000">
                <a:srgbClr val="3366CC">
                  <a:gamma/>
                  <a:shade val="9020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ea typeface="HY견고딕" pitchFamily="18" charset="-127"/>
                <a:cs typeface="Times New Roman" panose="02020603050405020304" pitchFamily="18" charset="0"/>
              </a:rPr>
              <a:t>3</a:t>
            </a:r>
            <a:endParaRPr kumimoji="1" lang="en-US" altLang="ko-KR" sz="1600" b="1" dirty="0">
              <a:solidFill>
                <a:schemeClr val="bg1"/>
              </a:solidFill>
              <a:ea typeface="HY견고딕" pitchFamily="18" charset="-127"/>
              <a:cs typeface="Times New Roman" panose="02020603050405020304" pitchFamily="18" charset="0"/>
            </a:endParaRPr>
          </a:p>
        </p:txBody>
      </p:sp>
      <p:sp>
        <p:nvSpPr>
          <p:cNvPr id="5" name="Rectangle 32"/>
          <p:cNvSpPr>
            <a:spLocks noChangeArrowheads="1"/>
          </p:cNvSpPr>
          <p:nvPr/>
        </p:nvSpPr>
        <p:spPr bwMode="auto">
          <a:xfrm>
            <a:off x="414248" y="171969"/>
            <a:ext cx="2141528" cy="339196"/>
          </a:xfrm>
          <a:prstGeom prst="rect">
            <a:avLst/>
          </a:prstGeom>
          <a:gradFill rotWithShape="0">
            <a:gsLst>
              <a:gs pos="0">
                <a:srgbClr val="99CCFF"/>
              </a:gs>
              <a:gs pos="100000">
                <a:srgbClr val="99CCFF">
                  <a:gamma/>
                  <a:tint val="12157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r>
              <a:rPr lang="en-US" altLang="ko-KR" sz="1600" b="1" dirty="0">
                <a:ea typeface="HY견고딕" pitchFamily="18" charset="-127"/>
                <a:cs typeface="Times New Roman" panose="02020603050405020304" pitchFamily="18" charset="0"/>
              </a:rPr>
              <a:t>Containment Action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852167"/>
            <a:ext cx="7524328" cy="348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62" u="sng" dirty="0">
                <a:cs typeface="Times New Roman" panose="02020603050405020304" pitchFamily="18" charset="0"/>
              </a:rPr>
              <a:t>Temporary Action:-  Segregation at JIN BWL &amp; Dynamic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75" y="6203524"/>
            <a:ext cx="8941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pPr algn="l"/>
            <a:r>
              <a:rPr lang="en-US" sz="1600" dirty="0">
                <a:solidFill>
                  <a:schemeClr val="accent2">
                    <a:lumMod val="75000"/>
                  </a:schemeClr>
                </a:solidFill>
                <a:cs typeface="Times New Roman" panose="02020603050405020304" pitchFamily="18" charset="0"/>
              </a:rPr>
              <a:t>Refer next slide for </a:t>
            </a:r>
            <a:r>
              <a:rPr lang="en-US" sz="1600" b="0" dirty="0">
                <a:cs typeface="Times New Roman" panose="02020603050405020304" pitchFamily="18" charset="0"/>
              </a:rPr>
              <a:t>Segregation Detail and Method </a:t>
            </a:r>
            <a:endParaRPr lang="en-IN" sz="1600" b="0" dirty="0">
              <a:solidFill>
                <a:schemeClr val="accent2">
                  <a:lumMod val="75000"/>
                </a:schemeClr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410569"/>
              </p:ext>
            </p:extLst>
          </p:nvPr>
        </p:nvGraphicFramePr>
        <p:xfrm>
          <a:off x="0" y="1405404"/>
          <a:ext cx="8829194" cy="4578385"/>
        </p:xfrm>
        <a:graphic>
          <a:graphicData uri="http://schemas.openxmlformats.org/drawingml/2006/table">
            <a:tbl>
              <a:tblPr firstRow="1" bandRow="1"/>
              <a:tblGrid>
                <a:gridCol w="900252">
                  <a:extLst>
                    <a:ext uri="{9D8B030D-6E8A-4147-A177-3AD203B41FA5}">
                      <a16:colId xmlns:a16="http://schemas.microsoft.com/office/drawing/2014/main" val="378139756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4094541897"/>
                    </a:ext>
                  </a:extLst>
                </a:gridCol>
                <a:gridCol w="746720">
                  <a:extLst>
                    <a:ext uri="{9D8B030D-6E8A-4147-A177-3AD203B41FA5}">
                      <a16:colId xmlns:a16="http://schemas.microsoft.com/office/drawing/2014/main" val="15112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76933297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313707944"/>
                    </a:ext>
                  </a:extLst>
                </a:gridCol>
                <a:gridCol w="609457">
                  <a:extLst>
                    <a:ext uri="{9D8B030D-6E8A-4147-A177-3AD203B41FA5}">
                      <a16:colId xmlns:a16="http://schemas.microsoft.com/office/drawing/2014/main" val="2635943718"/>
                    </a:ext>
                  </a:extLst>
                </a:gridCol>
                <a:gridCol w="762143">
                  <a:extLst>
                    <a:ext uri="{9D8B030D-6E8A-4147-A177-3AD203B41FA5}">
                      <a16:colId xmlns:a16="http://schemas.microsoft.com/office/drawing/2014/main" val="1966806412"/>
                    </a:ext>
                  </a:extLst>
                </a:gridCol>
                <a:gridCol w="1833820">
                  <a:extLst>
                    <a:ext uri="{9D8B030D-6E8A-4147-A177-3AD203B41FA5}">
                      <a16:colId xmlns:a16="http://schemas.microsoft.com/office/drawing/2014/main" val="996642663"/>
                    </a:ext>
                  </a:extLst>
                </a:gridCol>
                <a:gridCol w="1880930">
                  <a:extLst>
                    <a:ext uri="{9D8B030D-6E8A-4147-A177-3AD203B41FA5}">
                      <a16:colId xmlns:a16="http://schemas.microsoft.com/office/drawing/2014/main" val="2786834799"/>
                    </a:ext>
                  </a:extLst>
                </a:gridCol>
              </a:tblGrid>
              <a:tr h="73042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</a:t>
                      </a:r>
                    </a:p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level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Qty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Pending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Segg. Method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Picture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421326"/>
                  </a:ext>
                </a:extLst>
              </a:tr>
              <a:tr h="105385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BWL Line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Machining</a:t>
                      </a:r>
                      <a:r>
                        <a:rPr lang="en-IN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4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 parts checking with 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Magnifying Glass 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4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-at Receipt stage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4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- after whirling process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4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- 08.09.26</a:t>
                      </a:r>
                      <a:endParaRPr lang="en-US" sz="1400" b="1" i="0" u="none" strike="noStrike" baseline="0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n-US" sz="1400" b="1" i="0" u="none" strike="noStrike" baseline="0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n-US" sz="1400" b="1" i="0" u="none" strike="noStrike" baseline="0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n-US" sz="1400" b="1" i="0" u="none" strike="noStrike" baseline="0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n-US" sz="1400" b="1" i="0" u="none" strike="noStrike" baseline="0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n-US" sz="1400" b="1" i="0" u="none" strike="noStrike" baseline="0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n-US" sz="1400" b="1" i="0" u="none" strike="noStrike" baseline="0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sz="14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200% MPI started  at Dynamic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sz="14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- 08.09.26</a:t>
                      </a:r>
                    </a:p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algn="l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1879163"/>
                  </a:ext>
                </a:extLst>
              </a:tr>
              <a:tr h="100116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BWL (Receipt.)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Child part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kumimoji="1"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4908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kumimoji="1"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4904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04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116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(Child Parts)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Child part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kumimoji="1"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kumimoji="1"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203346"/>
                  </a:ext>
                </a:extLst>
              </a:tr>
              <a:tr h="632316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6199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2277823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7414993" y="2312441"/>
            <a:ext cx="757407" cy="2304241"/>
          </a:xfrm>
          <a:prstGeom prst="rect">
            <a:avLst/>
          </a:prstGeom>
        </p:spPr>
      </p:pic>
      <p:sp>
        <p:nvSpPr>
          <p:cNvPr id="16" name="Rounded Rectangular Callout 15"/>
          <p:cNvSpPr>
            <a:spLocks noChangeArrowheads="1"/>
          </p:cNvSpPr>
          <p:nvPr/>
        </p:nvSpPr>
        <p:spPr bwMode="auto">
          <a:xfrm>
            <a:off x="6840189" y="5106583"/>
            <a:ext cx="1967691" cy="834271"/>
          </a:xfrm>
          <a:prstGeom prst="wedgeRoundRectCallout">
            <a:avLst>
              <a:gd name="adj1" fmla="val 2846"/>
              <a:gd name="adj2" fmla="val -110725"/>
              <a:gd name="adj3" fmla="val 16667"/>
            </a:avLst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square" lIns="0" tIns="0" rIns="0" bIns="0" anchor="ctr" anchorCtr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Confirmation Marking on Worm Shaft 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(Receiving Stage-JIN)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7414992" y="4077072"/>
            <a:ext cx="757408" cy="216024"/>
          </a:xfrm>
          <a:prstGeom prst="rect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797372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/>
          <p:cNvSpPr/>
          <p:nvPr/>
        </p:nvSpPr>
        <p:spPr bwMode="auto">
          <a:xfrm>
            <a:off x="151789" y="6390374"/>
            <a:ext cx="2241455" cy="231923"/>
          </a:xfrm>
          <a:prstGeom prst="rect">
            <a:avLst/>
          </a:prstGeom>
          <a:ln w="952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36000" tIns="36000" rIns="36000" bIns="1080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200% parts inspection by MPI</a:t>
            </a:r>
          </a:p>
        </p:txBody>
      </p:sp>
      <p:sp>
        <p:nvSpPr>
          <p:cNvPr id="26" name="Right Arrow 25"/>
          <p:cNvSpPr/>
          <p:nvPr/>
        </p:nvSpPr>
        <p:spPr bwMode="auto">
          <a:xfrm>
            <a:off x="2352324" y="4879387"/>
            <a:ext cx="457200" cy="457200"/>
          </a:xfrm>
          <a:prstGeom prst="right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10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ＭＳ Ｐゴシック" pitchFamily="34" charset="-128"/>
              <a:ea typeface="ＭＳ Ｐゴシック" pitchFamily="34" charset="-128"/>
            </a:endParaRPr>
          </a:p>
        </p:txBody>
      </p:sp>
      <p:sp>
        <p:nvSpPr>
          <p:cNvPr id="33" name="Rectangle 32"/>
          <p:cNvSpPr/>
          <p:nvPr/>
        </p:nvSpPr>
        <p:spPr bwMode="auto">
          <a:xfrm>
            <a:off x="212075" y="3372451"/>
            <a:ext cx="2968976" cy="416589"/>
          </a:xfrm>
          <a:prstGeom prst="rect">
            <a:avLst/>
          </a:prstGeom>
          <a:ln w="952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36000" tIns="36000" rIns="36000" bIns="1080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IN" sz="1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100% parts checking by </a:t>
            </a:r>
            <a:r>
              <a:rPr 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Magnifying  Glass     </a:t>
            </a:r>
            <a:r>
              <a:rPr lang="en-US" sz="1200" b="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(JIN RECEIVING STAGE)</a:t>
            </a:r>
            <a:endParaRPr lang="en-IN" sz="1200" b="0" dirty="0">
              <a:solidFill>
                <a:schemeClr val="accent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34"/>
          <p:cNvSpPr/>
          <p:nvPr/>
        </p:nvSpPr>
        <p:spPr bwMode="auto">
          <a:xfrm>
            <a:off x="2585155" y="6367795"/>
            <a:ext cx="4222045" cy="231923"/>
          </a:xfrm>
          <a:prstGeom prst="rect">
            <a:avLst/>
          </a:prstGeom>
          <a:ln w="952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36000" tIns="36000" rIns="36000" bIns="1080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IN" sz="1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100% parts checking by </a:t>
            </a:r>
            <a:r>
              <a:rPr 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Magnifying Glass </a:t>
            </a:r>
            <a:endParaRPr lang="en-I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7022316" y="6275461"/>
            <a:ext cx="2079811" cy="416589"/>
          </a:xfrm>
          <a:prstGeom prst="rect">
            <a:avLst/>
          </a:prstGeom>
          <a:ln w="952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36000" tIns="36000" rIns="36000" bIns="1080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I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containment-Identification Tag</a:t>
            </a:r>
          </a:p>
        </p:txBody>
      </p:sp>
      <p:sp>
        <p:nvSpPr>
          <p:cNvPr id="25" name="Right Arrow 24"/>
          <p:cNvSpPr/>
          <p:nvPr/>
        </p:nvSpPr>
        <p:spPr bwMode="auto">
          <a:xfrm>
            <a:off x="6749344" y="4885032"/>
            <a:ext cx="457200" cy="457200"/>
          </a:xfrm>
          <a:prstGeom prst="right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10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ＭＳ Ｐゴシック" pitchFamily="34" charset="-128"/>
              <a:ea typeface="ＭＳ Ｐゴシック" pitchFamily="34" charset="-12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224888" y="4188178"/>
            <a:ext cx="1665534" cy="2034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 bwMode="auto">
          <a:xfrm>
            <a:off x="7597423" y="5407376"/>
            <a:ext cx="1004711" cy="248356"/>
          </a:xfrm>
          <a:prstGeom prst="rect">
            <a:avLst/>
          </a:prstGeom>
          <a:noFill/>
          <a:ln w="28575" cap="flat" cmpd="sng" algn="ctr">
            <a:solidFill>
              <a:srgbClr val="00B050"/>
            </a:solidFill>
            <a:prstDash val="sys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3566395" y="3372451"/>
            <a:ext cx="2632321" cy="416589"/>
          </a:xfrm>
          <a:prstGeom prst="rect">
            <a:avLst/>
          </a:prstGeom>
          <a:ln w="952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36000" tIns="36000" rIns="36000" bIns="1080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I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AFTER CONTAINMENT ACTIONS</a:t>
            </a:r>
          </a:p>
        </p:txBody>
      </p:sp>
      <p:sp>
        <p:nvSpPr>
          <p:cNvPr id="28" name="Right Arrow 27"/>
          <p:cNvSpPr/>
          <p:nvPr/>
        </p:nvSpPr>
        <p:spPr bwMode="auto">
          <a:xfrm>
            <a:off x="2740858" y="1915447"/>
            <a:ext cx="457200" cy="457200"/>
          </a:xfrm>
          <a:prstGeom prst="rightArrow">
            <a:avLst>
              <a:gd name="adj1" fmla="val 50000"/>
              <a:gd name="adj2" fmla="val 52469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10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ＭＳ Ｐゴシック" pitchFamily="34" charset="-128"/>
              <a:ea typeface="ＭＳ Ｐゴシック" pitchFamily="34" charset="-128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55" y="970552"/>
            <a:ext cx="2499151" cy="2346991"/>
          </a:xfrm>
          <a:prstGeom prst="rect">
            <a:avLst/>
          </a:prstGeom>
        </p:spPr>
      </p:pic>
      <p:cxnSp>
        <p:nvCxnSpPr>
          <p:cNvPr id="13" name="Straight Connector 12"/>
          <p:cNvCxnSpPr>
            <a:endCxn id="33" idx="0"/>
          </p:cNvCxnSpPr>
          <p:nvPr/>
        </p:nvCxnSpPr>
        <p:spPr bwMode="auto">
          <a:xfrm>
            <a:off x="1252025" y="2868638"/>
            <a:ext cx="444538" cy="503813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B050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666" y="4210508"/>
            <a:ext cx="1919112" cy="216725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4797" y="4167862"/>
            <a:ext cx="1840089" cy="2018448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1954" y="4191789"/>
            <a:ext cx="1762109" cy="2005811"/>
          </a:xfrm>
          <a:prstGeom prst="rect">
            <a:avLst/>
          </a:prstGeom>
        </p:spPr>
      </p:pic>
      <p:cxnSp>
        <p:nvCxnSpPr>
          <p:cNvPr id="37" name="Straight Connector 36"/>
          <p:cNvCxnSpPr/>
          <p:nvPr/>
        </p:nvCxnSpPr>
        <p:spPr bwMode="auto">
          <a:xfrm>
            <a:off x="3832578" y="5243689"/>
            <a:ext cx="1778000" cy="18626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pic>
        <p:nvPicPr>
          <p:cNvPr id="39" name="Picture 38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7547" y="1001345"/>
            <a:ext cx="1625009" cy="2241932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9">
            <a:extLst/>
          </a:blip>
          <a:srcRect b="47500"/>
          <a:stretch/>
        </p:blipFill>
        <p:spPr>
          <a:xfrm>
            <a:off x="5345083" y="1604989"/>
            <a:ext cx="829935" cy="1512711"/>
          </a:xfrm>
          <a:prstGeom prst="rect">
            <a:avLst/>
          </a:prstGeom>
        </p:spPr>
      </p:pic>
      <p:cxnSp>
        <p:nvCxnSpPr>
          <p:cNvPr id="42" name="Straight Arrow Connector 41"/>
          <p:cNvCxnSpPr/>
          <p:nvPr/>
        </p:nvCxnSpPr>
        <p:spPr bwMode="auto">
          <a:xfrm>
            <a:off x="4730042" y="1763034"/>
            <a:ext cx="925689" cy="31608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ysDash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3" name="Oval 42"/>
          <p:cNvSpPr/>
          <p:nvPr/>
        </p:nvSpPr>
        <p:spPr bwMode="auto">
          <a:xfrm>
            <a:off x="5497597" y="1955506"/>
            <a:ext cx="428978" cy="293511"/>
          </a:xfrm>
          <a:prstGeom prst="ellipse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</p:txBody>
      </p:sp>
      <p:sp>
        <p:nvSpPr>
          <p:cNvPr id="2" name="Rounded Rectangular Callout 1"/>
          <p:cNvSpPr/>
          <p:nvPr/>
        </p:nvSpPr>
        <p:spPr>
          <a:xfrm>
            <a:off x="4921954" y="707523"/>
            <a:ext cx="1227018" cy="680893"/>
          </a:xfrm>
          <a:prstGeom prst="wedgeRoundRectCallout">
            <a:avLst>
              <a:gd name="adj1" fmla="val 20441"/>
              <a:gd name="adj2" fmla="val 110020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Black Line Marking</a:t>
            </a:r>
          </a:p>
        </p:txBody>
      </p:sp>
      <p:sp>
        <p:nvSpPr>
          <p:cNvPr id="7" name="Down Arrow 6"/>
          <p:cNvSpPr/>
          <p:nvPr/>
        </p:nvSpPr>
        <p:spPr>
          <a:xfrm>
            <a:off x="4749839" y="4224864"/>
            <a:ext cx="427931" cy="2887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43"/>
          <p:cNvSpPr>
            <a:spLocks noChangeArrowheads="1"/>
          </p:cNvSpPr>
          <p:nvPr/>
        </p:nvSpPr>
        <p:spPr bwMode="auto">
          <a:xfrm>
            <a:off x="107504" y="171969"/>
            <a:ext cx="461555" cy="339196"/>
          </a:xfrm>
          <a:prstGeom prst="rect">
            <a:avLst/>
          </a:prstGeom>
          <a:gradFill rotWithShape="0">
            <a:gsLst>
              <a:gs pos="0">
                <a:srgbClr val="3366CC">
                  <a:gamma/>
                  <a:shade val="9020"/>
                  <a:invGamma/>
                </a:srgbClr>
              </a:gs>
              <a:gs pos="50000">
                <a:srgbClr val="3366CC"/>
              </a:gs>
              <a:gs pos="100000">
                <a:srgbClr val="3366CC">
                  <a:gamma/>
                  <a:shade val="9020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ea typeface="HY견고딕" pitchFamily="18" charset="-127"/>
                <a:cs typeface="Times New Roman" panose="02020603050405020304" pitchFamily="18" charset="0"/>
              </a:rPr>
              <a:t>3</a:t>
            </a:r>
            <a:r>
              <a:rPr kumimoji="1" lang="en-US" altLang="ko-KR" sz="1600" b="1" dirty="0">
                <a:solidFill>
                  <a:schemeClr val="bg1"/>
                </a:solidFill>
                <a:ea typeface="HY견고딕" pitchFamily="18" charset="-127"/>
                <a:cs typeface="Times New Roman" panose="02020603050405020304" pitchFamily="18" charset="0"/>
              </a:rPr>
              <a:t>.1</a:t>
            </a:r>
          </a:p>
        </p:txBody>
      </p:sp>
      <p:sp>
        <p:nvSpPr>
          <p:cNvPr id="32" name="Rectangle 32"/>
          <p:cNvSpPr>
            <a:spLocks noChangeArrowheads="1"/>
          </p:cNvSpPr>
          <p:nvPr/>
        </p:nvSpPr>
        <p:spPr bwMode="auto">
          <a:xfrm>
            <a:off x="575709" y="171969"/>
            <a:ext cx="2141528" cy="339196"/>
          </a:xfrm>
          <a:prstGeom prst="rect">
            <a:avLst/>
          </a:prstGeom>
          <a:gradFill rotWithShape="0">
            <a:gsLst>
              <a:gs pos="0">
                <a:srgbClr val="99CCFF"/>
              </a:gs>
              <a:gs pos="100000">
                <a:srgbClr val="99CCFF">
                  <a:gamma/>
                  <a:tint val="12157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r>
              <a:rPr lang="en-US" altLang="ko-KR" sz="1600" b="1" dirty="0">
                <a:ea typeface="HY견고딕" pitchFamily="18" charset="-127"/>
                <a:cs typeface="Times New Roman" panose="02020603050405020304" pitchFamily="18" charset="0"/>
              </a:rPr>
              <a:t>Containment Action 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 l="7267" r="4729"/>
          <a:stretch/>
        </p:blipFill>
        <p:spPr>
          <a:xfrm>
            <a:off x="6663696" y="968414"/>
            <a:ext cx="1938438" cy="2267343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 bwMode="auto">
          <a:xfrm>
            <a:off x="6464899" y="3356992"/>
            <a:ext cx="2632321" cy="416589"/>
          </a:xfrm>
          <a:prstGeom prst="rect">
            <a:avLst/>
          </a:prstGeom>
          <a:ln w="952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36000" tIns="36000" rIns="36000" bIns="1080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I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WHIRLING-INSPECTION -JIN </a:t>
            </a:r>
            <a:r>
              <a:rPr lang="en-IN" sz="1200" b="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 LINE</a:t>
            </a:r>
          </a:p>
        </p:txBody>
      </p:sp>
      <p:sp>
        <p:nvSpPr>
          <p:cNvPr id="29" name="Rounded Rectangular Callout 28"/>
          <p:cNvSpPr/>
          <p:nvPr/>
        </p:nvSpPr>
        <p:spPr bwMode="auto">
          <a:xfrm>
            <a:off x="5655731" y="5899778"/>
            <a:ext cx="1151469" cy="286531"/>
          </a:xfrm>
          <a:prstGeom prst="wedgeRoundRectCallout">
            <a:avLst>
              <a:gd name="adj1" fmla="val 46771"/>
              <a:gd name="adj2" fmla="val 9710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charset="-128"/>
              </a:rPr>
              <a:t>Zoom 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9319" y="3918167"/>
            <a:ext cx="1640393" cy="30777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cs typeface="Times New Roman" panose="02020603050405020304" pitchFamily="18" charset="0"/>
              </a:rPr>
              <a:t>Dynamic</a:t>
            </a:r>
          </a:p>
        </p:txBody>
      </p:sp>
      <p:sp>
        <p:nvSpPr>
          <p:cNvPr id="41" name="Right Arrow 40"/>
          <p:cNvSpPr/>
          <p:nvPr/>
        </p:nvSpPr>
        <p:spPr bwMode="auto">
          <a:xfrm>
            <a:off x="1979712" y="3933056"/>
            <a:ext cx="900000" cy="324000"/>
          </a:xfrm>
          <a:prstGeom prst="rightArrow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10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ＭＳ Ｐゴシック" pitchFamily="34" charset="-128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88025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07943" y="208331"/>
            <a:ext cx="2043938" cy="339196"/>
            <a:chOff x="107943" y="208331"/>
            <a:chExt cx="2043938" cy="339196"/>
          </a:xfrm>
        </p:grpSpPr>
        <p:sp>
          <p:nvSpPr>
            <p:cNvPr id="3" name="Rectangle 40"/>
            <p:cNvSpPr>
              <a:spLocks noChangeArrowheads="1"/>
            </p:cNvSpPr>
            <p:nvPr/>
          </p:nvSpPr>
          <p:spPr bwMode="auto">
            <a:xfrm>
              <a:off x="107943" y="208331"/>
              <a:ext cx="371475" cy="339196"/>
            </a:xfrm>
            <a:prstGeom prst="rect">
              <a:avLst/>
            </a:prstGeom>
            <a:gradFill rotWithShape="0">
              <a:gsLst>
                <a:gs pos="0">
                  <a:srgbClr val="3366CC">
                    <a:gamma/>
                    <a:shade val="9020"/>
                    <a:invGamma/>
                  </a:srgbClr>
                </a:gs>
                <a:gs pos="50000">
                  <a:srgbClr val="3366CC"/>
                </a:gs>
                <a:gs pos="100000">
                  <a:srgbClr val="3366CC">
                    <a:gamma/>
                    <a:shade val="9020"/>
                    <a:invGamma/>
                  </a:srgb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lIns="92075" tIns="46038" rIns="92075" bIns="46038">
              <a:spAutoFit/>
            </a:bodyPr>
            <a:lstStyle/>
            <a:p>
              <a:pPr algn="ctr" eaLnBrk="1" hangingPunct="1"/>
              <a:r>
                <a:rPr kumimoji="1" lang="en-US" altLang="ko-KR" b="1" dirty="0">
                  <a:solidFill>
                    <a:schemeClr val="bg1"/>
                  </a:solidFill>
                  <a:ea typeface="HY견고딕" pitchFamily="18" charset="-127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5" name="Rectangle 32"/>
            <p:cNvSpPr>
              <a:spLocks noChangeArrowheads="1"/>
            </p:cNvSpPr>
            <p:nvPr/>
          </p:nvSpPr>
          <p:spPr bwMode="auto">
            <a:xfrm>
              <a:off x="467544" y="208331"/>
              <a:ext cx="1684337" cy="339196"/>
            </a:xfrm>
            <a:prstGeom prst="rect">
              <a:avLst/>
            </a:prstGeom>
            <a:gradFill rotWithShape="0">
              <a:gsLst>
                <a:gs pos="0">
                  <a:srgbClr val="99CCFF"/>
                </a:gs>
                <a:gs pos="100000">
                  <a:srgbClr val="99CCFF">
                    <a:gamma/>
                    <a:tint val="12157"/>
                    <a:invGamma/>
                  </a:srgb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square" lIns="92075" tIns="46038" rIns="92075" bIns="46038">
              <a:spAutoFit/>
            </a:bodyPr>
            <a:lstStyle/>
            <a:p>
              <a:pPr algn="l" eaLnBrk="1" hangingPunct="1"/>
              <a:r>
                <a:rPr kumimoji="1" lang="en-US" altLang="ko-KR" b="1" dirty="0">
                  <a:ea typeface="HY견고딕" pitchFamily="18" charset="-127"/>
                  <a:cs typeface="Times New Roman" panose="02020603050405020304" pitchFamily="18" charset="0"/>
                </a:rPr>
                <a:t>4M CHANGE</a:t>
              </a:r>
            </a:p>
          </p:txBody>
        </p:sp>
      </p:grp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981149"/>
              </p:ext>
            </p:extLst>
          </p:nvPr>
        </p:nvGraphicFramePr>
        <p:xfrm>
          <a:off x="149338" y="3019368"/>
          <a:ext cx="4956061" cy="1478542"/>
        </p:xfrm>
        <a:graphic>
          <a:graphicData uri="http://schemas.openxmlformats.org/drawingml/2006/table">
            <a:tbl>
              <a:tblPr/>
              <a:tblGrid>
                <a:gridCol w="1405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7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81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4M 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Observation 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Result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Man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Skilled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OK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Machine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 change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OK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67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Material 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 change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OK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71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Method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As per work Instruction 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OK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1971864"/>
              </p:ext>
            </p:extLst>
          </p:nvPr>
        </p:nvGraphicFramePr>
        <p:xfrm>
          <a:off x="147948" y="1133501"/>
          <a:ext cx="4957452" cy="1439696"/>
        </p:xfrm>
        <a:graphic>
          <a:graphicData uri="http://schemas.openxmlformats.org/drawingml/2006/table">
            <a:tbl>
              <a:tblPr/>
              <a:tblGrid>
                <a:gridCol w="1405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8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066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4M </a:t>
                      </a:r>
                    </a:p>
                  </a:txBody>
                  <a:tcPr marL="9211" marR="9211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Observation </a:t>
                      </a:r>
                    </a:p>
                  </a:txBody>
                  <a:tcPr marL="9211" marR="9211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Result</a:t>
                      </a:r>
                    </a:p>
                  </a:txBody>
                  <a:tcPr marL="9211" marR="9211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73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Man</a:t>
                      </a:r>
                    </a:p>
                  </a:txBody>
                  <a:tcPr marL="9211" marR="9211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Skilled</a:t>
                      </a:r>
                    </a:p>
                  </a:txBody>
                  <a:tcPr marL="9211" marR="9211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OK</a:t>
                      </a:r>
                    </a:p>
                  </a:txBody>
                  <a:tcPr marL="9211" marR="9211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5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Machine</a:t>
                      </a:r>
                    </a:p>
                  </a:txBody>
                  <a:tcPr marL="9211" marR="9211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 Change</a:t>
                      </a:r>
                    </a:p>
                  </a:txBody>
                  <a:tcPr marL="9211" marR="9211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kumimoji="1"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OK</a:t>
                      </a:r>
                    </a:p>
                  </a:txBody>
                  <a:tcPr marL="9211" marR="9211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829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Material </a:t>
                      </a:r>
                    </a:p>
                  </a:txBody>
                  <a:tcPr marL="9211" marR="9211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 change</a:t>
                      </a:r>
                    </a:p>
                  </a:txBody>
                  <a:tcPr marL="9211" marR="9211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OK</a:t>
                      </a:r>
                    </a:p>
                  </a:txBody>
                  <a:tcPr marL="9211" marR="9211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8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Method</a:t>
                      </a:r>
                    </a:p>
                  </a:txBody>
                  <a:tcPr marL="9211" marR="9211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As per work Instruction </a:t>
                      </a:r>
                    </a:p>
                  </a:txBody>
                  <a:tcPr marL="9211" marR="9211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OK</a:t>
                      </a:r>
                    </a:p>
                  </a:txBody>
                  <a:tcPr marL="9211" marR="9211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5496" y="739655"/>
            <a:ext cx="192853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MUKAND </a:t>
            </a:r>
            <a:endParaRPr 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517278"/>
              </p:ext>
            </p:extLst>
          </p:nvPr>
        </p:nvGraphicFramePr>
        <p:xfrm>
          <a:off x="162401" y="4859315"/>
          <a:ext cx="4942997" cy="1478542"/>
        </p:xfrm>
        <a:graphic>
          <a:graphicData uri="http://schemas.openxmlformats.org/drawingml/2006/table">
            <a:tbl>
              <a:tblPr/>
              <a:tblGrid>
                <a:gridCol w="14017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64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81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4M 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Observation 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Result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Man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Skilled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OK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Machine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 change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OK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67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Material 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 change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OK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71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Method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As per work Instruction 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OK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Box 2"/>
          <p:cNvSpPr txBox="1">
            <a:spLocks noChangeArrowheads="1"/>
          </p:cNvSpPr>
          <p:nvPr/>
        </p:nvSpPr>
        <p:spPr bwMode="auto">
          <a:xfrm>
            <a:off x="5292080" y="5444297"/>
            <a:ext cx="3715216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Inference:-</a:t>
            </a:r>
          </a:p>
          <a:p>
            <a:pPr algn="l"/>
            <a:r>
              <a:rPr lang="en-US" altLang="en-US" sz="16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   </a:t>
            </a:r>
            <a:r>
              <a:rPr lang="en-US" alt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per 4M change record </a:t>
            </a:r>
          </a:p>
          <a:p>
            <a:pPr algn="l"/>
            <a:r>
              <a:rPr lang="en-US" alt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no abnormality observed 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5496" y="2584622"/>
            <a:ext cx="192853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OMEGA </a:t>
            </a:r>
            <a:endParaRPr 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7422" y="4509335"/>
            <a:ext cx="192853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DYNAMIC </a:t>
            </a:r>
            <a:endParaRPr 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92807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0"/>
          <p:cNvSpPr>
            <a:spLocks noChangeArrowheads="1"/>
          </p:cNvSpPr>
          <p:nvPr/>
        </p:nvSpPr>
        <p:spPr bwMode="auto">
          <a:xfrm>
            <a:off x="83597" y="155413"/>
            <a:ext cx="532983" cy="339196"/>
          </a:xfrm>
          <a:prstGeom prst="rect">
            <a:avLst/>
          </a:prstGeom>
          <a:gradFill rotWithShape="0">
            <a:gsLst>
              <a:gs pos="0">
                <a:srgbClr val="3366CC">
                  <a:gamma/>
                  <a:shade val="9020"/>
                  <a:invGamma/>
                </a:srgbClr>
              </a:gs>
              <a:gs pos="50000">
                <a:srgbClr val="3366CC"/>
              </a:gs>
              <a:gs pos="100000">
                <a:srgbClr val="3366CC">
                  <a:gamma/>
                  <a:shade val="9020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pPr algn="ctr" eaLnBrk="1" hangingPunct="1"/>
            <a:r>
              <a:rPr kumimoji="1" lang="en-US" altLang="ko-KR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5" name="Rectangle 32"/>
          <p:cNvSpPr>
            <a:spLocks noChangeArrowheads="1"/>
          </p:cNvSpPr>
          <p:nvPr/>
        </p:nvSpPr>
        <p:spPr bwMode="auto">
          <a:xfrm>
            <a:off x="611560" y="157862"/>
            <a:ext cx="5040560" cy="339196"/>
          </a:xfrm>
          <a:prstGeom prst="rect">
            <a:avLst/>
          </a:prstGeom>
          <a:gradFill rotWithShape="0">
            <a:gsLst>
              <a:gs pos="0">
                <a:srgbClr val="99CCFF"/>
              </a:gs>
              <a:gs pos="100000">
                <a:srgbClr val="99CCFF">
                  <a:gamma/>
                  <a:tint val="12157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pPr algn="l" eaLnBrk="1" hangingPunct="1"/>
            <a:r>
              <a:rPr kumimoji="1" lang="en-US" altLang="ko-KR" dirty="0">
                <a:ea typeface="Calibri" panose="020F0502020204030204" pitchFamily="34" charset="0"/>
                <a:cs typeface="Times New Roman" panose="02020603050405020304" pitchFamily="18" charset="0"/>
              </a:rPr>
              <a:t>PROCESS FLOW WITH DEFECTIVE  PROCESS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160521" y="2167447"/>
            <a:ext cx="1174045" cy="338666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IN" sz="1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 Blast Furnace</a:t>
            </a:r>
            <a:endParaRPr kumimoji="1" lang="en-I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Arrow: Right 28">
            <a:extLst>
              <a:ext uri="{FF2B5EF4-FFF2-40B4-BE49-F238E27FC236}">
                <a16:creationId xmlns:a16="http://schemas.microsoft.com/office/drawing/2014/main" id="{801D9E2B-A732-4BF7-B8C0-BA4A5CAB64E0}"/>
              </a:ext>
            </a:extLst>
          </p:cNvPr>
          <p:cNvSpPr/>
          <p:nvPr/>
        </p:nvSpPr>
        <p:spPr>
          <a:xfrm>
            <a:off x="1404840" y="2223044"/>
            <a:ext cx="198120" cy="2218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 b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" name="Rectangle 89"/>
          <p:cNvSpPr/>
          <p:nvPr/>
        </p:nvSpPr>
        <p:spPr bwMode="auto">
          <a:xfrm>
            <a:off x="1611143" y="2167447"/>
            <a:ext cx="1337734" cy="349955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IN" sz="1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 Optimizing Furnace</a:t>
            </a:r>
            <a:endParaRPr kumimoji="1" lang="en-I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1" name="Arrow: Right 28">
            <a:extLst>
              <a:ext uri="{FF2B5EF4-FFF2-40B4-BE49-F238E27FC236}">
                <a16:creationId xmlns:a16="http://schemas.microsoft.com/office/drawing/2014/main" id="{801D9E2B-A732-4BF7-B8C0-BA4A5CAB64E0}"/>
              </a:ext>
            </a:extLst>
          </p:cNvPr>
          <p:cNvSpPr/>
          <p:nvPr/>
        </p:nvSpPr>
        <p:spPr>
          <a:xfrm>
            <a:off x="2968351" y="2228688"/>
            <a:ext cx="198120" cy="2218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 b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" name="Arrow: Right 28">
            <a:extLst>
              <a:ext uri="{FF2B5EF4-FFF2-40B4-BE49-F238E27FC236}">
                <a16:creationId xmlns:a16="http://schemas.microsoft.com/office/drawing/2014/main" id="{801D9E2B-A732-4BF7-B8C0-BA4A5CAB64E0}"/>
              </a:ext>
            </a:extLst>
          </p:cNvPr>
          <p:cNvSpPr/>
          <p:nvPr/>
        </p:nvSpPr>
        <p:spPr>
          <a:xfrm>
            <a:off x="4597053" y="2257759"/>
            <a:ext cx="203201" cy="1814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 b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3" name="Rectangle 92"/>
          <p:cNvSpPr/>
          <p:nvPr/>
        </p:nvSpPr>
        <p:spPr bwMode="auto">
          <a:xfrm>
            <a:off x="3174655" y="2161803"/>
            <a:ext cx="1337734" cy="349955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IN" sz="1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Ladle Refining Furnace</a:t>
            </a:r>
            <a:endParaRPr kumimoji="1" lang="en-I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421627"/>
              </p:ext>
            </p:extLst>
          </p:nvPr>
        </p:nvGraphicFramePr>
        <p:xfrm>
          <a:off x="4811543" y="2133580"/>
          <a:ext cx="1264356" cy="417689"/>
        </p:xfrm>
        <a:graphic>
          <a:graphicData uri="http://schemas.openxmlformats.org/drawingml/2006/table">
            <a:tbl>
              <a:tblPr/>
              <a:tblGrid>
                <a:gridCol w="1264356">
                  <a:extLst>
                    <a:ext uri="{9D8B030D-6E8A-4147-A177-3AD203B41FA5}">
                      <a16:colId xmlns:a16="http://schemas.microsoft.com/office/drawing/2014/main" val="3011103488"/>
                    </a:ext>
                  </a:extLst>
                </a:gridCol>
              </a:tblGrid>
              <a:tr h="41768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Vacuum Degassing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3311938"/>
                  </a:ext>
                </a:extLst>
              </a:tr>
            </a:tbl>
          </a:graphicData>
        </a:graphic>
      </p:graphicFrame>
      <p:sp>
        <p:nvSpPr>
          <p:cNvPr id="96" name="Arrow: Right 4">
            <a:extLst>
              <a:ext uri="{FF2B5EF4-FFF2-40B4-BE49-F238E27FC236}">
                <a16:creationId xmlns:a16="http://schemas.microsoft.com/office/drawing/2014/main" id="{DD79F997-6885-4558-A6EF-89C1F19AC261}"/>
              </a:ext>
            </a:extLst>
          </p:cNvPr>
          <p:cNvSpPr/>
          <p:nvPr/>
        </p:nvSpPr>
        <p:spPr>
          <a:xfrm>
            <a:off x="6112306" y="2265378"/>
            <a:ext cx="198120" cy="1371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 b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92978"/>
              </p:ext>
            </p:extLst>
          </p:nvPr>
        </p:nvGraphicFramePr>
        <p:xfrm>
          <a:off x="6346832" y="2122291"/>
          <a:ext cx="1264356" cy="440267"/>
        </p:xfrm>
        <a:graphic>
          <a:graphicData uri="http://schemas.openxmlformats.org/drawingml/2006/table">
            <a:tbl>
              <a:tblPr/>
              <a:tblGrid>
                <a:gridCol w="1264356">
                  <a:extLst>
                    <a:ext uri="{9D8B030D-6E8A-4147-A177-3AD203B41FA5}">
                      <a16:colId xmlns:a16="http://schemas.microsoft.com/office/drawing/2014/main" val="1969909930"/>
                    </a:ext>
                  </a:extLst>
                </a:gridCol>
              </a:tblGrid>
              <a:tr h="44026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Continues Casting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4505687"/>
                  </a:ext>
                </a:extLst>
              </a:tr>
            </a:tbl>
          </a:graphicData>
        </a:graphic>
      </p:graphicFrame>
      <p:sp>
        <p:nvSpPr>
          <p:cNvPr id="97" name="Arrow: Right 5">
            <a:extLst>
              <a:ext uri="{FF2B5EF4-FFF2-40B4-BE49-F238E27FC236}">
                <a16:creationId xmlns:a16="http://schemas.microsoft.com/office/drawing/2014/main" id="{CB109260-7012-4658-BF02-06417FC1AB45}"/>
              </a:ext>
            </a:extLst>
          </p:cNvPr>
          <p:cNvSpPr/>
          <p:nvPr/>
        </p:nvSpPr>
        <p:spPr>
          <a:xfrm>
            <a:off x="7647594" y="2265378"/>
            <a:ext cx="198120" cy="1371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 b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371323"/>
              </p:ext>
            </p:extLst>
          </p:nvPr>
        </p:nvGraphicFramePr>
        <p:xfrm>
          <a:off x="7870833" y="2099713"/>
          <a:ext cx="1143000" cy="451556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578520999"/>
                    </a:ext>
                  </a:extLst>
                </a:gridCol>
              </a:tblGrid>
              <a:tr h="45155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Billet Dressing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4029547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526169"/>
              </p:ext>
            </p:extLst>
          </p:nvPr>
        </p:nvGraphicFramePr>
        <p:xfrm>
          <a:off x="7694444" y="2969968"/>
          <a:ext cx="1361722" cy="361244"/>
        </p:xfrm>
        <a:graphic>
          <a:graphicData uri="http://schemas.openxmlformats.org/drawingml/2006/table">
            <a:tbl>
              <a:tblPr/>
              <a:tblGrid>
                <a:gridCol w="1361722">
                  <a:extLst>
                    <a:ext uri="{9D8B030D-6E8A-4147-A177-3AD203B41FA5}">
                      <a16:colId xmlns:a16="http://schemas.microsoft.com/office/drawing/2014/main" val="3285383920"/>
                    </a:ext>
                  </a:extLst>
                </a:gridCol>
              </a:tblGrid>
              <a:tr h="3612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Hot Rolling to Desired Size &amp; Shape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873294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6889756"/>
              </p:ext>
            </p:extLst>
          </p:nvPr>
        </p:nvGraphicFramePr>
        <p:xfrm>
          <a:off x="6294621" y="2981256"/>
          <a:ext cx="1143000" cy="34995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3020010155"/>
                    </a:ext>
                  </a:extLst>
                </a:gridCol>
              </a:tblGrid>
              <a:tr h="34995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Bar Inspection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635251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424036"/>
              </p:ext>
            </p:extLst>
          </p:nvPr>
        </p:nvGraphicFramePr>
        <p:xfrm>
          <a:off x="4804488" y="2958677"/>
          <a:ext cx="1143000" cy="383823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161373203"/>
                    </a:ext>
                  </a:extLst>
                </a:gridCol>
              </a:tblGrid>
              <a:tr h="38382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Dispatch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6666515"/>
                  </a:ext>
                </a:extLst>
              </a:tr>
            </a:tbl>
          </a:graphicData>
        </a:graphic>
      </p:graphicFrame>
      <p:sp>
        <p:nvSpPr>
          <p:cNvPr id="2" name="Down Arrow 1"/>
          <p:cNvSpPr/>
          <p:nvPr/>
        </p:nvSpPr>
        <p:spPr bwMode="auto">
          <a:xfrm>
            <a:off x="8333676" y="2620949"/>
            <a:ext cx="248356" cy="259644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Left Arrow 5"/>
          <p:cNvSpPr/>
          <p:nvPr/>
        </p:nvSpPr>
        <p:spPr bwMode="auto">
          <a:xfrm>
            <a:off x="5996877" y="3094144"/>
            <a:ext cx="203200" cy="203200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Left Arrow 6"/>
          <p:cNvSpPr/>
          <p:nvPr/>
        </p:nvSpPr>
        <p:spPr bwMode="auto">
          <a:xfrm>
            <a:off x="7464432" y="3105432"/>
            <a:ext cx="180622" cy="158045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7014" y="2740823"/>
            <a:ext cx="2078722" cy="317544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>
                <a:ea typeface="Calibri" panose="020F0502020204030204" pitchFamily="34" charset="0"/>
                <a:cs typeface="Times New Roman" panose="02020603050405020304" pitchFamily="18" charset="0"/>
              </a:rPr>
              <a:t>Mukand Process Flow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95" y="4516790"/>
            <a:ext cx="1958625" cy="307777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>
                <a:solidFill>
                  <a:srgbClr val="00B0F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Omega Process Flow 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340191"/>
              </p:ext>
            </p:extLst>
          </p:nvPr>
        </p:nvGraphicFramePr>
        <p:xfrm>
          <a:off x="107504" y="4012165"/>
          <a:ext cx="1143000" cy="34480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3087217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Receiving inspection of RM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0522436"/>
                  </a:ext>
                </a:extLst>
              </a:tr>
            </a:tbl>
          </a:graphicData>
        </a:graphic>
      </p:graphicFrame>
      <p:sp>
        <p:nvSpPr>
          <p:cNvPr id="25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1370160" y="4029664"/>
            <a:ext cx="198120" cy="2853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9341045"/>
              </p:ext>
            </p:extLst>
          </p:nvPr>
        </p:nvGraphicFramePr>
        <p:xfrm>
          <a:off x="1631504" y="4000876"/>
          <a:ext cx="1143000" cy="34480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174596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Straightening @ Ø19</a:t>
                      </a:r>
                      <a:r>
                        <a:rPr lang="en-IN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8415054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1042684"/>
              </p:ext>
            </p:extLst>
          </p:nvPr>
        </p:nvGraphicFramePr>
        <p:xfrm>
          <a:off x="3049670" y="3994525"/>
          <a:ext cx="1241777" cy="361245"/>
        </p:xfrm>
        <a:graphic>
          <a:graphicData uri="http://schemas.openxmlformats.org/drawingml/2006/table">
            <a:tbl>
              <a:tblPr/>
              <a:tblGrid>
                <a:gridCol w="1241777">
                  <a:extLst>
                    <a:ext uri="{9D8B030D-6E8A-4147-A177-3AD203B41FA5}">
                      <a16:colId xmlns:a16="http://schemas.microsoft.com/office/drawing/2014/main" val="123894968"/>
                    </a:ext>
                  </a:extLst>
                </a:gridCol>
              </a:tblGrid>
              <a:tr h="36124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Peeling @ Ø18mm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6834429"/>
                  </a:ext>
                </a:extLst>
              </a:tr>
            </a:tbl>
          </a:graphicData>
        </a:graphic>
      </p:graphicFrame>
      <p:sp>
        <p:nvSpPr>
          <p:cNvPr id="28" name="Arrow: Right 19">
            <a:extLst>
              <a:ext uri="{FF2B5EF4-FFF2-40B4-BE49-F238E27FC236}">
                <a16:creationId xmlns:a16="http://schemas.microsoft.com/office/drawing/2014/main" id="{572369A2-0D18-4920-9B23-E7549E6378E4}"/>
              </a:ext>
            </a:extLst>
          </p:cNvPr>
          <p:cNvSpPr/>
          <p:nvPr/>
        </p:nvSpPr>
        <p:spPr>
          <a:xfrm>
            <a:off x="2826433" y="4063530"/>
            <a:ext cx="198120" cy="2853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089312"/>
              </p:ext>
            </p:extLst>
          </p:nvPr>
        </p:nvGraphicFramePr>
        <p:xfrm>
          <a:off x="4679503" y="3989588"/>
          <a:ext cx="1143000" cy="34480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4654367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Straightening @ Ø18mm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6634216"/>
                  </a:ext>
                </a:extLst>
              </a:tr>
            </a:tbl>
          </a:graphicData>
        </a:graphic>
      </p:graphicFrame>
      <p:sp>
        <p:nvSpPr>
          <p:cNvPr id="30" name="Arrow: Right 20">
            <a:extLst>
              <a:ext uri="{FF2B5EF4-FFF2-40B4-BE49-F238E27FC236}">
                <a16:creationId xmlns:a16="http://schemas.microsoft.com/office/drawing/2014/main" id="{98B7219E-9F70-4830-94BD-4C4EB68F65A4}"/>
              </a:ext>
            </a:extLst>
          </p:cNvPr>
          <p:cNvSpPr/>
          <p:nvPr/>
        </p:nvSpPr>
        <p:spPr>
          <a:xfrm>
            <a:off x="4395588" y="4007086"/>
            <a:ext cx="198120" cy="2853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Arrow: Right 20">
            <a:extLst>
              <a:ext uri="{FF2B5EF4-FFF2-40B4-BE49-F238E27FC236}">
                <a16:creationId xmlns:a16="http://schemas.microsoft.com/office/drawing/2014/main" id="{98B7219E-9F70-4830-94BD-4C4EB68F65A4}"/>
              </a:ext>
            </a:extLst>
          </p:cNvPr>
          <p:cNvSpPr/>
          <p:nvPr/>
        </p:nvSpPr>
        <p:spPr>
          <a:xfrm>
            <a:off x="5885722" y="4018374"/>
            <a:ext cx="198120" cy="2853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0798907"/>
              </p:ext>
            </p:extLst>
          </p:nvPr>
        </p:nvGraphicFramePr>
        <p:xfrm>
          <a:off x="6101904" y="3989588"/>
          <a:ext cx="1143000" cy="388761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819205070"/>
                    </a:ext>
                  </a:extLst>
                </a:gridCol>
              </a:tblGrid>
              <a:tr h="38876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Hardening &amp; Tempering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068184"/>
                  </a:ext>
                </a:extLst>
              </a:tr>
            </a:tbl>
          </a:graphicData>
        </a:graphic>
      </p:graphicFrame>
      <p:sp>
        <p:nvSpPr>
          <p:cNvPr id="33" name="Arrow: Right 21">
            <a:extLst>
              <a:ext uri="{FF2B5EF4-FFF2-40B4-BE49-F238E27FC236}">
                <a16:creationId xmlns:a16="http://schemas.microsoft.com/office/drawing/2014/main" id="{76474C91-6D8F-4D54-99D2-2F786C7E9F6D}"/>
              </a:ext>
            </a:extLst>
          </p:cNvPr>
          <p:cNvSpPr/>
          <p:nvPr/>
        </p:nvSpPr>
        <p:spPr>
          <a:xfrm>
            <a:off x="7330706" y="4063531"/>
            <a:ext cx="198120" cy="2853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2281810"/>
              </p:ext>
            </p:extLst>
          </p:nvPr>
        </p:nvGraphicFramePr>
        <p:xfrm>
          <a:off x="7558170" y="3911625"/>
          <a:ext cx="1474612" cy="512445"/>
        </p:xfrm>
        <a:graphic>
          <a:graphicData uri="http://schemas.openxmlformats.org/drawingml/2006/table">
            <a:tbl>
              <a:tblPr/>
              <a:tblGrid>
                <a:gridCol w="1474612">
                  <a:extLst>
                    <a:ext uri="{9D8B030D-6E8A-4147-A177-3AD203B41FA5}">
                      <a16:colId xmlns:a16="http://schemas.microsoft.com/office/drawing/2014/main" val="4174803446"/>
                    </a:ext>
                  </a:extLst>
                </a:gridCol>
              </a:tblGrid>
              <a:tr h="4780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Pickling / Pointing / Cold Draw/ Pointing cutting @ Ø17.30mm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3335021"/>
                  </a:ext>
                </a:extLst>
              </a:tr>
            </a:tbl>
          </a:graphicData>
        </a:graphic>
      </p:graphicFrame>
      <p:sp>
        <p:nvSpPr>
          <p:cNvPr id="35" name="Down Arrow 34"/>
          <p:cNvSpPr/>
          <p:nvPr/>
        </p:nvSpPr>
        <p:spPr bwMode="auto">
          <a:xfrm>
            <a:off x="8268917" y="4496889"/>
            <a:ext cx="248356" cy="259644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600" i="0" u="none" strike="noStrike" cap="none" normalizeH="0" baseline="0">
              <a:ln>
                <a:noFill/>
              </a:ln>
              <a:solidFill>
                <a:srgbClr val="00B0F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174731"/>
              </p:ext>
            </p:extLst>
          </p:nvPr>
        </p:nvGraphicFramePr>
        <p:xfrm>
          <a:off x="7714354" y="4807503"/>
          <a:ext cx="1361722" cy="383645"/>
        </p:xfrm>
        <a:graphic>
          <a:graphicData uri="http://schemas.openxmlformats.org/drawingml/2006/table">
            <a:tbl>
              <a:tblPr/>
              <a:tblGrid>
                <a:gridCol w="1361722">
                  <a:extLst>
                    <a:ext uri="{9D8B030D-6E8A-4147-A177-3AD203B41FA5}">
                      <a16:colId xmlns:a16="http://schemas.microsoft.com/office/drawing/2014/main" val="2976826419"/>
                    </a:ext>
                  </a:extLst>
                </a:gridCol>
              </a:tblGrid>
              <a:tr h="38364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Straightening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1563290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2492336"/>
              </p:ext>
            </p:extLst>
          </p:nvPr>
        </p:nvGraphicFramePr>
        <p:xfrm>
          <a:off x="6269376" y="4791099"/>
          <a:ext cx="1143000" cy="411339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1823411150"/>
                    </a:ext>
                  </a:extLst>
                </a:gridCol>
              </a:tblGrid>
              <a:tr h="41133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Centre Less grinding 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8411686"/>
                  </a:ext>
                </a:extLst>
              </a:tr>
            </a:tbl>
          </a:graphicData>
        </a:graphic>
      </p:graphicFrame>
      <p:sp>
        <p:nvSpPr>
          <p:cNvPr id="38" name="Left Arrow 37"/>
          <p:cNvSpPr/>
          <p:nvPr/>
        </p:nvSpPr>
        <p:spPr bwMode="auto">
          <a:xfrm>
            <a:off x="7422254" y="4891992"/>
            <a:ext cx="203200" cy="203200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600" i="0" u="none" strike="noStrike" cap="none" normalizeH="0" baseline="0">
              <a:ln>
                <a:noFill/>
              </a:ln>
              <a:solidFill>
                <a:srgbClr val="00B0F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Left Arrow 38"/>
          <p:cNvSpPr/>
          <p:nvPr/>
        </p:nvSpPr>
        <p:spPr bwMode="auto">
          <a:xfrm>
            <a:off x="5949054" y="4931503"/>
            <a:ext cx="203200" cy="203200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600" i="0" u="none" strike="noStrike" cap="none" normalizeH="0" baseline="0">
              <a:ln>
                <a:noFill/>
              </a:ln>
              <a:solidFill>
                <a:srgbClr val="00B0F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035881"/>
              </p:ext>
            </p:extLst>
          </p:nvPr>
        </p:nvGraphicFramePr>
        <p:xfrm>
          <a:off x="4425054" y="4807327"/>
          <a:ext cx="1492955" cy="512445"/>
        </p:xfrm>
        <a:graphic>
          <a:graphicData uri="http://schemas.openxmlformats.org/drawingml/2006/table">
            <a:tbl>
              <a:tblPr/>
              <a:tblGrid>
                <a:gridCol w="1492955">
                  <a:extLst>
                    <a:ext uri="{9D8B030D-6E8A-4147-A177-3AD203B41FA5}">
                      <a16:colId xmlns:a16="http://schemas.microsoft.com/office/drawing/2014/main" val="19161128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Centre Less grinding 2 (Final Size Ø17.00-0.04mm)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481115"/>
                  </a:ext>
                </a:extLst>
              </a:tr>
            </a:tbl>
          </a:graphicData>
        </a:graphic>
      </p:graphicFrame>
      <p:sp>
        <p:nvSpPr>
          <p:cNvPr id="41" name="Left Arrow 40"/>
          <p:cNvSpPr/>
          <p:nvPr/>
        </p:nvSpPr>
        <p:spPr bwMode="auto">
          <a:xfrm>
            <a:off x="4114609" y="5016169"/>
            <a:ext cx="203200" cy="203200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600" i="0" u="none" strike="noStrike" cap="none" normalizeH="0" baseline="0">
              <a:ln>
                <a:noFill/>
              </a:ln>
              <a:solidFill>
                <a:srgbClr val="00B0F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19102"/>
              </p:ext>
            </p:extLst>
          </p:nvPr>
        </p:nvGraphicFramePr>
        <p:xfrm>
          <a:off x="2844609" y="4802387"/>
          <a:ext cx="1248833" cy="524228"/>
        </p:xfrm>
        <a:graphic>
          <a:graphicData uri="http://schemas.openxmlformats.org/drawingml/2006/table">
            <a:tbl>
              <a:tblPr/>
              <a:tblGrid>
                <a:gridCol w="1248833">
                  <a:extLst>
                    <a:ext uri="{9D8B030D-6E8A-4147-A177-3AD203B41FA5}">
                      <a16:colId xmlns:a16="http://schemas.microsoft.com/office/drawing/2014/main" val="4180580159"/>
                    </a:ext>
                  </a:extLst>
                </a:gridCol>
              </a:tblGrid>
              <a:tr h="52422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Inspection, Packing &amp; Dispatch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464216"/>
                  </a:ext>
                </a:extLst>
              </a:tr>
            </a:tbl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153424" y="5569495"/>
            <a:ext cx="2690384" cy="307777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>
                <a:solidFill>
                  <a:srgbClr val="DF9B4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Dynamic Process Flow 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0769154"/>
              </p:ext>
            </p:extLst>
          </p:nvPr>
        </p:nvGraphicFramePr>
        <p:xfrm>
          <a:off x="195954" y="6021383"/>
          <a:ext cx="1143000" cy="34480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RM Receiving &amp; Inspection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sp>
        <p:nvSpPr>
          <p:cNvPr id="45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1441677" y="6021949"/>
            <a:ext cx="198120" cy="2853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5799188" y="6100971"/>
            <a:ext cx="198120" cy="2853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4348566" y="6117904"/>
            <a:ext cx="198120" cy="2853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8" name="Table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450623"/>
              </p:ext>
            </p:extLst>
          </p:nvPr>
        </p:nvGraphicFramePr>
        <p:xfrm>
          <a:off x="1680442" y="6027028"/>
          <a:ext cx="1143000" cy="51244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Turning &amp; Cantering  at Sliding Head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sp>
        <p:nvSpPr>
          <p:cNvPr id="49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2926166" y="6072749"/>
            <a:ext cx="198120" cy="2853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0" name="Table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2622688"/>
              </p:ext>
            </p:extLst>
          </p:nvPr>
        </p:nvGraphicFramePr>
        <p:xfrm>
          <a:off x="3142353" y="6043961"/>
          <a:ext cx="1143000" cy="39440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Dia. Turning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51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349525"/>
              </p:ext>
            </p:extLst>
          </p:nvPr>
        </p:nvGraphicFramePr>
        <p:xfrm>
          <a:off x="4581687" y="6038316"/>
          <a:ext cx="1143000" cy="39440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Crack Detection at MPI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52" name="Table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185909"/>
              </p:ext>
            </p:extLst>
          </p:nvPr>
        </p:nvGraphicFramePr>
        <p:xfrm>
          <a:off x="6043598" y="6055250"/>
          <a:ext cx="1143000" cy="39440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Visual Inspection &amp; Gauging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sp>
        <p:nvSpPr>
          <p:cNvPr id="54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7244166" y="6112260"/>
            <a:ext cx="198120" cy="2853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5" name="Table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836710"/>
              </p:ext>
            </p:extLst>
          </p:nvPr>
        </p:nvGraphicFramePr>
        <p:xfrm>
          <a:off x="7482931" y="6049606"/>
          <a:ext cx="1143000" cy="39440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Packing &amp; Dispatch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 bwMode="auto">
          <a:xfrm>
            <a:off x="4495327" y="5905295"/>
            <a:ext cx="1303861" cy="634178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Rectangle 55"/>
          <p:cNvSpPr/>
          <p:nvPr/>
        </p:nvSpPr>
        <p:spPr bwMode="auto">
          <a:xfrm>
            <a:off x="6038406" y="3882612"/>
            <a:ext cx="1303861" cy="634178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600" b="1" i="0" u="none" strike="noStrike" cap="none" normalizeH="0" baseline="0">
              <a:ln>
                <a:noFill/>
              </a:ln>
              <a:solidFill>
                <a:srgbClr val="00B0F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Rectangle 56"/>
          <p:cNvSpPr/>
          <p:nvPr/>
        </p:nvSpPr>
        <p:spPr bwMode="auto">
          <a:xfrm>
            <a:off x="7650246" y="2810120"/>
            <a:ext cx="1405920" cy="634178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Rectangle 57"/>
          <p:cNvSpPr/>
          <p:nvPr/>
        </p:nvSpPr>
        <p:spPr bwMode="auto">
          <a:xfrm>
            <a:off x="5979815" y="5926545"/>
            <a:ext cx="1223706" cy="634178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Rectangle 58"/>
          <p:cNvSpPr/>
          <p:nvPr/>
        </p:nvSpPr>
        <p:spPr bwMode="auto">
          <a:xfrm>
            <a:off x="2763715" y="4730937"/>
            <a:ext cx="1405920" cy="63417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600" b="1" i="0" u="none" strike="noStrike" cap="none" normalizeH="0" baseline="0">
              <a:ln>
                <a:noFill/>
              </a:ln>
              <a:solidFill>
                <a:srgbClr val="00B0F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Rectangle 59"/>
          <p:cNvSpPr/>
          <p:nvPr/>
        </p:nvSpPr>
        <p:spPr bwMode="auto">
          <a:xfrm>
            <a:off x="6163161" y="2850867"/>
            <a:ext cx="1405920" cy="634178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Rectangle 31"/>
          <p:cNvSpPr/>
          <p:nvPr/>
        </p:nvSpPr>
        <p:spPr bwMode="auto">
          <a:xfrm>
            <a:off x="32428" y="2023557"/>
            <a:ext cx="9076076" cy="1529777"/>
          </a:xfrm>
          <a:prstGeom prst="rect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ＭＳ Ｐゴシック" charset="-128"/>
            </a:endParaRPr>
          </a:p>
        </p:txBody>
      </p:sp>
      <p:sp>
        <p:nvSpPr>
          <p:cNvPr id="34" name="Rectangle 33"/>
          <p:cNvSpPr/>
          <p:nvPr/>
        </p:nvSpPr>
        <p:spPr bwMode="auto">
          <a:xfrm>
            <a:off x="32429" y="5451784"/>
            <a:ext cx="9043648" cy="1289584"/>
          </a:xfrm>
          <a:prstGeom prst="rect">
            <a:avLst/>
          </a:prstGeom>
          <a:noFill/>
          <a:ln w="28575" cap="flat" cmpd="sng" algn="ctr">
            <a:solidFill>
              <a:srgbClr val="DF9B4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ＭＳ Ｐゴシック" charset="-128"/>
            </a:endParaRPr>
          </a:p>
        </p:txBody>
      </p:sp>
      <p:sp>
        <p:nvSpPr>
          <p:cNvPr id="62" name="Rectangle 61"/>
          <p:cNvSpPr/>
          <p:nvPr/>
        </p:nvSpPr>
        <p:spPr bwMode="auto">
          <a:xfrm>
            <a:off x="32428" y="3602282"/>
            <a:ext cx="9076076" cy="1814037"/>
          </a:xfrm>
          <a:prstGeom prst="rect">
            <a:avLst/>
          </a:prstGeom>
          <a:noFill/>
          <a:ln w="28575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ＭＳ Ｐゴシック" charset="-128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82000" y="3229476"/>
            <a:ext cx="936104" cy="251171"/>
          </a:xfrm>
          <a:prstGeom prst="rect">
            <a:avLst/>
          </a:prstGeom>
          <a:solidFill>
            <a:srgbClr val="FFE79B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charset="-128"/>
              </a:rPr>
              <a:t>Occurrence</a:t>
            </a:r>
            <a:endParaRPr kumimoji="1" lang="en-IN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ＭＳ Ｐゴシック" charset="-128"/>
            </a:endParaRPr>
          </a:p>
        </p:txBody>
      </p:sp>
      <p:sp>
        <p:nvSpPr>
          <p:cNvPr id="65" name="Rectangle 64"/>
          <p:cNvSpPr/>
          <p:nvPr/>
        </p:nvSpPr>
        <p:spPr bwMode="auto">
          <a:xfrm>
            <a:off x="1072685" y="3229476"/>
            <a:ext cx="936104" cy="227758"/>
          </a:xfrm>
          <a:prstGeom prst="rect">
            <a:avLst/>
          </a:prstGeom>
          <a:solidFill>
            <a:schemeClr val="accent1">
              <a:lumMod val="90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charset="-128"/>
              </a:rPr>
              <a:t>Outflow</a:t>
            </a:r>
            <a:endParaRPr kumimoji="1" lang="en-IN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ＭＳ Ｐゴシック" charset="-128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32428" y="785367"/>
            <a:ext cx="9023738" cy="1146318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sys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ＭＳ Ｐゴシック" charset="-128"/>
            </a:endParaRPr>
          </a:p>
        </p:txBody>
      </p:sp>
      <p:graphicFrame>
        <p:nvGraphicFramePr>
          <p:cNvPr id="61" name="Table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232788"/>
              </p:ext>
            </p:extLst>
          </p:nvPr>
        </p:nvGraphicFramePr>
        <p:xfrm>
          <a:off x="251519" y="839317"/>
          <a:ext cx="8374414" cy="979170"/>
        </p:xfrm>
        <a:graphic>
          <a:graphicData uri="http://schemas.openxmlformats.org/drawingml/2006/table">
            <a:tbl>
              <a:tblPr/>
              <a:tblGrid>
                <a:gridCol w="843521">
                  <a:extLst>
                    <a:ext uri="{9D8B030D-6E8A-4147-A177-3AD203B41FA5}">
                      <a16:colId xmlns:a16="http://schemas.microsoft.com/office/drawing/2014/main" val="887615572"/>
                    </a:ext>
                  </a:extLst>
                </a:gridCol>
                <a:gridCol w="949910">
                  <a:extLst>
                    <a:ext uri="{9D8B030D-6E8A-4147-A177-3AD203B41FA5}">
                      <a16:colId xmlns:a16="http://schemas.microsoft.com/office/drawing/2014/main" val="242475647"/>
                    </a:ext>
                  </a:extLst>
                </a:gridCol>
                <a:gridCol w="440759">
                  <a:extLst>
                    <a:ext uri="{9D8B030D-6E8A-4147-A177-3AD203B41FA5}">
                      <a16:colId xmlns:a16="http://schemas.microsoft.com/office/drawing/2014/main" val="927804053"/>
                    </a:ext>
                  </a:extLst>
                </a:gridCol>
                <a:gridCol w="1626247">
                  <a:extLst>
                    <a:ext uri="{9D8B030D-6E8A-4147-A177-3AD203B41FA5}">
                      <a16:colId xmlns:a16="http://schemas.microsoft.com/office/drawing/2014/main" val="1548931679"/>
                    </a:ext>
                  </a:extLst>
                </a:gridCol>
                <a:gridCol w="440759">
                  <a:extLst>
                    <a:ext uri="{9D8B030D-6E8A-4147-A177-3AD203B41FA5}">
                      <a16:colId xmlns:a16="http://schemas.microsoft.com/office/drawing/2014/main" val="2728032859"/>
                    </a:ext>
                  </a:extLst>
                </a:gridCol>
                <a:gridCol w="1109496">
                  <a:extLst>
                    <a:ext uri="{9D8B030D-6E8A-4147-A177-3AD203B41FA5}">
                      <a16:colId xmlns:a16="http://schemas.microsoft.com/office/drawing/2014/main" val="1945864226"/>
                    </a:ext>
                  </a:extLst>
                </a:gridCol>
                <a:gridCol w="440759">
                  <a:extLst>
                    <a:ext uri="{9D8B030D-6E8A-4147-A177-3AD203B41FA5}">
                      <a16:colId xmlns:a16="http://schemas.microsoft.com/office/drawing/2014/main" val="3539266833"/>
                    </a:ext>
                  </a:extLst>
                </a:gridCol>
                <a:gridCol w="1018305">
                  <a:extLst>
                    <a:ext uri="{9D8B030D-6E8A-4147-A177-3AD203B41FA5}">
                      <a16:colId xmlns:a16="http://schemas.microsoft.com/office/drawing/2014/main" val="564618439"/>
                    </a:ext>
                  </a:extLst>
                </a:gridCol>
                <a:gridCol w="1504658">
                  <a:extLst>
                    <a:ext uri="{9D8B030D-6E8A-4147-A177-3AD203B41FA5}">
                      <a16:colId xmlns:a16="http://schemas.microsoft.com/office/drawing/2014/main" val="320135453"/>
                    </a:ext>
                  </a:extLst>
                </a:gridCol>
              </a:tblGrid>
              <a:tr h="28575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Supplier Chain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61882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Supplier →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Mukand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Omega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Dynamic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JIN BWL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876481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Process  →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Raw Material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Heat Treatment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Machining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Whirling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CEPS Assembly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037573"/>
                  </a:ext>
                </a:extLst>
              </a:tr>
            </a:tbl>
          </a:graphicData>
        </a:graphic>
      </p:graphicFrame>
      <p:sp>
        <p:nvSpPr>
          <p:cNvPr id="82" name="Right Arrow 81"/>
          <p:cNvSpPr/>
          <p:nvPr/>
        </p:nvSpPr>
        <p:spPr bwMode="auto">
          <a:xfrm>
            <a:off x="2155124" y="1303351"/>
            <a:ext cx="193635" cy="19230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ＭＳ Ｐゴシック" charset="-128"/>
            </a:endParaRPr>
          </a:p>
        </p:txBody>
      </p:sp>
      <p:sp>
        <p:nvSpPr>
          <p:cNvPr id="83" name="Right Arrow 82"/>
          <p:cNvSpPr/>
          <p:nvPr/>
        </p:nvSpPr>
        <p:spPr bwMode="auto">
          <a:xfrm>
            <a:off x="4216209" y="1310196"/>
            <a:ext cx="193635" cy="19230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ＭＳ Ｐゴシック" charset="-128"/>
            </a:endParaRPr>
          </a:p>
        </p:txBody>
      </p:sp>
      <p:sp>
        <p:nvSpPr>
          <p:cNvPr id="84" name="Right Arrow 83"/>
          <p:cNvSpPr/>
          <p:nvPr/>
        </p:nvSpPr>
        <p:spPr bwMode="auto">
          <a:xfrm>
            <a:off x="5786180" y="1279099"/>
            <a:ext cx="193635" cy="19230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40264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0"/>
          <p:cNvSpPr>
            <a:spLocks noChangeArrowheads="1"/>
          </p:cNvSpPr>
          <p:nvPr/>
        </p:nvSpPr>
        <p:spPr bwMode="auto">
          <a:xfrm>
            <a:off x="83597" y="157801"/>
            <a:ext cx="455955" cy="339196"/>
          </a:xfrm>
          <a:prstGeom prst="rect">
            <a:avLst/>
          </a:prstGeom>
          <a:gradFill rotWithShape="0">
            <a:gsLst>
              <a:gs pos="0">
                <a:srgbClr val="3366CC">
                  <a:gamma/>
                  <a:shade val="9020"/>
                  <a:invGamma/>
                </a:srgbClr>
              </a:gs>
              <a:gs pos="50000">
                <a:srgbClr val="3366CC"/>
              </a:gs>
              <a:gs pos="100000">
                <a:srgbClr val="3366CC">
                  <a:gamma/>
                  <a:shade val="9020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pPr algn="ctr" eaLnBrk="1" hangingPunct="1"/>
            <a:r>
              <a:rPr kumimoji="1" lang="en-US" altLang="ko-KR" b="1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5.1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0" y="798533"/>
            <a:ext cx="2690384" cy="2616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1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BAWAL-MACHINING PROCESS FLOW 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/>
          </p:nvPr>
        </p:nvGraphicFramePr>
        <p:xfrm>
          <a:off x="128411" y="1115431"/>
          <a:ext cx="1143000" cy="31432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RM Receiving &amp; Inspection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sp>
        <p:nvSpPr>
          <p:cNvPr id="45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1374134" y="1115997"/>
            <a:ext cx="198120" cy="2853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5731645" y="1248685"/>
            <a:ext cx="183733" cy="1737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4281023" y="1220462"/>
            <a:ext cx="223244" cy="1567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8" name="Table 47"/>
          <p:cNvGraphicFramePr>
            <a:graphicFrameLocks noGrp="1"/>
          </p:cNvGraphicFramePr>
          <p:nvPr>
            <p:extLst/>
          </p:nvPr>
        </p:nvGraphicFramePr>
        <p:xfrm>
          <a:off x="1612899" y="1107008"/>
          <a:ext cx="1143000" cy="39440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Thread</a:t>
                      </a:r>
                      <a:r>
                        <a:rPr lang="en-IN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Cutting 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sp>
        <p:nvSpPr>
          <p:cNvPr id="49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2858623" y="1152729"/>
            <a:ext cx="198120" cy="2853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0" name="Table 49"/>
          <p:cNvGraphicFramePr>
            <a:graphicFrameLocks noGrp="1"/>
          </p:cNvGraphicFramePr>
          <p:nvPr>
            <p:extLst/>
          </p:nvPr>
        </p:nvGraphicFramePr>
        <p:xfrm>
          <a:off x="3074810" y="1123941"/>
          <a:ext cx="1143000" cy="39440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Thread</a:t>
                      </a:r>
                      <a:r>
                        <a:rPr lang="en-IN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Grinding 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51" name="Table 50"/>
          <p:cNvGraphicFramePr>
            <a:graphicFrameLocks noGrp="1"/>
          </p:cNvGraphicFramePr>
          <p:nvPr>
            <p:extLst/>
          </p:nvPr>
        </p:nvGraphicFramePr>
        <p:xfrm>
          <a:off x="4514144" y="1118296"/>
          <a:ext cx="1143000" cy="39440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Thread</a:t>
                      </a:r>
                      <a:r>
                        <a:rPr lang="en-IN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Grinding 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52" name="Table 51"/>
          <p:cNvGraphicFramePr>
            <a:graphicFrameLocks noGrp="1"/>
          </p:cNvGraphicFramePr>
          <p:nvPr>
            <p:extLst/>
          </p:nvPr>
        </p:nvGraphicFramePr>
        <p:xfrm>
          <a:off x="5976055" y="1135230"/>
          <a:ext cx="1143000" cy="39440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OD Grinding 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sp>
        <p:nvSpPr>
          <p:cNvPr id="54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7176623" y="1237396"/>
            <a:ext cx="183733" cy="2075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5" name="Table 54"/>
          <p:cNvGraphicFramePr>
            <a:graphicFrameLocks noGrp="1"/>
          </p:cNvGraphicFramePr>
          <p:nvPr>
            <p:extLst/>
          </p:nvPr>
        </p:nvGraphicFramePr>
        <p:xfrm>
          <a:off x="7415388" y="1129586"/>
          <a:ext cx="1143000" cy="39440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Washing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56" name="Table 55"/>
          <p:cNvGraphicFramePr>
            <a:graphicFrameLocks noGrp="1"/>
          </p:cNvGraphicFramePr>
          <p:nvPr>
            <p:extLst/>
          </p:nvPr>
        </p:nvGraphicFramePr>
        <p:xfrm>
          <a:off x="7500054" y="1699680"/>
          <a:ext cx="1143000" cy="39440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Space Runout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sp>
        <p:nvSpPr>
          <p:cNvPr id="57" name="Down Arrow 56"/>
          <p:cNvSpPr/>
          <p:nvPr/>
        </p:nvSpPr>
        <p:spPr bwMode="auto">
          <a:xfrm>
            <a:off x="7896576" y="1507063"/>
            <a:ext cx="197557" cy="186275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Left Arrow 58"/>
          <p:cNvSpPr/>
          <p:nvPr/>
        </p:nvSpPr>
        <p:spPr bwMode="auto">
          <a:xfrm>
            <a:off x="7202311" y="1772350"/>
            <a:ext cx="203200" cy="203200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1" name="Table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7070135"/>
              </p:ext>
            </p:extLst>
          </p:nvPr>
        </p:nvGraphicFramePr>
        <p:xfrm>
          <a:off x="5817157" y="1733546"/>
          <a:ext cx="1288342" cy="394405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 Visual inspection with Magnifying glass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>
            <p:extLst/>
          </p:nvPr>
        </p:nvGraphicFramePr>
        <p:xfrm>
          <a:off x="90313" y="2461670"/>
          <a:ext cx="1288342" cy="394405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LOWER SHAFT WASHING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/>
          </p:nvPr>
        </p:nvGraphicFramePr>
        <p:xfrm>
          <a:off x="1642535" y="2478604"/>
          <a:ext cx="1288342" cy="377478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7747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R/G ANNEALING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/>
          </p:nvPr>
        </p:nvGraphicFramePr>
        <p:xfrm>
          <a:off x="3149601" y="2472960"/>
          <a:ext cx="1288342" cy="394411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1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DMC MARKING(WORM HOUSING)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>
            <p:extLst/>
          </p:nvPr>
        </p:nvGraphicFramePr>
        <p:xfrm>
          <a:off x="4667956" y="2467316"/>
          <a:ext cx="1288342" cy="394405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W/H BEARING &amp; C- RING PRESS IN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26" name="Table 25"/>
          <p:cNvGraphicFramePr>
            <a:graphicFrameLocks noGrp="1"/>
          </p:cNvGraphicFramePr>
          <p:nvPr>
            <p:extLst/>
          </p:nvPr>
        </p:nvGraphicFramePr>
        <p:xfrm>
          <a:off x="6175025" y="2472960"/>
          <a:ext cx="1288342" cy="394411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WS BEARING &amp; FLANGE BOSS PRESS-IN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sp>
        <p:nvSpPr>
          <p:cNvPr id="27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1413645" y="2552547"/>
            <a:ext cx="155511" cy="168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2954579" y="2535614"/>
            <a:ext cx="161154" cy="2075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4472936" y="2552548"/>
            <a:ext cx="178086" cy="1793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5980002" y="2558192"/>
            <a:ext cx="172443" cy="1850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512875"/>
              </p:ext>
            </p:extLst>
          </p:nvPr>
        </p:nvGraphicFramePr>
        <p:xfrm>
          <a:off x="7742769" y="2420889"/>
          <a:ext cx="1288342" cy="440832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4408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ABLS ASSY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sp>
        <p:nvSpPr>
          <p:cNvPr id="34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7520935" y="2575124"/>
            <a:ext cx="178087" cy="1906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5" name="Table 34"/>
          <p:cNvGraphicFramePr>
            <a:graphicFrameLocks noGrp="1"/>
          </p:cNvGraphicFramePr>
          <p:nvPr>
            <p:extLst/>
          </p:nvPr>
        </p:nvGraphicFramePr>
        <p:xfrm>
          <a:off x="7731481" y="3093146"/>
          <a:ext cx="1288342" cy="417683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41768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ASSY MEASUREMENT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sp>
        <p:nvSpPr>
          <p:cNvPr id="36" name="Down Arrow 35"/>
          <p:cNvSpPr/>
          <p:nvPr/>
        </p:nvSpPr>
        <p:spPr bwMode="auto">
          <a:xfrm>
            <a:off x="8173156" y="2878667"/>
            <a:ext cx="237066" cy="225762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0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7" name="Table 36"/>
          <p:cNvGraphicFramePr>
            <a:graphicFrameLocks noGrp="1"/>
          </p:cNvGraphicFramePr>
          <p:nvPr>
            <p:extLst/>
          </p:nvPr>
        </p:nvGraphicFramePr>
        <p:xfrm>
          <a:off x="6297791" y="3054335"/>
          <a:ext cx="1288342" cy="466725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SQUARE RING ASSEMBLY &amp;  END COVER PRESS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>
            <p:extLst/>
          </p:nvPr>
        </p:nvGraphicFramePr>
        <p:xfrm>
          <a:off x="4790724" y="3105136"/>
          <a:ext cx="1288342" cy="394405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DMC MARKING(LOWER SHAFT)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39" name="Table 38"/>
          <p:cNvGraphicFramePr>
            <a:graphicFrameLocks noGrp="1"/>
          </p:cNvGraphicFramePr>
          <p:nvPr>
            <p:extLst/>
          </p:nvPr>
        </p:nvGraphicFramePr>
        <p:xfrm>
          <a:off x="3317524" y="3110780"/>
          <a:ext cx="1288342" cy="394405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R/G PRESS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40" name="Table 39"/>
          <p:cNvGraphicFramePr>
            <a:graphicFrameLocks noGrp="1"/>
          </p:cNvGraphicFramePr>
          <p:nvPr>
            <p:extLst/>
          </p:nvPr>
        </p:nvGraphicFramePr>
        <p:xfrm>
          <a:off x="1810457" y="3127713"/>
          <a:ext cx="1288342" cy="394405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RED.GEAR TEETH CUTTING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41" name="Table 40"/>
          <p:cNvGraphicFramePr>
            <a:graphicFrameLocks noGrp="1"/>
          </p:cNvGraphicFramePr>
          <p:nvPr>
            <p:extLst/>
          </p:nvPr>
        </p:nvGraphicFramePr>
        <p:xfrm>
          <a:off x="246946" y="3144646"/>
          <a:ext cx="1288342" cy="394405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REDUCTION GEAR DEBURRING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42" name="Table 41"/>
          <p:cNvGraphicFramePr>
            <a:graphicFrameLocks noGrp="1"/>
          </p:cNvGraphicFramePr>
          <p:nvPr>
            <p:extLst/>
          </p:nvPr>
        </p:nvGraphicFramePr>
        <p:xfrm>
          <a:off x="196146" y="3714733"/>
          <a:ext cx="1288342" cy="394405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L/S BUSH AND BEARING PRESS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44" name="Table 43"/>
          <p:cNvGraphicFramePr>
            <a:graphicFrameLocks noGrp="1"/>
          </p:cNvGraphicFramePr>
          <p:nvPr>
            <p:extLst/>
          </p:nvPr>
        </p:nvGraphicFramePr>
        <p:xfrm>
          <a:off x="4559303" y="4442870"/>
          <a:ext cx="1288342" cy="394405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MAGNETIZING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53" name="Table 52"/>
          <p:cNvGraphicFramePr>
            <a:graphicFrameLocks noGrp="1"/>
          </p:cNvGraphicFramePr>
          <p:nvPr>
            <p:extLst/>
          </p:nvPr>
        </p:nvGraphicFramePr>
        <p:xfrm>
          <a:off x="3278014" y="3726022"/>
          <a:ext cx="1288342" cy="466725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'LOWER SHAFT ASSY INSTALLATION &amp; C-RING PRESS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62" name="Table 61"/>
          <p:cNvGraphicFramePr>
            <a:graphicFrameLocks noGrp="1"/>
          </p:cNvGraphicFramePr>
          <p:nvPr>
            <p:extLst/>
          </p:nvPr>
        </p:nvGraphicFramePr>
        <p:xfrm>
          <a:off x="4818947" y="3759189"/>
          <a:ext cx="1288342" cy="412039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41203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TOOTH SURFACE  FORMING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63" name="Table 62"/>
          <p:cNvGraphicFramePr>
            <a:graphicFrameLocks noGrp="1"/>
          </p:cNvGraphicFramePr>
          <p:nvPr>
            <p:extLst/>
          </p:nvPr>
        </p:nvGraphicFramePr>
        <p:xfrm>
          <a:off x="1776590" y="3714733"/>
          <a:ext cx="1288342" cy="405700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4057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RED.GEAR SPACE RUNOUT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sp>
        <p:nvSpPr>
          <p:cNvPr id="64" name="Down Arrow 63"/>
          <p:cNvSpPr/>
          <p:nvPr/>
        </p:nvSpPr>
        <p:spPr bwMode="auto">
          <a:xfrm>
            <a:off x="699911" y="3556000"/>
            <a:ext cx="231422" cy="174962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0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Left Arrow 64"/>
          <p:cNvSpPr/>
          <p:nvPr/>
        </p:nvSpPr>
        <p:spPr bwMode="auto">
          <a:xfrm>
            <a:off x="7580488" y="3200390"/>
            <a:ext cx="129823" cy="118543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" name="Left Arrow 65"/>
          <p:cNvSpPr/>
          <p:nvPr/>
        </p:nvSpPr>
        <p:spPr bwMode="auto">
          <a:xfrm>
            <a:off x="6107288" y="3251190"/>
            <a:ext cx="180623" cy="101609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Left Arrow 66"/>
          <p:cNvSpPr/>
          <p:nvPr/>
        </p:nvSpPr>
        <p:spPr bwMode="auto">
          <a:xfrm>
            <a:off x="4611510" y="3301990"/>
            <a:ext cx="180623" cy="101609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Left Arrow 67"/>
          <p:cNvSpPr/>
          <p:nvPr/>
        </p:nvSpPr>
        <p:spPr bwMode="auto">
          <a:xfrm>
            <a:off x="3104444" y="3273767"/>
            <a:ext cx="180623" cy="101609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Left Arrow 68"/>
          <p:cNvSpPr/>
          <p:nvPr/>
        </p:nvSpPr>
        <p:spPr bwMode="auto">
          <a:xfrm>
            <a:off x="1597378" y="3290700"/>
            <a:ext cx="180623" cy="101609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1532178" y="3777391"/>
            <a:ext cx="217600" cy="1511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3061822" y="3862057"/>
            <a:ext cx="217600" cy="1511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4580178" y="3935434"/>
            <a:ext cx="217600" cy="1511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0" y="2102400"/>
            <a:ext cx="2690384" cy="2616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1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Bawal Worm Housing  Process Flow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0" y="4140044"/>
            <a:ext cx="2690384" cy="2616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1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Bawal Column   Process Flow </a:t>
            </a:r>
          </a:p>
        </p:txBody>
      </p:sp>
      <p:graphicFrame>
        <p:nvGraphicFramePr>
          <p:cNvPr id="75" name="Table 74"/>
          <p:cNvGraphicFramePr>
            <a:graphicFrameLocks noGrp="1"/>
          </p:cNvGraphicFramePr>
          <p:nvPr>
            <p:extLst/>
          </p:nvPr>
        </p:nvGraphicFramePr>
        <p:xfrm>
          <a:off x="117126" y="4419587"/>
          <a:ext cx="1288342" cy="412039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41203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DMC CODING (M/S)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76" name="Table 75"/>
          <p:cNvGraphicFramePr>
            <a:graphicFrameLocks noGrp="1"/>
          </p:cNvGraphicFramePr>
          <p:nvPr>
            <p:extLst/>
          </p:nvPr>
        </p:nvGraphicFramePr>
        <p:xfrm>
          <a:off x="1590325" y="4436520"/>
          <a:ext cx="1288342" cy="412039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41203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DMC CODING (M/S)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77" name="Table 76"/>
          <p:cNvGraphicFramePr>
            <a:graphicFrameLocks noGrp="1"/>
          </p:cNvGraphicFramePr>
          <p:nvPr>
            <p:extLst/>
          </p:nvPr>
        </p:nvGraphicFramePr>
        <p:xfrm>
          <a:off x="3086103" y="4448515"/>
          <a:ext cx="1288342" cy="394405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TORSION BAR AND MIDDLE SHAFT PRESS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78" name="Table 77"/>
          <p:cNvGraphicFramePr>
            <a:graphicFrameLocks noGrp="1"/>
          </p:cNvGraphicFramePr>
          <p:nvPr>
            <p:extLst/>
          </p:nvPr>
        </p:nvGraphicFramePr>
        <p:xfrm>
          <a:off x="6066368" y="4448515"/>
          <a:ext cx="1288342" cy="394405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NEEDLE BEARING PRESS &amp; MCR ATTACHMENT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79" name="Table 78"/>
          <p:cNvGraphicFramePr>
            <a:graphicFrameLocks noGrp="1"/>
          </p:cNvGraphicFramePr>
          <p:nvPr>
            <p:extLst/>
          </p:nvPr>
        </p:nvGraphicFramePr>
        <p:xfrm>
          <a:off x="7607302" y="4409003"/>
          <a:ext cx="1288342" cy="394405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MAGNETIC YOKE PRESS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80" name="Table 79"/>
          <p:cNvGraphicFramePr>
            <a:graphicFrameLocks noGrp="1"/>
          </p:cNvGraphicFramePr>
          <p:nvPr>
            <p:extLst/>
          </p:nvPr>
        </p:nvGraphicFramePr>
        <p:xfrm>
          <a:off x="7612947" y="4990380"/>
          <a:ext cx="1288342" cy="394405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GENERAL ASSEMBLY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81" name="Table 80"/>
          <p:cNvGraphicFramePr>
            <a:graphicFrameLocks noGrp="1"/>
          </p:cNvGraphicFramePr>
          <p:nvPr>
            <p:extLst/>
          </p:nvPr>
        </p:nvGraphicFramePr>
        <p:xfrm>
          <a:off x="112890" y="5029891"/>
          <a:ext cx="1288342" cy="433928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43392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OUTER JACKET PRESS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82" name="Table 81"/>
          <p:cNvGraphicFramePr>
            <a:graphicFrameLocks noGrp="1"/>
          </p:cNvGraphicFramePr>
          <p:nvPr>
            <p:extLst/>
          </p:nvPr>
        </p:nvGraphicFramePr>
        <p:xfrm>
          <a:off x="1550814" y="5023552"/>
          <a:ext cx="1288342" cy="428978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42897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JACKET/LOWER TUBE PRESS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83" name="Table 82"/>
          <p:cNvGraphicFramePr>
            <a:graphicFrameLocks noGrp="1"/>
          </p:cNvGraphicFramePr>
          <p:nvPr>
            <p:extLst/>
          </p:nvPr>
        </p:nvGraphicFramePr>
        <p:xfrm>
          <a:off x="3069169" y="5029891"/>
          <a:ext cx="1288342" cy="394405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BUSH &amp; COLLAR PRESS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84" name="Table 83"/>
          <p:cNvGraphicFramePr>
            <a:graphicFrameLocks noGrp="1"/>
          </p:cNvGraphicFramePr>
          <p:nvPr>
            <p:extLst/>
          </p:nvPr>
        </p:nvGraphicFramePr>
        <p:xfrm>
          <a:off x="4576236" y="5012958"/>
          <a:ext cx="1288342" cy="466725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GAP REGULATION, BALANCING &amp; DEBURRING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85" name="Table 84"/>
          <p:cNvGraphicFramePr>
            <a:graphicFrameLocks noGrp="1"/>
          </p:cNvGraphicFramePr>
          <p:nvPr>
            <p:extLst/>
          </p:nvPr>
        </p:nvGraphicFramePr>
        <p:xfrm>
          <a:off x="6038147" y="5007313"/>
          <a:ext cx="1288342" cy="456508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45650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N-MIN TORQUE INSPECTION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86" name="Table 85"/>
          <p:cNvGraphicFramePr>
            <a:graphicFrameLocks noGrp="1"/>
          </p:cNvGraphicFramePr>
          <p:nvPr>
            <p:extLst/>
          </p:nvPr>
        </p:nvGraphicFramePr>
        <p:xfrm>
          <a:off x="220134" y="5622556"/>
          <a:ext cx="1288342" cy="466725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4339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GAIN OFFSET WRITING  &amp; FIXED LOAD INSPECTION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87" name="Table 86"/>
          <p:cNvGraphicFramePr>
            <a:graphicFrameLocks noGrp="1"/>
          </p:cNvGraphicFramePr>
          <p:nvPr>
            <p:extLst/>
          </p:nvPr>
        </p:nvGraphicFramePr>
        <p:xfrm>
          <a:off x="1761067" y="5616912"/>
          <a:ext cx="1288342" cy="433928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43392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MCU INSTALLATION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88" name="Table 87"/>
          <p:cNvGraphicFramePr>
            <a:graphicFrameLocks noGrp="1"/>
          </p:cNvGraphicFramePr>
          <p:nvPr>
            <p:extLst/>
          </p:nvPr>
        </p:nvGraphicFramePr>
        <p:xfrm>
          <a:off x="3211689" y="5656423"/>
          <a:ext cx="1288342" cy="433928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43392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PROPORTIONAL LOAD INSPECTION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89" name="Table 88"/>
          <p:cNvGraphicFramePr>
            <a:graphicFrameLocks noGrp="1"/>
          </p:cNvGraphicFramePr>
          <p:nvPr>
            <p:extLst/>
          </p:nvPr>
        </p:nvGraphicFramePr>
        <p:xfrm>
          <a:off x="7699023" y="6220870"/>
          <a:ext cx="1288342" cy="433928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43392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FEELING INSPECTION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90" name="Table 89"/>
          <p:cNvGraphicFramePr>
            <a:graphicFrameLocks noGrp="1"/>
          </p:cNvGraphicFramePr>
          <p:nvPr>
            <p:extLst/>
          </p:nvPr>
        </p:nvGraphicFramePr>
        <p:xfrm>
          <a:off x="6203244" y="6276622"/>
          <a:ext cx="1288342" cy="387703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877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TILT &amp; TELESCOPICE INSPECTION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91" name="Table 90"/>
          <p:cNvGraphicFramePr>
            <a:graphicFrameLocks noGrp="1"/>
          </p:cNvGraphicFramePr>
          <p:nvPr>
            <p:extLst/>
          </p:nvPr>
        </p:nvGraphicFramePr>
        <p:xfrm>
          <a:off x="7710312" y="5628201"/>
          <a:ext cx="1288342" cy="433928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43392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HARNESS BRACKET ATTACHMENT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92" name="Table 91"/>
          <p:cNvGraphicFramePr>
            <a:graphicFrameLocks noGrp="1"/>
          </p:cNvGraphicFramePr>
          <p:nvPr>
            <p:extLst/>
          </p:nvPr>
        </p:nvGraphicFramePr>
        <p:xfrm>
          <a:off x="6158089" y="5645134"/>
          <a:ext cx="1288342" cy="433928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43392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PEDAL BRACEKET ATTACHMENT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93" name="Table 92"/>
          <p:cNvGraphicFramePr>
            <a:graphicFrameLocks noGrp="1"/>
          </p:cNvGraphicFramePr>
          <p:nvPr>
            <p:extLst/>
          </p:nvPr>
        </p:nvGraphicFramePr>
        <p:xfrm>
          <a:off x="4718756" y="5662068"/>
          <a:ext cx="1288342" cy="466725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43392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MID POINT CURRENT &amp; ROTATIONAL TORQUE INSPECTION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94" name="Table 93"/>
          <p:cNvGraphicFramePr>
            <a:graphicFrameLocks noGrp="1"/>
          </p:cNvGraphicFramePr>
          <p:nvPr>
            <p:extLst/>
          </p:nvPr>
        </p:nvGraphicFramePr>
        <p:xfrm>
          <a:off x="3194755" y="6293557"/>
          <a:ext cx="1288342" cy="410280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41028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DIAG INSPECTION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95" name="Table 94"/>
          <p:cNvGraphicFramePr>
            <a:graphicFrameLocks noGrp="1"/>
          </p:cNvGraphicFramePr>
          <p:nvPr>
            <p:extLst/>
          </p:nvPr>
        </p:nvGraphicFramePr>
        <p:xfrm>
          <a:off x="4656667" y="6287912"/>
          <a:ext cx="1288342" cy="410280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41028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IMS ATTACHEMENT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96" name="Table 95"/>
          <p:cNvGraphicFramePr>
            <a:graphicFrameLocks noGrp="1"/>
          </p:cNvGraphicFramePr>
          <p:nvPr>
            <p:extLst/>
          </p:nvPr>
        </p:nvGraphicFramePr>
        <p:xfrm>
          <a:off x="287866" y="6310491"/>
          <a:ext cx="1288342" cy="410280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41028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FINAL INSPECTION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97" name="Table 96"/>
          <p:cNvGraphicFramePr>
            <a:graphicFrameLocks noGrp="1"/>
          </p:cNvGraphicFramePr>
          <p:nvPr>
            <p:extLst/>
          </p:nvPr>
        </p:nvGraphicFramePr>
        <p:xfrm>
          <a:off x="1738489" y="6304846"/>
          <a:ext cx="1288342" cy="410280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41028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CABLE TIE ATTACHMENT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sp>
        <p:nvSpPr>
          <p:cNvPr id="98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1419289" y="4601480"/>
            <a:ext cx="155511" cy="168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9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2903777" y="4573257"/>
            <a:ext cx="155511" cy="168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0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5867111" y="4578902"/>
            <a:ext cx="155511" cy="168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1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4371332" y="4595835"/>
            <a:ext cx="155511" cy="168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7413688" y="4578902"/>
            <a:ext cx="155511" cy="168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" name="Down Arrow 105"/>
          <p:cNvSpPr/>
          <p:nvPr/>
        </p:nvSpPr>
        <p:spPr bwMode="auto">
          <a:xfrm>
            <a:off x="8212667" y="4803422"/>
            <a:ext cx="163688" cy="163689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0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7" name="Down Arrow 106"/>
          <p:cNvSpPr/>
          <p:nvPr/>
        </p:nvSpPr>
        <p:spPr bwMode="auto">
          <a:xfrm>
            <a:off x="666045" y="5452533"/>
            <a:ext cx="163688" cy="163689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0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8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1436222" y="5148991"/>
            <a:ext cx="155511" cy="168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2864266" y="5154636"/>
            <a:ext cx="155511" cy="168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4405199" y="5171569"/>
            <a:ext cx="155511" cy="168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1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5889688" y="5177213"/>
            <a:ext cx="155511" cy="168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2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7351599" y="5103835"/>
            <a:ext cx="155511" cy="168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3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1577333" y="5696502"/>
            <a:ext cx="155511" cy="168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3073111" y="5848902"/>
            <a:ext cx="155511" cy="168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4523734" y="5752947"/>
            <a:ext cx="155511" cy="168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6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6030801" y="5803747"/>
            <a:ext cx="155511" cy="168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7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7515290" y="5764236"/>
            <a:ext cx="155511" cy="168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8" name="Down Arrow 117"/>
          <p:cNvSpPr/>
          <p:nvPr/>
        </p:nvSpPr>
        <p:spPr bwMode="auto">
          <a:xfrm>
            <a:off x="8218311" y="6050845"/>
            <a:ext cx="163688" cy="163689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0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Left Arrow 118"/>
          <p:cNvSpPr/>
          <p:nvPr/>
        </p:nvSpPr>
        <p:spPr bwMode="auto">
          <a:xfrm>
            <a:off x="7495822" y="6434657"/>
            <a:ext cx="169333" cy="90320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Left Arrow 119"/>
          <p:cNvSpPr/>
          <p:nvPr/>
        </p:nvSpPr>
        <p:spPr bwMode="auto">
          <a:xfrm>
            <a:off x="6011330" y="6474167"/>
            <a:ext cx="169333" cy="90320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1" name="Left Arrow 120"/>
          <p:cNvSpPr/>
          <p:nvPr/>
        </p:nvSpPr>
        <p:spPr bwMode="auto">
          <a:xfrm>
            <a:off x="4470395" y="6524966"/>
            <a:ext cx="169333" cy="90320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" name="Left Arrow 121"/>
          <p:cNvSpPr/>
          <p:nvPr/>
        </p:nvSpPr>
        <p:spPr bwMode="auto">
          <a:xfrm>
            <a:off x="3008485" y="6530609"/>
            <a:ext cx="169333" cy="90320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3" name="Left Arrow 122"/>
          <p:cNvSpPr/>
          <p:nvPr/>
        </p:nvSpPr>
        <p:spPr bwMode="auto">
          <a:xfrm>
            <a:off x="1557859" y="6524963"/>
            <a:ext cx="169333" cy="90320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" name="Rectangle 32"/>
          <p:cNvSpPr>
            <a:spLocks noChangeArrowheads="1"/>
          </p:cNvSpPr>
          <p:nvPr/>
        </p:nvSpPr>
        <p:spPr bwMode="auto">
          <a:xfrm>
            <a:off x="539552" y="157311"/>
            <a:ext cx="3604529" cy="339196"/>
          </a:xfrm>
          <a:prstGeom prst="rect">
            <a:avLst/>
          </a:prstGeom>
          <a:gradFill rotWithShape="0">
            <a:gsLst>
              <a:gs pos="0">
                <a:srgbClr val="99CCFF"/>
              </a:gs>
              <a:gs pos="100000">
                <a:srgbClr val="99CCFF">
                  <a:gamma/>
                  <a:tint val="12157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pPr algn="l" eaLnBrk="1" hangingPunct="1"/>
            <a:r>
              <a:rPr kumimoji="1" lang="en-US" altLang="ko-KR" dirty="0">
                <a:ea typeface="Calibri" panose="020F0502020204030204" pitchFamily="34" charset="0"/>
                <a:cs typeface="Times New Roman" panose="02020603050405020304" pitchFamily="18" charset="0"/>
              </a:rPr>
              <a:t>BAWAL PROCESS FLOW</a:t>
            </a:r>
          </a:p>
        </p:txBody>
      </p:sp>
      <p:sp>
        <p:nvSpPr>
          <p:cNvPr id="2" name="Rounded Rectangular Callout 1"/>
          <p:cNvSpPr/>
          <p:nvPr/>
        </p:nvSpPr>
        <p:spPr bwMode="auto">
          <a:xfrm>
            <a:off x="4111100" y="1631230"/>
            <a:ext cx="1373356" cy="422627"/>
          </a:xfrm>
          <a:prstGeom prst="wedgeRoundRectCallout">
            <a:avLst>
              <a:gd name="adj1" fmla="val 69308"/>
              <a:gd name="adj2" fmla="val 22557"/>
              <a:gd name="adj3" fmla="val 16667"/>
            </a:avLst>
          </a:prstGeom>
          <a:solidFill>
            <a:srgbClr val="92D050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200" dirty="0">
                <a:latin typeface="Times New Roman" pitchFamily="18" charset="0"/>
                <a:ea typeface="ＭＳ Ｐゴシック" charset="-128"/>
              </a:rPr>
              <a:t>Detected at Process</a:t>
            </a:r>
            <a:endParaRPr kumimoji="1" lang="en-US" sz="1200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ＭＳ Ｐゴシック" charset="-128"/>
            </a:endParaRPr>
          </a:p>
        </p:txBody>
      </p:sp>
      <p:sp>
        <p:nvSpPr>
          <p:cNvPr id="104" name="Rectangle 103"/>
          <p:cNvSpPr/>
          <p:nvPr/>
        </p:nvSpPr>
        <p:spPr bwMode="auto">
          <a:xfrm>
            <a:off x="5758368" y="1615989"/>
            <a:ext cx="1405920" cy="634178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600" b="1" i="0" u="none" strike="noStrike" cap="none" normalizeH="0" baseline="0">
              <a:ln>
                <a:noFill/>
              </a:ln>
              <a:solidFill>
                <a:srgbClr val="00B0F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63561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0"/>
          <p:cNvSpPr>
            <a:spLocks noChangeArrowheads="1"/>
          </p:cNvSpPr>
          <p:nvPr/>
        </p:nvSpPr>
        <p:spPr bwMode="auto">
          <a:xfrm>
            <a:off x="35496" y="260648"/>
            <a:ext cx="515684" cy="339196"/>
          </a:xfrm>
          <a:prstGeom prst="rect">
            <a:avLst/>
          </a:prstGeom>
          <a:gradFill rotWithShape="0">
            <a:gsLst>
              <a:gs pos="0">
                <a:srgbClr val="3366CC">
                  <a:gamma/>
                  <a:shade val="9020"/>
                  <a:invGamma/>
                </a:srgbClr>
              </a:gs>
              <a:gs pos="50000">
                <a:srgbClr val="3366CC"/>
              </a:gs>
              <a:gs pos="100000">
                <a:srgbClr val="3366CC">
                  <a:gamma/>
                  <a:shade val="9020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pPr algn="l" eaLnBrk="1" hangingPunct="1"/>
            <a:r>
              <a:rPr lang="en-US" altLang="ko-KR" dirty="0">
                <a:solidFill>
                  <a:schemeClr val="bg1"/>
                </a:solidFill>
                <a:ea typeface="HY견고딕" pitchFamily="18" charset="-127"/>
                <a:cs typeface="Times New Roman" panose="02020603050405020304" pitchFamily="18" charset="0"/>
              </a:rPr>
              <a:t>6</a:t>
            </a:r>
            <a:endParaRPr kumimoji="1" lang="en-US" altLang="ko-KR" b="1" dirty="0">
              <a:solidFill>
                <a:schemeClr val="bg1"/>
              </a:solidFill>
              <a:ea typeface="HY견고딕" pitchFamily="18" charset="-127"/>
              <a:cs typeface="Times New Roman" panose="02020603050405020304" pitchFamily="18" charset="0"/>
            </a:endParaRPr>
          </a:p>
        </p:txBody>
      </p:sp>
      <p:sp>
        <p:nvSpPr>
          <p:cNvPr id="5" name="Rectangle 32"/>
          <p:cNvSpPr>
            <a:spLocks noChangeArrowheads="1"/>
          </p:cNvSpPr>
          <p:nvPr/>
        </p:nvSpPr>
        <p:spPr bwMode="auto">
          <a:xfrm>
            <a:off x="406971" y="260648"/>
            <a:ext cx="2972893" cy="339196"/>
          </a:xfrm>
          <a:prstGeom prst="rect">
            <a:avLst/>
          </a:prstGeom>
          <a:gradFill rotWithShape="0">
            <a:gsLst>
              <a:gs pos="0">
                <a:srgbClr val="99CCFF"/>
              </a:gs>
              <a:gs pos="100000">
                <a:srgbClr val="99CCFF">
                  <a:gamma/>
                  <a:tint val="12157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pPr algn="l" eaLnBrk="1" hangingPunct="1"/>
            <a:r>
              <a:rPr lang="en-US" altLang="ko-KR" dirty="0">
                <a:ea typeface="HY견고딕" pitchFamily="18" charset="-127"/>
                <a:cs typeface="Times New Roman" panose="02020603050405020304" pitchFamily="18" charset="0"/>
              </a:rPr>
              <a:t>ANALYSIS </a:t>
            </a:r>
            <a:endParaRPr kumimoji="1" lang="en-US" altLang="ko-KR" b="1" dirty="0">
              <a:ea typeface="HY견고딕" pitchFamily="18" charset="-127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496" y="764704"/>
            <a:ext cx="8964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0" dirty="0"/>
              <a:t>1. </a:t>
            </a:r>
            <a:r>
              <a:rPr lang="en-US" b="0" dirty="0">
                <a:solidFill>
                  <a:srgbClr val="00B050"/>
                </a:solidFill>
              </a:rPr>
              <a:t>OK</a:t>
            </a:r>
            <a:r>
              <a:rPr lang="en-US" b="0" dirty="0"/>
              <a:t> &amp; </a:t>
            </a:r>
            <a:r>
              <a:rPr lang="en-US" b="0" dirty="0">
                <a:solidFill>
                  <a:srgbClr val="FF0000"/>
                </a:solidFill>
              </a:rPr>
              <a:t>NG</a:t>
            </a:r>
            <a:r>
              <a:rPr lang="en-US" b="0" dirty="0"/>
              <a:t> PART COMPARISON DONE FOR </a:t>
            </a:r>
            <a:r>
              <a:rPr lang="en-US" i="1" dirty="0"/>
              <a:t>MICROSTRUCTURE</a:t>
            </a:r>
            <a:r>
              <a:rPr lang="en-US" b="0" dirty="0"/>
              <a:t> </a:t>
            </a:r>
            <a:r>
              <a:rPr lang="en-US" b="0" dirty="0">
                <a:solidFill>
                  <a:srgbClr val="FF0000"/>
                </a:solidFill>
              </a:rPr>
              <a:t>AT OMEGA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r="50411"/>
          <a:stretch/>
        </p:blipFill>
        <p:spPr>
          <a:xfrm>
            <a:off x="293338" y="1276231"/>
            <a:ext cx="1869943" cy="121666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744" y="1258246"/>
            <a:ext cx="1800200" cy="12580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93338" y="2516295"/>
            <a:ext cx="16121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00B050"/>
                </a:solidFill>
              </a:rPr>
              <a:t>OK</a:t>
            </a:r>
            <a:r>
              <a:rPr lang="en-US" sz="1050" dirty="0"/>
              <a:t> PART MICROSTRCTURE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45613" y="2497088"/>
            <a:ext cx="16121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NG</a:t>
            </a:r>
            <a:r>
              <a:rPr lang="en-US" sz="1050" dirty="0"/>
              <a:t> PART MICROSTRCTURE</a:t>
            </a:r>
          </a:p>
        </p:txBody>
      </p:sp>
      <p:sp>
        <p:nvSpPr>
          <p:cNvPr id="11" name="TextBox 2"/>
          <p:cNvSpPr txBox="1">
            <a:spLocks noChangeArrowheads="1"/>
          </p:cNvSpPr>
          <p:nvPr/>
        </p:nvSpPr>
        <p:spPr bwMode="auto">
          <a:xfrm>
            <a:off x="4517740" y="1559114"/>
            <a:ext cx="3715216" cy="861774"/>
          </a:xfrm>
          <a:prstGeom prst="rect">
            <a:avLst/>
          </a:prstGeom>
          <a:solidFill>
            <a:schemeClr val="accent3">
              <a:lumMod val="95000"/>
            </a:schemeClr>
          </a:solidFill>
          <a:ln w="9525">
            <a:noFill/>
            <a:miter lim="800000"/>
            <a:headEnd/>
            <a:tailEnd/>
          </a:ln>
          <a:extLst/>
        </p:spPr>
        <p:txBody>
          <a:bodyPr wrap="square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Inference:-</a:t>
            </a:r>
          </a:p>
          <a:p>
            <a:pPr algn="l"/>
            <a:r>
              <a:rPr lang="en-US" altLang="en-US" sz="16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No Decarb observed at Crack Portion.</a:t>
            </a:r>
          </a:p>
          <a:p>
            <a:pPr algn="l"/>
            <a:r>
              <a:rPr lang="en-US" alt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Tempered Martensite structure observed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50" y="2996952"/>
            <a:ext cx="8964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0" dirty="0"/>
              <a:t>2. </a:t>
            </a:r>
            <a:r>
              <a:rPr lang="en-US" b="0" dirty="0">
                <a:solidFill>
                  <a:srgbClr val="00B050"/>
                </a:solidFill>
              </a:rPr>
              <a:t>OK</a:t>
            </a:r>
            <a:r>
              <a:rPr lang="en-US" b="0" dirty="0"/>
              <a:t> &amp; </a:t>
            </a:r>
            <a:r>
              <a:rPr lang="en-US" b="0" dirty="0">
                <a:solidFill>
                  <a:srgbClr val="FF0000"/>
                </a:solidFill>
              </a:rPr>
              <a:t>NG</a:t>
            </a:r>
            <a:r>
              <a:rPr lang="en-US" b="0" dirty="0"/>
              <a:t> PART COMPARISON DONE FOR </a:t>
            </a:r>
            <a:r>
              <a:rPr lang="en-US" i="1" dirty="0"/>
              <a:t>MICROSTRUCTURE</a:t>
            </a:r>
            <a:r>
              <a:rPr lang="en-US" b="0" dirty="0"/>
              <a:t>  AT </a:t>
            </a:r>
            <a:r>
              <a:rPr lang="en-US" b="0" dirty="0">
                <a:solidFill>
                  <a:srgbClr val="FF0000"/>
                </a:solidFill>
              </a:rPr>
              <a:t>JBIN 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84" b="308"/>
          <a:stretch/>
        </p:blipFill>
        <p:spPr>
          <a:xfrm>
            <a:off x="314771" y="3461769"/>
            <a:ext cx="1848510" cy="144198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6"/>
          <a:srcRect l="2666"/>
          <a:stretch/>
        </p:blipFill>
        <p:spPr>
          <a:xfrm>
            <a:off x="2345613" y="3461770"/>
            <a:ext cx="1722331" cy="1441986"/>
          </a:xfrm>
          <a:prstGeom prst="rect">
            <a:avLst/>
          </a:prstGeom>
        </p:spPr>
      </p:pic>
      <p:sp>
        <p:nvSpPr>
          <p:cNvPr id="15" name="TextBox 2"/>
          <p:cNvSpPr txBox="1">
            <a:spLocks noChangeArrowheads="1"/>
          </p:cNvSpPr>
          <p:nvPr/>
        </p:nvSpPr>
        <p:spPr bwMode="auto">
          <a:xfrm>
            <a:off x="4517740" y="3863370"/>
            <a:ext cx="4086708" cy="861774"/>
          </a:xfrm>
          <a:prstGeom prst="rect">
            <a:avLst/>
          </a:prstGeom>
          <a:solidFill>
            <a:schemeClr val="accent3">
              <a:lumMod val="95000"/>
            </a:schemeClr>
          </a:solidFill>
          <a:ln w="9525">
            <a:noFill/>
            <a:miter lim="800000"/>
            <a:headEnd/>
            <a:tailEnd/>
          </a:ln>
          <a:extLst/>
        </p:spPr>
        <p:txBody>
          <a:bodyPr wrap="square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Inference:-</a:t>
            </a:r>
          </a:p>
          <a:p>
            <a:pPr algn="l"/>
            <a:r>
              <a:rPr lang="en-US" altLang="en-US" sz="16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Tempered Martensite structure observed</a:t>
            </a:r>
          </a:p>
          <a:p>
            <a:pPr algn="l"/>
            <a:r>
              <a:rPr lang="en-US" alt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RM Level issue not suspected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50" y="5069257"/>
            <a:ext cx="8964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0" dirty="0"/>
              <a:t>3. SEM TESTING PROCEED AT NG PART LEVEL</a:t>
            </a:r>
            <a:endParaRPr lang="en-US" b="0" dirty="0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7"/>
          <a:srcRect l="6753" t="3942" r="6753"/>
          <a:stretch/>
        </p:blipFill>
        <p:spPr>
          <a:xfrm>
            <a:off x="314771" y="5428024"/>
            <a:ext cx="1021381" cy="7872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8"/>
          <a:srcRect l="6807"/>
          <a:stretch/>
        </p:blipFill>
        <p:spPr>
          <a:xfrm>
            <a:off x="1475656" y="5453164"/>
            <a:ext cx="1008112" cy="78110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9"/>
          <a:srcRect l="9089" t="10356" r="9089" b="10356"/>
          <a:stretch/>
        </p:blipFill>
        <p:spPr>
          <a:xfrm>
            <a:off x="2654577" y="5457966"/>
            <a:ext cx="1060225" cy="75730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10"/>
          <a:srcRect l="5882" b="3002"/>
          <a:stretch/>
        </p:blipFill>
        <p:spPr>
          <a:xfrm>
            <a:off x="3885611" y="5453164"/>
            <a:ext cx="906008" cy="76210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68527" y="5277104"/>
            <a:ext cx="2497222" cy="124465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TextBox 2"/>
          <p:cNvSpPr txBox="1">
            <a:spLocks noChangeArrowheads="1"/>
          </p:cNvSpPr>
          <p:nvPr/>
        </p:nvSpPr>
        <p:spPr bwMode="auto">
          <a:xfrm>
            <a:off x="35496" y="6309320"/>
            <a:ext cx="5688632" cy="307777"/>
          </a:xfrm>
          <a:prstGeom prst="rect">
            <a:avLst/>
          </a:prstGeom>
          <a:solidFill>
            <a:srgbClr val="FFE79B"/>
          </a:solidFill>
          <a:ln w="9525">
            <a:noFill/>
            <a:miter lim="800000"/>
            <a:headEnd/>
            <a:tailEnd/>
          </a:ln>
          <a:extLst/>
        </p:spPr>
        <p:txBody>
          <a:bodyPr wrap="square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Inference:-</a:t>
            </a:r>
            <a:r>
              <a:rPr lang="en-US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per SEM Testing Conclusion, 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abnormality Observed at RM Level</a:t>
            </a:r>
          </a:p>
        </p:txBody>
      </p:sp>
      <p:sp>
        <p:nvSpPr>
          <p:cNvPr id="21" name="Rectangle 20"/>
          <p:cNvSpPr/>
          <p:nvPr/>
        </p:nvSpPr>
        <p:spPr bwMode="auto">
          <a:xfrm>
            <a:off x="35496" y="764335"/>
            <a:ext cx="8977942" cy="220307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ＭＳ Ｐゴシック" charset="-128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28768" y="2999220"/>
            <a:ext cx="8984669" cy="194272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ＭＳ Ｐゴシック" charset="-128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35496" y="4941940"/>
            <a:ext cx="8977942" cy="172742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025586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0"/>
          <p:cNvSpPr>
            <a:spLocks noChangeArrowheads="1"/>
          </p:cNvSpPr>
          <p:nvPr/>
        </p:nvSpPr>
        <p:spPr bwMode="auto">
          <a:xfrm>
            <a:off x="35496" y="260648"/>
            <a:ext cx="515684" cy="339196"/>
          </a:xfrm>
          <a:prstGeom prst="rect">
            <a:avLst/>
          </a:prstGeom>
          <a:gradFill rotWithShape="0">
            <a:gsLst>
              <a:gs pos="0">
                <a:srgbClr val="3366CC">
                  <a:gamma/>
                  <a:shade val="9020"/>
                  <a:invGamma/>
                </a:srgbClr>
              </a:gs>
              <a:gs pos="50000">
                <a:srgbClr val="3366CC"/>
              </a:gs>
              <a:gs pos="100000">
                <a:srgbClr val="3366CC">
                  <a:gamma/>
                  <a:shade val="9020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pPr algn="l" eaLnBrk="1" hangingPunct="1"/>
            <a:r>
              <a:rPr kumimoji="1" lang="en-US" altLang="ko-KR" b="1" dirty="0">
                <a:solidFill>
                  <a:schemeClr val="bg1"/>
                </a:solidFill>
                <a:ea typeface="HY견고딕" pitchFamily="18" charset="-127"/>
                <a:cs typeface="Times New Roman" panose="02020603050405020304" pitchFamily="18" charset="0"/>
              </a:rPr>
              <a:t>6.1</a:t>
            </a:r>
          </a:p>
        </p:txBody>
      </p:sp>
      <p:sp>
        <p:nvSpPr>
          <p:cNvPr id="5" name="Rectangle 32"/>
          <p:cNvSpPr>
            <a:spLocks noChangeArrowheads="1"/>
          </p:cNvSpPr>
          <p:nvPr/>
        </p:nvSpPr>
        <p:spPr bwMode="auto">
          <a:xfrm>
            <a:off x="406971" y="260648"/>
            <a:ext cx="2972893" cy="339196"/>
          </a:xfrm>
          <a:prstGeom prst="rect">
            <a:avLst/>
          </a:prstGeom>
          <a:gradFill rotWithShape="0">
            <a:gsLst>
              <a:gs pos="0">
                <a:srgbClr val="99CCFF"/>
              </a:gs>
              <a:gs pos="100000">
                <a:srgbClr val="99CCFF">
                  <a:gamma/>
                  <a:tint val="12157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pPr algn="l" eaLnBrk="1" hangingPunct="1"/>
            <a:r>
              <a:rPr lang="en-US" altLang="ko-KR" dirty="0">
                <a:ea typeface="HY견고딕" pitchFamily="18" charset="-127"/>
                <a:cs typeface="Times New Roman" panose="02020603050405020304" pitchFamily="18" charset="0"/>
              </a:rPr>
              <a:t>ANALYSIS </a:t>
            </a:r>
            <a:endParaRPr kumimoji="1" lang="en-US" altLang="ko-KR" b="1" dirty="0">
              <a:ea typeface="HY견고딕" pitchFamily="18" charset="-127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496" y="836712"/>
            <a:ext cx="8964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0" dirty="0"/>
              <a:t>FTA SHARED BY THE OMEGA CONSIDERING THE POSSIBLE CAUSES </a:t>
            </a:r>
            <a:endParaRPr lang="en-US" b="0" dirty="0">
              <a:solidFill>
                <a:srgbClr val="FF0000"/>
              </a:solidFill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6" y="1383737"/>
            <a:ext cx="8881332" cy="470955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TextBox 2"/>
          <p:cNvSpPr txBox="1">
            <a:spLocks noChangeArrowheads="1"/>
          </p:cNvSpPr>
          <p:nvPr/>
        </p:nvSpPr>
        <p:spPr bwMode="auto">
          <a:xfrm>
            <a:off x="35496" y="6165304"/>
            <a:ext cx="8881332" cy="492443"/>
          </a:xfrm>
          <a:prstGeom prst="rect">
            <a:avLst/>
          </a:prstGeom>
          <a:solidFill>
            <a:srgbClr val="FFE79B"/>
          </a:solidFill>
          <a:ln w="9525">
            <a:noFill/>
            <a:miter lim="800000"/>
            <a:headEnd/>
            <a:tailEnd/>
          </a:ln>
          <a:extLst/>
        </p:spPr>
        <p:txBody>
          <a:bodyPr wrap="square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Inference:-</a:t>
            </a:r>
            <a:r>
              <a:rPr lang="en-US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Current Controls Verified by the Omega &amp; Dynamic jointly And No Abnormality Observed. </a:t>
            </a:r>
          </a:p>
          <a:p>
            <a:pPr algn="l"/>
            <a:r>
              <a:rPr lang="en-US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JIN CQA &amp; Plant QA will plan for the Validation Activities at Omega by 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r>
              <a:rPr lang="en-US" altLang="en-US" sz="1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Sep’26</a:t>
            </a:r>
          </a:p>
        </p:txBody>
      </p:sp>
    </p:spTree>
    <p:extLst>
      <p:ext uri="{BB962C8B-B14F-4D97-AF65-F5344CB8AC3E}">
        <p14:creationId xmlns:p14="http://schemas.microsoft.com/office/powerpoint/2010/main" val="357212341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1745B76-B9B4-49CF-B3A2-A5C3342E93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028185"/>
              </p:ext>
            </p:extLst>
          </p:nvPr>
        </p:nvGraphicFramePr>
        <p:xfrm>
          <a:off x="127284" y="721972"/>
          <a:ext cx="8804376" cy="472325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63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8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13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502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S.N.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7" marR="1377" marT="1377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Ideal</a:t>
                      </a:r>
                      <a:r>
                        <a:rPr lang="en-IN" sz="1400" b="1" u="none" strike="noStrike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Condition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7" marR="1377" marT="1377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 Condition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7" marR="1377" marT="1377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Factors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7" marR="1377" marT="1377" marB="0"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6060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1377"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8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Start of Machine </a:t>
                      </a:r>
                      <a:endParaRPr lang="en-US" sz="12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Follow as per</a:t>
                      </a:r>
                      <a:r>
                        <a:rPr lang="en-IN" sz="12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the Work Instruction</a:t>
                      </a:r>
                      <a:endParaRPr lang="en-IN" sz="12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83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A2D44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Non-Significant</a:t>
                      </a:r>
                    </a:p>
                  </a:txBody>
                  <a:tcPr marR="1377" marT="137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62619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6060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1377"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Machine parameter setting </a:t>
                      </a:r>
                      <a:endParaRPr lang="en-US" sz="12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Follow as per</a:t>
                      </a:r>
                      <a:r>
                        <a:rPr lang="en-IN" sz="12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the Work Instruction and PCS</a:t>
                      </a:r>
                      <a:endParaRPr lang="en-IN" sz="12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83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A2D44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Non-Significant</a:t>
                      </a:r>
                    </a:p>
                  </a:txBody>
                  <a:tcPr marR="1377" marT="137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947975"/>
                  </a:ext>
                </a:extLst>
              </a:tr>
              <a:tr h="37648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6060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1377"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 Loading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endParaRPr lang="en-IN" altLang="en-US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Follow as per</a:t>
                      </a:r>
                      <a:r>
                        <a:rPr lang="en-IN" sz="12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the Work Instruction</a:t>
                      </a:r>
                      <a:endParaRPr lang="en-IN" sz="12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83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A2D44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Non-Significant</a:t>
                      </a:r>
                    </a:p>
                  </a:txBody>
                  <a:tcPr marR="1377" marT="137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7145857"/>
                  </a:ext>
                </a:extLst>
              </a:tr>
              <a:tr h="41560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6060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1377"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Start the process </a:t>
                      </a:r>
                      <a:endParaRPr lang="en-US" sz="12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Follow as per</a:t>
                      </a:r>
                      <a:r>
                        <a:rPr lang="en-IN" sz="12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the Work Instruction</a:t>
                      </a:r>
                      <a:endParaRPr lang="en-IN" sz="12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83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A2D44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Non-Significant</a:t>
                      </a:r>
                    </a:p>
                  </a:txBody>
                  <a:tcPr marR="1377" marT="137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557327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lvl="0" indent="0" algn="ctr" defTabSz="4571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1377"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 Unloading</a:t>
                      </a:r>
                      <a:endParaRPr lang="en-IN" altLang="en-US" sz="12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Follow as per</a:t>
                      </a:r>
                      <a:r>
                        <a:rPr lang="en-IN" sz="12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the Work Instruction</a:t>
                      </a:r>
                      <a:endParaRPr lang="en-IN" sz="12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83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A2D44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Non-Significant</a:t>
                      </a:r>
                    </a:p>
                  </a:txBody>
                  <a:tcPr marR="1377" marT="137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9011881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marR="0" lvl="0" indent="0" algn="ctr" defTabSz="4571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1377"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Visual Inspection at MPI</a:t>
                      </a:r>
                      <a:endParaRPr lang="en-IN" altLang="en-US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en-US" sz="12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During inspection, hold the part at an angle of approximately 45 degrees and rotate it twice in both the forward and backward directions.  </a:t>
                      </a:r>
                    </a:p>
                  </a:txBody>
                  <a:tcPr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83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A2D44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34283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A2D44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Non-Significant</a:t>
                      </a:r>
                    </a:p>
                    <a:p>
                      <a:pPr marL="0" marR="0" lvl="0" indent="0" algn="l" defTabSz="34283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377" marT="137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1011006"/>
                  </a:ext>
                </a:extLst>
              </a:tr>
              <a:tr h="4580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6060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sz="1200" b="0" i="0" u="none" strike="noStrike" dirty="0">
                        <a:solidFill>
                          <a:srgbClr val="06060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7"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8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Demagnetization and sent to 100% Gauging </a:t>
                      </a:r>
                      <a:endParaRPr lang="en-IN" altLang="en-US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Follow as per</a:t>
                      </a:r>
                      <a:r>
                        <a:rPr lang="en-IN" sz="12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the Work Instruction and PCS</a:t>
                      </a:r>
                      <a:endParaRPr lang="en-IN" sz="12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83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A2D44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Non-Significant</a:t>
                      </a:r>
                    </a:p>
                  </a:txBody>
                  <a:tcPr marR="1377" marT="137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8649044"/>
                  </a:ext>
                </a:extLst>
              </a:tr>
              <a:tr h="77356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6060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1377"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8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Operator Concentration and Attention</a:t>
                      </a:r>
                      <a:endParaRPr lang="en-IN" altLang="en-US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❶ </a:t>
                      </a:r>
                      <a:r>
                        <a:rPr lang="en-IN" sz="1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Operator fatigue observed due to continues inspection under UV light for complete shift </a:t>
                      </a:r>
                    </a:p>
                    <a:p>
                      <a:pPr marL="0" marR="0" lvl="0" indent="0" algn="l" defTabSz="4571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(shift is of 11</a:t>
                      </a:r>
                      <a:r>
                        <a:rPr lang="en-IN" sz="1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working hours)</a:t>
                      </a:r>
                      <a:endParaRPr lang="en-IN" sz="14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83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Significant</a:t>
                      </a:r>
                    </a:p>
                  </a:txBody>
                  <a:tcPr marR="1377" marT="137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840968"/>
                  </a:ext>
                </a:extLst>
              </a:tr>
              <a:tr h="60234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6060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sz="1200" b="0" i="0" u="none" strike="noStrike" dirty="0">
                        <a:solidFill>
                          <a:srgbClr val="06060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7"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Visual Inspection at Final Stage</a:t>
                      </a:r>
                      <a:endParaRPr lang="en-IN" altLang="en-US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❷ 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Only general guidelines for inspection available. Part specific guidelines considering</a:t>
                      </a:r>
                      <a:r>
                        <a:rPr lang="en-US" sz="12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sequential check points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for inspection</a:t>
                      </a:r>
                      <a:r>
                        <a:rPr lang="en-US" sz="12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at Final inspection stage.</a:t>
                      </a:r>
                      <a:endParaRPr lang="en-IN" sz="12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83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Significant</a:t>
                      </a:r>
                    </a:p>
                    <a:p>
                      <a:pPr marL="0" marR="0" lvl="0" indent="0" algn="l" defTabSz="34283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377" marT="137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8620849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F0112524-1182-42A2-BE13-7F85D3725473}"/>
              </a:ext>
            </a:extLst>
          </p:cNvPr>
          <p:cNvSpPr txBox="1">
            <a:spLocks/>
          </p:cNvSpPr>
          <p:nvPr/>
        </p:nvSpPr>
        <p:spPr>
          <a:xfrm>
            <a:off x="2339752" y="109668"/>
            <a:ext cx="4896544" cy="612304"/>
          </a:xfrm>
          <a:prstGeom prst="rect">
            <a:avLst/>
          </a:prstGeom>
        </p:spPr>
        <p:txBody>
          <a:bodyPr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sz="1800" kern="0" dirty="0">
                <a:latin typeface="Calibri" panose="020F0502020204030204" pitchFamily="34" charset="0"/>
                <a:cs typeface="Calibri" panose="020F0502020204030204" pitchFamily="34" charset="0"/>
              </a:rPr>
              <a:t>Process verification of MPI  </a:t>
            </a:r>
          </a:p>
          <a:p>
            <a:r>
              <a:rPr lang="en-US" sz="1800" kern="0" dirty="0">
                <a:latin typeface="Calibri" panose="020F0502020204030204" pitchFamily="34" charset="0"/>
                <a:cs typeface="Calibri" panose="020F0502020204030204" pitchFamily="34" charset="0"/>
              </a:rPr>
              <a:t>- Why out flow from Dynamic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7284" y="5445224"/>
            <a:ext cx="88043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u="sng" dirty="0"/>
              <a:t>Action Planned.</a:t>
            </a:r>
          </a:p>
          <a:p>
            <a:pPr algn="l"/>
            <a:endParaRPr lang="en-US" u="sng" dirty="0"/>
          </a:p>
          <a:p>
            <a:pPr algn="l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❶ </a:t>
            </a:r>
            <a:r>
              <a:rPr lang="en-US" b="0" dirty="0"/>
              <a:t>MPI operator to be changed / rotated every 04 hours  -  10.09.26 (Started)</a:t>
            </a:r>
          </a:p>
          <a:p>
            <a:pPr algn="l"/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❷ </a:t>
            </a:r>
            <a:r>
              <a:rPr lang="en-US" b="0" dirty="0"/>
              <a:t>Final inspection guidelines to be changed for specific crack identification - 12.09.26  (Started)</a:t>
            </a:r>
            <a:endParaRPr lang="en-IN" b="0" dirty="0"/>
          </a:p>
        </p:txBody>
      </p:sp>
      <p:sp>
        <p:nvSpPr>
          <p:cNvPr id="5" name="Rectangle 40"/>
          <p:cNvSpPr>
            <a:spLocks noChangeArrowheads="1"/>
          </p:cNvSpPr>
          <p:nvPr/>
        </p:nvSpPr>
        <p:spPr bwMode="auto">
          <a:xfrm>
            <a:off x="35496" y="260648"/>
            <a:ext cx="515684" cy="339196"/>
          </a:xfrm>
          <a:prstGeom prst="rect">
            <a:avLst/>
          </a:prstGeom>
          <a:gradFill rotWithShape="0">
            <a:gsLst>
              <a:gs pos="0">
                <a:srgbClr val="3366CC">
                  <a:gamma/>
                  <a:shade val="9020"/>
                  <a:invGamma/>
                </a:srgbClr>
              </a:gs>
              <a:gs pos="50000">
                <a:srgbClr val="3366CC"/>
              </a:gs>
              <a:gs pos="100000">
                <a:srgbClr val="3366CC">
                  <a:gamma/>
                  <a:shade val="9020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pPr algn="l" eaLnBrk="1" hangingPunct="1"/>
            <a:r>
              <a:rPr lang="en-US" altLang="ko-KR" dirty="0">
                <a:solidFill>
                  <a:schemeClr val="bg1"/>
                </a:solidFill>
                <a:ea typeface="HY견고딕" pitchFamily="18" charset="-127"/>
                <a:cs typeface="Times New Roman" panose="02020603050405020304" pitchFamily="18" charset="0"/>
              </a:rPr>
              <a:t>6</a:t>
            </a:r>
            <a:r>
              <a:rPr kumimoji="1" lang="en-US" altLang="ko-KR" b="1" dirty="0">
                <a:solidFill>
                  <a:schemeClr val="bg1"/>
                </a:solidFill>
                <a:ea typeface="HY견고딕" pitchFamily="18" charset="-127"/>
                <a:cs typeface="Times New Roman" panose="02020603050405020304" pitchFamily="18" charset="0"/>
              </a:rPr>
              <a:t>.2</a:t>
            </a:r>
          </a:p>
        </p:txBody>
      </p:sp>
      <p:sp>
        <p:nvSpPr>
          <p:cNvPr id="6" name="Rectangle 32"/>
          <p:cNvSpPr>
            <a:spLocks noChangeArrowheads="1"/>
          </p:cNvSpPr>
          <p:nvPr/>
        </p:nvSpPr>
        <p:spPr bwMode="auto">
          <a:xfrm>
            <a:off x="406971" y="260648"/>
            <a:ext cx="1716757" cy="339196"/>
          </a:xfrm>
          <a:prstGeom prst="rect">
            <a:avLst/>
          </a:prstGeom>
          <a:gradFill rotWithShape="0">
            <a:gsLst>
              <a:gs pos="0">
                <a:srgbClr val="99CCFF"/>
              </a:gs>
              <a:gs pos="100000">
                <a:srgbClr val="99CCFF">
                  <a:gamma/>
                  <a:tint val="12157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pPr algn="l" eaLnBrk="1" hangingPunct="1"/>
            <a:r>
              <a:rPr lang="en-US" altLang="ko-KR" dirty="0">
                <a:ea typeface="HY견고딕" pitchFamily="18" charset="-127"/>
                <a:cs typeface="Times New Roman" panose="02020603050405020304" pitchFamily="18" charset="0"/>
              </a:rPr>
              <a:t>ANALYSIS </a:t>
            </a:r>
            <a:endParaRPr kumimoji="1" lang="en-US" altLang="ko-KR" b="1" dirty="0">
              <a:ea typeface="HY견고딕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635960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0"/>
          <p:cNvSpPr>
            <a:spLocks noChangeArrowheads="1"/>
          </p:cNvSpPr>
          <p:nvPr/>
        </p:nvSpPr>
        <p:spPr bwMode="auto">
          <a:xfrm>
            <a:off x="35496" y="260648"/>
            <a:ext cx="515684" cy="339196"/>
          </a:xfrm>
          <a:prstGeom prst="rect">
            <a:avLst/>
          </a:prstGeom>
          <a:gradFill rotWithShape="0">
            <a:gsLst>
              <a:gs pos="0">
                <a:srgbClr val="3366CC">
                  <a:gamma/>
                  <a:shade val="9020"/>
                  <a:invGamma/>
                </a:srgbClr>
              </a:gs>
              <a:gs pos="50000">
                <a:srgbClr val="3366CC"/>
              </a:gs>
              <a:gs pos="100000">
                <a:srgbClr val="3366CC">
                  <a:gamma/>
                  <a:shade val="9020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pPr algn="l" eaLnBrk="1" hangingPunct="1"/>
            <a:r>
              <a:rPr lang="en-US" altLang="ko-KR" dirty="0">
                <a:solidFill>
                  <a:schemeClr val="bg1"/>
                </a:solidFill>
                <a:ea typeface="HY견고딕" pitchFamily="18" charset="-127"/>
                <a:cs typeface="Times New Roman" panose="02020603050405020304" pitchFamily="18" charset="0"/>
              </a:rPr>
              <a:t>6</a:t>
            </a:r>
            <a:r>
              <a:rPr kumimoji="1" lang="en-US" altLang="ko-KR" b="1" dirty="0">
                <a:solidFill>
                  <a:schemeClr val="bg1"/>
                </a:solidFill>
                <a:ea typeface="HY견고딕" pitchFamily="18" charset="-127"/>
                <a:cs typeface="Times New Roman" panose="02020603050405020304" pitchFamily="18" charset="0"/>
              </a:rPr>
              <a:t>.3</a:t>
            </a:r>
          </a:p>
        </p:txBody>
      </p:sp>
      <p:sp>
        <p:nvSpPr>
          <p:cNvPr id="5" name="Rectangle 32"/>
          <p:cNvSpPr>
            <a:spLocks noChangeArrowheads="1"/>
          </p:cNvSpPr>
          <p:nvPr/>
        </p:nvSpPr>
        <p:spPr bwMode="auto">
          <a:xfrm>
            <a:off x="406971" y="260648"/>
            <a:ext cx="2972893" cy="339196"/>
          </a:xfrm>
          <a:prstGeom prst="rect">
            <a:avLst/>
          </a:prstGeom>
          <a:gradFill rotWithShape="0">
            <a:gsLst>
              <a:gs pos="0">
                <a:srgbClr val="99CCFF"/>
              </a:gs>
              <a:gs pos="100000">
                <a:srgbClr val="99CCFF">
                  <a:gamma/>
                  <a:tint val="12157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pPr algn="l" eaLnBrk="1" hangingPunct="1"/>
            <a:r>
              <a:rPr lang="en-US" altLang="ko-KR" dirty="0">
                <a:ea typeface="HY견고딕" pitchFamily="18" charset="-127"/>
                <a:cs typeface="Times New Roman" panose="02020603050405020304" pitchFamily="18" charset="0"/>
              </a:rPr>
              <a:t>ACTIVITY PLAN &amp; STATUS </a:t>
            </a:r>
            <a:endParaRPr kumimoji="1" lang="en-US" altLang="ko-KR" b="1" dirty="0">
              <a:ea typeface="HY견고딕" pitchFamily="18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660071"/>
              </p:ext>
            </p:extLst>
          </p:nvPr>
        </p:nvGraphicFramePr>
        <p:xfrm>
          <a:off x="112545" y="801853"/>
          <a:ext cx="8851943" cy="5363453"/>
        </p:xfrm>
        <a:graphic>
          <a:graphicData uri="http://schemas.openxmlformats.org/drawingml/2006/table">
            <a:tbl>
              <a:tblPr/>
              <a:tblGrid>
                <a:gridCol w="490497">
                  <a:extLst>
                    <a:ext uri="{9D8B030D-6E8A-4147-A177-3AD203B41FA5}">
                      <a16:colId xmlns:a16="http://schemas.microsoft.com/office/drawing/2014/main" val="664756471"/>
                    </a:ext>
                  </a:extLst>
                </a:gridCol>
                <a:gridCol w="2820359">
                  <a:extLst>
                    <a:ext uri="{9D8B030D-6E8A-4147-A177-3AD203B41FA5}">
                      <a16:colId xmlns:a16="http://schemas.microsoft.com/office/drawing/2014/main" val="3273885059"/>
                    </a:ext>
                  </a:extLst>
                </a:gridCol>
                <a:gridCol w="2069285">
                  <a:extLst>
                    <a:ext uri="{9D8B030D-6E8A-4147-A177-3AD203B41FA5}">
                      <a16:colId xmlns:a16="http://schemas.microsoft.com/office/drawing/2014/main" val="1707117975"/>
                    </a:ext>
                  </a:extLst>
                </a:gridCol>
                <a:gridCol w="843043">
                  <a:extLst>
                    <a:ext uri="{9D8B030D-6E8A-4147-A177-3AD203B41FA5}">
                      <a16:colId xmlns:a16="http://schemas.microsoft.com/office/drawing/2014/main" val="2514487004"/>
                    </a:ext>
                  </a:extLst>
                </a:gridCol>
                <a:gridCol w="843043">
                  <a:extLst>
                    <a:ext uri="{9D8B030D-6E8A-4147-A177-3AD203B41FA5}">
                      <a16:colId xmlns:a16="http://schemas.microsoft.com/office/drawing/2014/main" val="526842810"/>
                    </a:ext>
                  </a:extLst>
                </a:gridCol>
                <a:gridCol w="1785716">
                  <a:extLst>
                    <a:ext uri="{9D8B030D-6E8A-4147-A177-3AD203B41FA5}">
                      <a16:colId xmlns:a16="http://schemas.microsoft.com/office/drawing/2014/main" val="4035869691"/>
                    </a:ext>
                  </a:extLst>
                </a:gridCol>
              </a:tblGrid>
              <a:tr h="332954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ACTIVITY</a:t>
                      </a:r>
                      <a:r>
                        <a:rPr lang="en-US" sz="20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PLAN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5" marR="6815" marT="681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014441"/>
                  </a:ext>
                </a:extLst>
              </a:tr>
              <a:tr h="2660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S.No</a:t>
                      </a:r>
                    </a:p>
                  </a:txBody>
                  <a:tcPr marL="6815" marR="6815" marT="681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Activity Defined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Resp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T.Date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065987"/>
                  </a:ext>
                </a:extLst>
              </a:tr>
              <a:tr h="3325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815" marR="6815" marT="681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Dynamic is doing 200% MPI for crack detection 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Ravi Bajwa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08.09.26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Started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7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Still no</a:t>
                      </a:r>
                      <a:r>
                        <a:rPr lang="en-US" sz="1100" b="0" i="0" u="none" strike="noStrike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no NG observed</a:t>
                      </a:r>
                      <a:endParaRPr lang="en-US" sz="1100" b="0" i="0" u="none" strike="noStrike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2091305"/>
                  </a:ext>
                </a:extLst>
              </a:tr>
              <a:tr h="3876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815" marR="6815" marT="681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 JIN Bawal Receiving stage, 100% confirmation visually with magnifying glass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Naresh Gauba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08.09.26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Started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D2D8A">
                              <a:lumMod val="60000"/>
                              <a:lumOff val="40000"/>
                            </a:srgb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ＭＳ Ｐゴシック"/>
                          <a:cs typeface="+mn-cs"/>
                        </a:rPr>
                        <a:t>Still no no NG observed</a:t>
                      </a:r>
                      <a:endParaRPr kumimoji="1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D2D8A">
                            <a:lumMod val="60000"/>
                            <a:lumOff val="40000"/>
                          </a:srgbClr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ＭＳ Ｐゴシック"/>
                        <a:cs typeface="+mn-cs"/>
                      </a:endParaRP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8839174"/>
                  </a:ext>
                </a:extLst>
              </a:tr>
              <a:tr h="36552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815" marR="6815" marT="681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After Whirling process, 100% visual confirmation with magnifying glass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Rakesh Nain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08.09.26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Started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D2D8A">
                              <a:lumMod val="60000"/>
                              <a:lumOff val="40000"/>
                            </a:srgb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ＭＳ Ｐゴシック"/>
                          <a:cs typeface="+mn-cs"/>
                        </a:rPr>
                        <a:t>Still no </a:t>
                      </a:r>
                      <a:r>
                        <a:rPr kumimoji="1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D2D8A">
                              <a:lumMod val="60000"/>
                              <a:lumOff val="40000"/>
                            </a:srgb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ＭＳ Ｐゴシック"/>
                          <a:cs typeface="+mn-cs"/>
                        </a:rPr>
                        <a:t>no</a:t>
                      </a:r>
                      <a:r>
                        <a:rPr kumimoji="1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D2D8A">
                              <a:lumMod val="60000"/>
                              <a:lumOff val="40000"/>
                            </a:srgb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ＭＳ Ｐゴシック"/>
                          <a:cs typeface="+mn-cs"/>
                        </a:rPr>
                        <a:t> NG observed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5035168"/>
                  </a:ext>
                </a:extLst>
              </a:tr>
              <a:tr h="5446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815" marR="6815" marT="681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Assemble NG worm shaft in C-EPS and performance results to be confirmed(Comparison of Ok &amp; NG Assy)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Rakesh Nain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09.09.26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Done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7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Performance results observed OK on production line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9137620"/>
                  </a:ext>
                </a:extLst>
              </a:tr>
              <a:tr h="36552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815" marR="6815" marT="681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Comparison of Micro-structure And Hardness Inspection of Ok &amp; NG Part at JIN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Naresh Gauba &amp; Yogesh San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12.09.26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Done 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7A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kumimoji="1" lang="en-US" altLang="en-US" sz="1100" b="0" i="0" u="none" strike="noStrike" kern="120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Structure Observed-Tempered Martensite . - RM Level issue not suspected*</a:t>
                      </a:r>
                      <a:endParaRPr lang="en-US" sz="1100" b="0" i="0" u="none" strike="noStrike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1716883"/>
                  </a:ext>
                </a:extLst>
              </a:tr>
              <a:tr h="4633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815" marR="6815" marT="681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Comparison of Micro-structure And Hardness Inspection of Ok &amp; NG Part at Omega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Omega+Dynamic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12.09.26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Done 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7A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7282391"/>
                  </a:ext>
                </a:extLst>
              </a:tr>
              <a:tr h="5446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815" marR="6815" marT="681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CEPS assembly with one crack worm shaft send to JIN TC for reducer durability testing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Kamal San/Praveen San-JIN</a:t>
                      </a:r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GGN LAB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Oct’26</a:t>
                      </a:r>
                    </a:p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</a:t>
                      </a:r>
                      <a:r>
                        <a:rPr lang="en-US" sz="11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Week)</a:t>
                      </a:r>
                    </a:p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Started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baseline="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8604250"/>
                  </a:ext>
                </a:extLst>
              </a:tr>
              <a:tr h="723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815" marR="6815" marT="681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Investigation</a:t>
                      </a:r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Report to be Received from Mukand of the NG Part. </a:t>
                      </a:r>
                    </a:p>
                    <a:p>
                      <a:pPr algn="l" fontAlgn="ctr"/>
                      <a:r>
                        <a:rPr lang="en-US" sz="1100" b="0" i="0" u="none" strike="noStrike" baseline="0" dirty="0">
                          <a:solidFill>
                            <a:srgbClr val="290BDF"/>
                          </a:solidFill>
                          <a:effectLst/>
                          <a:latin typeface="Calibri" panose="020F0502020204030204" pitchFamily="34" charset="0"/>
                        </a:rPr>
                        <a:t>(As per Action plan, Mukand is proceeding for the testing)</a:t>
                      </a:r>
                      <a:endParaRPr lang="en-US" sz="1100" b="0" i="0" u="none" strike="noStrike" dirty="0">
                        <a:solidFill>
                          <a:srgbClr val="290BD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Omega/Dynamic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24.09.26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baseline="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7395492"/>
                  </a:ext>
                </a:extLst>
              </a:tr>
              <a:tr h="5183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</a:t>
                      </a:r>
                    </a:p>
                  </a:txBody>
                  <a:tcPr marL="6815" marR="6815" marT="681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 activities to be done based on FTA at Omega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Yogesh-CQA/Naresh Gauba-QA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24.09.26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baseline="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2518006"/>
                  </a:ext>
                </a:extLst>
              </a:tr>
              <a:tr h="5183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815" marR="6815" marT="681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Outflow</a:t>
                      </a:r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Root Cause and Permanent Actions to be Shared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Dynamic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25.09.26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baseline="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1303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841741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0"/>
          <p:cNvSpPr>
            <a:spLocks noChangeArrowheads="1"/>
          </p:cNvSpPr>
          <p:nvPr/>
        </p:nvSpPr>
        <p:spPr bwMode="auto">
          <a:xfrm>
            <a:off x="35496" y="260648"/>
            <a:ext cx="515684" cy="339196"/>
          </a:xfrm>
          <a:prstGeom prst="rect">
            <a:avLst/>
          </a:prstGeom>
          <a:gradFill rotWithShape="0">
            <a:gsLst>
              <a:gs pos="0">
                <a:srgbClr val="3366CC">
                  <a:gamma/>
                  <a:shade val="9020"/>
                  <a:invGamma/>
                </a:srgbClr>
              </a:gs>
              <a:gs pos="50000">
                <a:srgbClr val="3366CC"/>
              </a:gs>
              <a:gs pos="100000">
                <a:srgbClr val="3366CC">
                  <a:gamma/>
                  <a:shade val="9020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pPr algn="l" eaLnBrk="1" hangingPunct="1"/>
            <a:r>
              <a:rPr kumimoji="1" lang="en-US" altLang="ko-KR" b="1" dirty="0">
                <a:solidFill>
                  <a:schemeClr val="bg1"/>
                </a:solidFill>
                <a:ea typeface="HY견고딕" pitchFamily="18" charset="-127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5" name="Rectangle 32"/>
          <p:cNvSpPr>
            <a:spLocks noChangeArrowheads="1"/>
          </p:cNvSpPr>
          <p:nvPr/>
        </p:nvSpPr>
        <p:spPr bwMode="auto">
          <a:xfrm>
            <a:off x="406971" y="260648"/>
            <a:ext cx="4309045" cy="339196"/>
          </a:xfrm>
          <a:prstGeom prst="rect">
            <a:avLst/>
          </a:prstGeom>
          <a:gradFill rotWithShape="0">
            <a:gsLst>
              <a:gs pos="0">
                <a:srgbClr val="99CCFF"/>
              </a:gs>
              <a:gs pos="100000">
                <a:srgbClr val="99CCFF">
                  <a:gamma/>
                  <a:tint val="12157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pPr algn="l" eaLnBrk="1" hangingPunct="1"/>
            <a:r>
              <a:rPr lang="en-US" altLang="ko-KR" dirty="0">
                <a:ea typeface="HY견고딕" pitchFamily="18" charset="-127"/>
                <a:cs typeface="Times New Roman" panose="02020603050405020304" pitchFamily="18" charset="0"/>
              </a:rPr>
              <a:t>Challenges being faced during analysis</a:t>
            </a:r>
            <a:endParaRPr kumimoji="1" lang="en-US" altLang="ko-KR" b="1" dirty="0">
              <a:ea typeface="HY견고딕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7504" y="1025441"/>
            <a:ext cx="89289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/>
              <a:t>1.  Both Raw material supplier XXXX &amp; Heat treatment supplier XXX</a:t>
            </a:r>
          </a:p>
          <a:p>
            <a:pPr algn="l"/>
            <a:r>
              <a:rPr lang="en-US" sz="1800" dirty="0"/>
              <a:t>     not ready to accept the defect occurrence at their end</a:t>
            </a:r>
          </a:p>
          <a:p>
            <a:pPr algn="l"/>
            <a:r>
              <a:rPr lang="en-US" sz="1800" dirty="0"/>
              <a:t>     (as per expert – this defect can be occurred during heat treatment (at XXX)</a:t>
            </a:r>
          </a:p>
          <a:p>
            <a:pPr algn="l"/>
            <a:endParaRPr lang="en-US" sz="1800" dirty="0"/>
          </a:p>
          <a:p>
            <a:pPr marL="342900" indent="-342900" algn="l">
              <a:buAutoNum type="arabicPeriod" startAt="2"/>
            </a:pPr>
            <a:r>
              <a:rPr lang="en-US" sz="1800" dirty="0"/>
              <a:t>Facing difficulty in coordinating with all the 03 suppliers for analysis.</a:t>
            </a:r>
          </a:p>
          <a:p>
            <a:pPr algn="l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98226332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EB51F-D199-4F74-BEEA-DB695BCA13E1}" type="slidenum">
              <a:rPr lang="en-IN" smtClean="0"/>
              <a:t>14</a:t>
            </a:fld>
            <a:endParaRPr lang="en-IN" dirty="0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E1930303-5EDF-40F0-B797-EA42281FFD81}"/>
              </a:ext>
            </a:extLst>
          </p:cNvPr>
          <p:cNvSpPr/>
          <p:nvPr/>
        </p:nvSpPr>
        <p:spPr>
          <a:xfrm>
            <a:off x="9726216" y="8721329"/>
            <a:ext cx="89297" cy="84534"/>
          </a:xfrm>
          <a:prstGeom prst="triangle">
            <a:avLst/>
          </a:prstGeom>
          <a:noFill/>
          <a:ln w="12700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825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E1930303-5EDF-40F0-B797-EA42281FFD81}"/>
              </a:ext>
            </a:extLst>
          </p:cNvPr>
          <p:cNvSpPr/>
          <p:nvPr/>
        </p:nvSpPr>
        <p:spPr>
          <a:xfrm>
            <a:off x="9734550" y="9654779"/>
            <a:ext cx="89297" cy="83344"/>
          </a:xfrm>
          <a:prstGeom prst="triangle">
            <a:avLst/>
          </a:prstGeom>
          <a:noFill/>
          <a:ln w="12700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825"/>
          </a:p>
        </p:txBody>
      </p:sp>
      <p:sp>
        <p:nvSpPr>
          <p:cNvPr id="3" name="TextBox 2"/>
          <p:cNvSpPr txBox="1"/>
          <p:nvPr/>
        </p:nvSpPr>
        <p:spPr>
          <a:xfrm>
            <a:off x="2123728" y="2996952"/>
            <a:ext cx="43204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290BDF"/>
                </a:solidFill>
              </a:rPr>
              <a:t>Thank You</a:t>
            </a:r>
            <a:endParaRPr lang="en-IN" sz="4400" dirty="0">
              <a:solidFill>
                <a:srgbClr val="290BD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4399608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0"/>
          <p:cNvSpPr>
            <a:spLocks noChangeArrowheads="1"/>
          </p:cNvSpPr>
          <p:nvPr/>
        </p:nvSpPr>
        <p:spPr bwMode="auto">
          <a:xfrm>
            <a:off x="35496" y="260648"/>
            <a:ext cx="515684" cy="339196"/>
          </a:xfrm>
          <a:prstGeom prst="rect">
            <a:avLst/>
          </a:prstGeom>
          <a:gradFill rotWithShape="0">
            <a:gsLst>
              <a:gs pos="0">
                <a:srgbClr val="3366CC">
                  <a:gamma/>
                  <a:shade val="9020"/>
                  <a:invGamma/>
                </a:srgbClr>
              </a:gs>
              <a:gs pos="50000">
                <a:srgbClr val="3366CC"/>
              </a:gs>
              <a:gs pos="100000">
                <a:srgbClr val="3366CC">
                  <a:gamma/>
                  <a:shade val="9020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pPr algn="l" eaLnBrk="1" hangingPunct="1"/>
            <a:endParaRPr kumimoji="1" lang="en-US" altLang="ko-KR" b="1" dirty="0">
              <a:solidFill>
                <a:schemeClr val="bg1"/>
              </a:solidFill>
              <a:ea typeface="HY견고딕" pitchFamily="18" charset="-127"/>
              <a:cs typeface="Times New Roman" panose="02020603050405020304" pitchFamily="18" charset="0"/>
            </a:endParaRPr>
          </a:p>
        </p:txBody>
      </p:sp>
      <p:sp>
        <p:nvSpPr>
          <p:cNvPr id="5" name="Rectangle 32"/>
          <p:cNvSpPr>
            <a:spLocks noChangeArrowheads="1"/>
          </p:cNvSpPr>
          <p:nvPr/>
        </p:nvSpPr>
        <p:spPr bwMode="auto">
          <a:xfrm>
            <a:off x="406971" y="260648"/>
            <a:ext cx="2972893" cy="339196"/>
          </a:xfrm>
          <a:prstGeom prst="rect">
            <a:avLst/>
          </a:prstGeom>
          <a:gradFill rotWithShape="0">
            <a:gsLst>
              <a:gs pos="0">
                <a:srgbClr val="99CCFF"/>
              </a:gs>
              <a:gs pos="100000">
                <a:srgbClr val="99CCFF">
                  <a:gamma/>
                  <a:tint val="12157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pPr algn="l" eaLnBrk="1" hangingPunct="1"/>
            <a:r>
              <a:rPr lang="en-US" altLang="ko-KR" dirty="0">
                <a:ea typeface="HY견고딕" pitchFamily="18" charset="-127"/>
                <a:cs typeface="Times New Roman" panose="02020603050405020304" pitchFamily="18" charset="0"/>
              </a:rPr>
              <a:t>Suspected Quantity</a:t>
            </a:r>
            <a:endParaRPr kumimoji="1" lang="en-US" altLang="ko-KR" b="1" dirty="0">
              <a:ea typeface="HY견고딕" pitchFamily="18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238886"/>
              </p:ext>
            </p:extLst>
          </p:nvPr>
        </p:nvGraphicFramePr>
        <p:xfrm>
          <a:off x="179512" y="836712"/>
          <a:ext cx="8784976" cy="5616628"/>
        </p:xfrm>
        <a:graphic>
          <a:graphicData uri="http://schemas.openxmlformats.org/drawingml/2006/table">
            <a:tbl>
              <a:tblPr/>
              <a:tblGrid>
                <a:gridCol w="429451">
                  <a:extLst>
                    <a:ext uri="{9D8B030D-6E8A-4147-A177-3AD203B41FA5}">
                      <a16:colId xmlns:a16="http://schemas.microsoft.com/office/drawing/2014/main" val="2928844828"/>
                    </a:ext>
                  </a:extLst>
                </a:gridCol>
                <a:gridCol w="370403">
                  <a:extLst>
                    <a:ext uri="{9D8B030D-6E8A-4147-A177-3AD203B41FA5}">
                      <a16:colId xmlns:a16="http://schemas.microsoft.com/office/drawing/2014/main" val="186501804"/>
                    </a:ext>
                  </a:extLst>
                </a:gridCol>
                <a:gridCol w="332826">
                  <a:extLst>
                    <a:ext uri="{9D8B030D-6E8A-4147-A177-3AD203B41FA5}">
                      <a16:colId xmlns:a16="http://schemas.microsoft.com/office/drawing/2014/main" val="2315277142"/>
                    </a:ext>
                  </a:extLst>
                </a:gridCol>
                <a:gridCol w="332826">
                  <a:extLst>
                    <a:ext uri="{9D8B030D-6E8A-4147-A177-3AD203B41FA5}">
                      <a16:colId xmlns:a16="http://schemas.microsoft.com/office/drawing/2014/main" val="248771155"/>
                    </a:ext>
                  </a:extLst>
                </a:gridCol>
                <a:gridCol w="445557">
                  <a:extLst>
                    <a:ext uri="{9D8B030D-6E8A-4147-A177-3AD203B41FA5}">
                      <a16:colId xmlns:a16="http://schemas.microsoft.com/office/drawing/2014/main" val="2032489529"/>
                    </a:ext>
                  </a:extLst>
                </a:gridCol>
                <a:gridCol w="445557">
                  <a:extLst>
                    <a:ext uri="{9D8B030D-6E8A-4147-A177-3AD203B41FA5}">
                      <a16:colId xmlns:a16="http://schemas.microsoft.com/office/drawing/2014/main" val="3874813850"/>
                    </a:ext>
                  </a:extLst>
                </a:gridCol>
                <a:gridCol w="381139">
                  <a:extLst>
                    <a:ext uri="{9D8B030D-6E8A-4147-A177-3AD203B41FA5}">
                      <a16:colId xmlns:a16="http://schemas.microsoft.com/office/drawing/2014/main" val="4255395763"/>
                    </a:ext>
                  </a:extLst>
                </a:gridCol>
                <a:gridCol w="332826">
                  <a:extLst>
                    <a:ext uri="{9D8B030D-6E8A-4147-A177-3AD203B41FA5}">
                      <a16:colId xmlns:a16="http://schemas.microsoft.com/office/drawing/2014/main" val="1422174686"/>
                    </a:ext>
                  </a:extLst>
                </a:gridCol>
                <a:gridCol w="386507">
                  <a:extLst>
                    <a:ext uri="{9D8B030D-6E8A-4147-A177-3AD203B41FA5}">
                      <a16:colId xmlns:a16="http://schemas.microsoft.com/office/drawing/2014/main" val="1396568076"/>
                    </a:ext>
                  </a:extLst>
                </a:gridCol>
                <a:gridCol w="386507">
                  <a:extLst>
                    <a:ext uri="{9D8B030D-6E8A-4147-A177-3AD203B41FA5}">
                      <a16:colId xmlns:a16="http://schemas.microsoft.com/office/drawing/2014/main" val="3286691939"/>
                    </a:ext>
                  </a:extLst>
                </a:gridCol>
                <a:gridCol w="354297">
                  <a:extLst>
                    <a:ext uri="{9D8B030D-6E8A-4147-A177-3AD203B41FA5}">
                      <a16:colId xmlns:a16="http://schemas.microsoft.com/office/drawing/2014/main" val="1897712811"/>
                    </a:ext>
                  </a:extLst>
                </a:gridCol>
                <a:gridCol w="354297">
                  <a:extLst>
                    <a:ext uri="{9D8B030D-6E8A-4147-A177-3AD203B41FA5}">
                      <a16:colId xmlns:a16="http://schemas.microsoft.com/office/drawing/2014/main" val="3288795315"/>
                    </a:ext>
                  </a:extLst>
                </a:gridCol>
                <a:gridCol w="354297">
                  <a:extLst>
                    <a:ext uri="{9D8B030D-6E8A-4147-A177-3AD203B41FA5}">
                      <a16:colId xmlns:a16="http://schemas.microsoft.com/office/drawing/2014/main" val="3975940510"/>
                    </a:ext>
                  </a:extLst>
                </a:gridCol>
                <a:gridCol w="354297">
                  <a:extLst>
                    <a:ext uri="{9D8B030D-6E8A-4147-A177-3AD203B41FA5}">
                      <a16:colId xmlns:a16="http://schemas.microsoft.com/office/drawing/2014/main" val="3151045442"/>
                    </a:ext>
                  </a:extLst>
                </a:gridCol>
                <a:gridCol w="520711">
                  <a:extLst>
                    <a:ext uri="{9D8B030D-6E8A-4147-A177-3AD203B41FA5}">
                      <a16:colId xmlns:a16="http://schemas.microsoft.com/office/drawing/2014/main" val="2405626277"/>
                    </a:ext>
                  </a:extLst>
                </a:gridCol>
                <a:gridCol w="520711">
                  <a:extLst>
                    <a:ext uri="{9D8B030D-6E8A-4147-A177-3AD203B41FA5}">
                      <a16:colId xmlns:a16="http://schemas.microsoft.com/office/drawing/2014/main" val="2989307586"/>
                    </a:ext>
                  </a:extLst>
                </a:gridCol>
                <a:gridCol w="520711">
                  <a:extLst>
                    <a:ext uri="{9D8B030D-6E8A-4147-A177-3AD203B41FA5}">
                      <a16:colId xmlns:a16="http://schemas.microsoft.com/office/drawing/2014/main" val="2660074124"/>
                    </a:ext>
                  </a:extLst>
                </a:gridCol>
                <a:gridCol w="579760">
                  <a:extLst>
                    <a:ext uri="{9D8B030D-6E8A-4147-A177-3AD203B41FA5}">
                      <a16:colId xmlns:a16="http://schemas.microsoft.com/office/drawing/2014/main" val="2802234460"/>
                    </a:ext>
                  </a:extLst>
                </a:gridCol>
                <a:gridCol w="383822">
                  <a:extLst>
                    <a:ext uri="{9D8B030D-6E8A-4147-A177-3AD203B41FA5}">
                      <a16:colId xmlns:a16="http://schemas.microsoft.com/office/drawing/2014/main" val="2885311883"/>
                    </a:ext>
                  </a:extLst>
                </a:gridCol>
                <a:gridCol w="582443">
                  <a:extLst>
                    <a:ext uri="{9D8B030D-6E8A-4147-A177-3AD203B41FA5}">
                      <a16:colId xmlns:a16="http://schemas.microsoft.com/office/drawing/2014/main" val="3766463897"/>
                    </a:ext>
                  </a:extLst>
                </a:gridCol>
                <a:gridCol w="416031">
                  <a:extLst>
                    <a:ext uri="{9D8B030D-6E8A-4147-A177-3AD203B41FA5}">
                      <a16:colId xmlns:a16="http://schemas.microsoft.com/office/drawing/2014/main" val="849961341"/>
                    </a:ext>
                  </a:extLst>
                </a:gridCol>
              </a:tblGrid>
              <a:tr h="235052">
                <a:tc gridSpan="21"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WORM SHAFT CRACK PART TRACEABILITY DETAIL</a:t>
                      </a:r>
                      <a:b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600" b="1" i="0" u="none" strike="noStrike">
                          <a:solidFill>
                            <a:srgbClr val="2F75B5"/>
                          </a:solidFill>
                          <a:effectLst/>
                          <a:latin typeface="Calibri" panose="020F0502020204030204" pitchFamily="34" charset="0"/>
                        </a:rPr>
                        <a:t>(SUSPECTED HEAT CODE-M215871)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5582872"/>
                  </a:ext>
                </a:extLst>
              </a:tr>
              <a:tr h="136227"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Mukund to Omega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OMEGA Process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 gridSpan="6"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DYNAMIC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 gridSpan="3"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JIN BAWAL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4" gridSpan="2"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7813698"/>
                  </a:ext>
                </a:extLst>
              </a:tr>
              <a:tr h="136227"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IMT Faridabad Plant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Sector 24 Plant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6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0284433"/>
                  </a:ext>
                </a:extLst>
              </a:tr>
              <a:tr h="37178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  <a:br>
                        <a:rPr lang="en-IN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Heat Treatment &amp; Peeling Date</a:t>
                      </a:r>
                      <a:br>
                        <a:rPr 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(HT)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  <a:br>
                        <a:rPr 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Peeling + HT Qty</a:t>
                      </a:r>
                      <a:br>
                        <a:rPr 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(KG)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  <a:br>
                        <a:rPr lang="en-IN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Scrap Qty</a:t>
                      </a:r>
                      <a:br>
                        <a:rPr lang="en-IN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(KG)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Pickling + Drawing + Grinding Date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Pickling + Drawing + Grinding Qty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  <a:br>
                        <a:rPr lang="en-IN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Scrap Qty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</a:t>
                      </a:r>
                      <a:br>
                        <a:rPr lang="en-IN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OK Qty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Remaining</a:t>
                      </a:r>
                      <a:br>
                        <a:rPr lang="en-IN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A-(B+C+D+E)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Received Date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Recd Qty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Dynamic Production Data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Dynamic Rej Data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Dynamic Despatch to JIN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Opening Qty for next month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JIN Receiving Month/Date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CEPS Despatch Date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C-EPS Despatch QTY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456063"/>
                  </a:ext>
                </a:extLst>
              </a:tr>
              <a:tr h="11919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2F75B5"/>
                          </a:solidFill>
                          <a:effectLst/>
                          <a:latin typeface="Calibri" panose="020F0502020204030204" pitchFamily="34" charset="0"/>
                        </a:rPr>
                        <a:t>In KG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1" i="0" u="none" strike="noStrike">
                          <a:solidFill>
                            <a:srgbClr val="2F75B5"/>
                          </a:solidFill>
                          <a:effectLst/>
                          <a:latin typeface="Calibri" panose="020F0502020204030204" pitchFamily="34" charset="0"/>
                        </a:rPr>
                        <a:t>In KG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1" i="0" u="none" strike="noStrike">
                          <a:solidFill>
                            <a:srgbClr val="2F75B5"/>
                          </a:solidFill>
                          <a:effectLst/>
                          <a:latin typeface="Calibri" panose="020F0502020204030204" pitchFamily="34" charset="0"/>
                        </a:rPr>
                        <a:t>In KG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1" i="0" u="none" strike="noStrike">
                          <a:solidFill>
                            <a:srgbClr val="2F75B5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1" i="0" u="none" strike="noStrike">
                          <a:solidFill>
                            <a:srgbClr val="2F75B5"/>
                          </a:solidFill>
                          <a:effectLst/>
                          <a:latin typeface="Calibri" panose="020F0502020204030204" pitchFamily="34" charset="0"/>
                        </a:rPr>
                        <a:t>In KG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1" i="0" u="none" strike="noStrike">
                          <a:solidFill>
                            <a:srgbClr val="2F75B5"/>
                          </a:solidFill>
                          <a:effectLst/>
                          <a:latin typeface="Calibri" panose="020F0502020204030204" pitchFamily="34" charset="0"/>
                        </a:rPr>
                        <a:t>In KG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1" i="0" u="none" strike="noStrike">
                          <a:solidFill>
                            <a:srgbClr val="2F75B5"/>
                          </a:solidFill>
                          <a:effectLst/>
                          <a:latin typeface="Calibri" panose="020F0502020204030204" pitchFamily="34" charset="0"/>
                        </a:rPr>
                        <a:t>In KG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1" i="0" u="none" strike="noStrike">
                          <a:solidFill>
                            <a:srgbClr val="2F75B5"/>
                          </a:solidFill>
                          <a:effectLst/>
                          <a:latin typeface="Calibri" panose="020F0502020204030204" pitchFamily="34" charset="0"/>
                        </a:rPr>
                        <a:t>In KG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2F75B5"/>
                          </a:solidFill>
                          <a:effectLst/>
                          <a:latin typeface="Calibri" panose="020F0502020204030204" pitchFamily="34" charset="0"/>
                        </a:rPr>
                        <a:t>In KG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In Nos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In Nos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In Nos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In Nos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In Nos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605138"/>
                  </a:ext>
                </a:extLst>
              </a:tr>
              <a:tr h="13197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Heat-M215871</a:t>
                      </a: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First Receiving</a:t>
                      </a:r>
                      <a:b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6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14.05.2026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12600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23.05.2026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25.05.2026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1674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28.05.26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31908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25700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6054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Jun'26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4" grid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0318899"/>
                  </a:ext>
                </a:extLst>
              </a:tr>
              <a:tr h="1319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26.05.2026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02.06.26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0896553"/>
                  </a:ext>
                </a:extLst>
              </a:tr>
              <a:tr h="1319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27.05.2026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27.05.2026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04.06.26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504420"/>
                  </a:ext>
                </a:extLst>
              </a:tr>
              <a:tr h="1319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29.05.2026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17.06.26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357415"/>
                  </a:ext>
                </a:extLst>
              </a:tr>
              <a:tr h="1319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30.05.2026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02.07.26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42811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45700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2998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Jul'26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6" grid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6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257290"/>
                  </a:ext>
                </a:extLst>
              </a:tr>
              <a:tr h="13197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20.06.2026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27.06.2026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29.06.2026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08.07.26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9722179"/>
                  </a:ext>
                </a:extLst>
              </a:tr>
              <a:tr h="1319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30.06.2026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1481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18.07.26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3962192"/>
                  </a:ext>
                </a:extLst>
              </a:tr>
              <a:tr h="13197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01.07.2026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08.07.2026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13.07.2026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28.07.26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9593895"/>
                  </a:ext>
                </a:extLst>
              </a:tr>
              <a:tr h="1319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14.07.2026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192093"/>
                  </a:ext>
                </a:extLst>
              </a:tr>
              <a:tr h="1319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15.07.2026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088048"/>
                  </a:ext>
                </a:extLst>
              </a:tr>
              <a:tr h="1319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16.07.2026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13.08.26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46464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46800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2473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Aug'26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5" grid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726232"/>
                  </a:ext>
                </a:extLst>
              </a:tr>
              <a:tr h="1319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17.07.2026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985575"/>
                  </a:ext>
                </a:extLst>
              </a:tr>
              <a:tr h="131970">
                <a:tc rowSpan="14"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31.07.2026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rowSpan="14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08.08.2026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2690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14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09.08.2026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18.08.26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134683"/>
                  </a:ext>
                </a:extLst>
              </a:tr>
              <a:tr h="1319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10.08.2026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9970954"/>
                  </a:ext>
                </a:extLst>
              </a:tr>
              <a:tr h="1319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11.08.2026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054973"/>
                  </a:ext>
                </a:extLst>
              </a:tr>
              <a:tr h="1319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17.08.2026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20.08.2026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11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27.08.26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8461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05.09.2026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9" gridSpan="2">
                  <a:txBody>
                    <a:bodyPr/>
                    <a:lstStyle/>
                    <a:p>
                      <a:pPr algn="l" fontAlgn="t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 From 05th to 08th of Sep, Suspected lot despach to customer.</a:t>
                      </a:r>
                      <a:b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b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Total dispatch to customer - 4800</a:t>
                      </a:r>
                      <a:b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(out of 5649 nos, 849 is with other heat material)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9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629293"/>
                  </a:ext>
                </a:extLst>
              </a:tr>
              <a:tr h="1319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06.09.2026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855778"/>
                  </a:ext>
                </a:extLst>
              </a:tr>
              <a:tr h="1319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07.09.2026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4049558"/>
                  </a:ext>
                </a:extLst>
              </a:tr>
              <a:tr h="1319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03-Sep-26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08.09.26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2890864"/>
                  </a:ext>
                </a:extLst>
              </a:tr>
              <a:tr h="1319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03-Sep-26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132960"/>
                  </a:ext>
                </a:extLst>
              </a:tr>
              <a:tr h="1319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21.08.2026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3853911"/>
                  </a:ext>
                </a:extLst>
              </a:tr>
              <a:tr h="1319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0709757"/>
                  </a:ext>
                </a:extLst>
              </a:tr>
              <a:tr h="1319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071497"/>
                  </a:ext>
                </a:extLst>
              </a:tr>
              <a:tr h="1319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411589"/>
                  </a:ext>
                </a:extLst>
              </a:tr>
              <a:tr h="1319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20.08.2026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22.08.2026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1656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01.09.26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Not Consumed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167391"/>
                  </a:ext>
                </a:extLst>
              </a:tr>
              <a:tr h="1319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24.08.2026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765586"/>
                  </a:ext>
                </a:extLst>
              </a:tr>
              <a:tr h="13197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30990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27710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27710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25494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23750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129644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128100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9281300"/>
                  </a:ext>
                </a:extLst>
              </a:tr>
              <a:tr h="13197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Pending at Dynamic-FG Qty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1005 Nos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Till 08th of Sep'26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8046526"/>
                  </a:ext>
                </a:extLst>
              </a:tr>
              <a:tr h="131970"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Pending Material at RM Stage(Dynamic)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1250 KG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589720"/>
                  </a:ext>
                </a:extLst>
              </a:tr>
              <a:tr h="238397"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Pending at Omega End</a:t>
                      </a:r>
                      <a:b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(Ok Qty at Omega-Total Received at Dynamic)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1744 KG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921908"/>
                  </a:ext>
                </a:extLst>
              </a:tr>
              <a:tr h="131970"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Receiving of Last Suspected lot at Omega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31.07.26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6389"/>
                  </a:ext>
                </a:extLst>
              </a:tr>
              <a:tr h="131970"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Received at Dynamic End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27.08.26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5890305"/>
                  </a:ext>
                </a:extLst>
              </a:tr>
              <a:tr h="131970"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Received at JTEKT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03.09.26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89510"/>
                  </a:ext>
                </a:extLst>
              </a:tr>
              <a:tr h="156701"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Dispatch to Customer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05.09.26 to 08.09.26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301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824958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デザインの設定">
  <a:themeElements>
    <a:clrScheme name="デザインの設定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デザインの設定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ＭＳ Ｐゴシック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ＭＳ Ｐゴシック" charset="-128"/>
          </a:defRPr>
        </a:defPPr>
      </a:lstStyle>
    </a:lnDef>
  </a:objectDefaults>
  <a:extraClrSchemeLst>
    <a:extraClrScheme>
      <a:clrScheme name="デザインの設定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デザインの設定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デザインの設定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デザインの設定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デザインの設定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デザインの設定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デザインの設定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デザインの設定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デザインの設定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デザインの設定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デザインの設定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デザインの設定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04C2864F32D34AA287E6AA3A74BE1E" ma:contentTypeVersion="14" ma:contentTypeDescription="Create a new document." ma:contentTypeScope="" ma:versionID="028f174c3db0ff17a777730a0b8a050c">
  <xsd:schema xmlns:xsd="http://www.w3.org/2001/XMLSchema" xmlns:xs="http://www.w3.org/2001/XMLSchema" xmlns:p="http://schemas.microsoft.com/office/2006/metadata/properties" xmlns:ns2="222d4c9f-2ad3-44d8-aabe-cbf7c92d8a6d" xmlns:ns3="5adbe747-f6ba-4d59-b30d-a01b4116b679" targetNamespace="http://schemas.microsoft.com/office/2006/metadata/properties" ma:root="true" ma:fieldsID="b45ed221abf5de41e3a2021bb6a8506e" ns2:_="" ns3:_="">
    <xsd:import namespace="222d4c9f-2ad3-44d8-aabe-cbf7c92d8a6d"/>
    <xsd:import namespace="5adbe747-f6ba-4d59-b30d-a01b4116b679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2d4c9f-2ad3-44d8-aabe-cbf7c92d8a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c2d26e27-fe00-4a58-a1f9-f4e74d24b8f6}" ma:internalName="TaxCatchAll" ma:showField="CatchAllData" ma:web="222d4c9f-2ad3-44d8-aabe-cbf7c92d8a6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dbe747-f6ba-4d59-b30d-a01b4116b6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1d4abbc-d4c4-4ebc-96fc-57a79b8499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adbe747-f6ba-4d59-b30d-a01b4116b679">
      <Terms xmlns="http://schemas.microsoft.com/office/infopath/2007/PartnerControls"/>
    </lcf76f155ced4ddcb4097134ff3c332f>
    <TaxCatchAll xmlns="222d4c9f-2ad3-44d8-aabe-cbf7c92d8a6d" xsi:nil="true"/>
  </documentManagement>
</p:properties>
</file>

<file path=customXml/itemProps1.xml><?xml version="1.0" encoding="utf-8"?>
<ds:datastoreItem xmlns:ds="http://schemas.openxmlformats.org/officeDocument/2006/customXml" ds:itemID="{5CBB636D-F13E-47F2-9A4C-FC2B3C4C5FD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C5E6C21-5462-4FBA-BF60-16A26B7A48A6}"/>
</file>

<file path=customXml/itemProps3.xml><?xml version="1.0" encoding="utf-8"?>
<ds:datastoreItem xmlns:ds="http://schemas.openxmlformats.org/officeDocument/2006/customXml" ds:itemID="{8EACA5CC-29F5-442B-A406-DF53029F78C2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www.w3.org/XML/1998/namespace"/>
    <ds:schemaRef ds:uri="http://purl.org/dc/terms/"/>
    <ds:schemaRef ds:uri="http://purl.org/dc/dcmitype/"/>
    <ds:schemaRef ds:uri="http://schemas.openxmlformats.org/package/2006/metadata/core-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128883</TotalTime>
  <Words>2164</Words>
  <Application>Microsoft Office PowerPoint</Application>
  <PresentationFormat>On-screen Show (4:3)</PresentationFormat>
  <Paragraphs>744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ＭＳ Ｐゴシック</vt:lpstr>
      <vt:lpstr>ＭＳ Ｐゴシック</vt:lpstr>
      <vt:lpstr>ＭＳ Ｐ明朝</vt:lpstr>
      <vt:lpstr>Arial</vt:lpstr>
      <vt:lpstr>Arial Narrow</vt:lpstr>
      <vt:lpstr>Calibri</vt:lpstr>
      <vt:lpstr>Calibri Light</vt:lpstr>
      <vt:lpstr>HY견고딕</vt:lpstr>
      <vt:lpstr>Times New Roman</vt:lpstr>
      <vt:lpstr>Wingdings</vt:lpstr>
      <vt:lpstr>Custom Design</vt:lpstr>
      <vt:lpstr>1_デザインの設定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株式会社ジェイテクト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PPTマスタ（統合ロゴ入り）</dc:title>
  <dc:creator>広報部</dc:creator>
  <cp:lastModifiedBy>Avishek Singh</cp:lastModifiedBy>
  <cp:revision>9947</cp:revision>
  <cp:lastPrinted>2009-05-12T04:23:46Z</cp:lastPrinted>
  <dcterms:created xsi:type="dcterms:W3CDTF">2005-01-07T08:52:57Z</dcterms:created>
  <dcterms:modified xsi:type="dcterms:W3CDTF">2026-09-25T11:25:53Z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0008003629000000000001023560</vt:lpwstr>
  </property>
  <property fmtid="{D5CDD505-2E9C-101B-9397-08002B2CF9AE}" pid="3" name="ContentTypeId">
    <vt:lpwstr>0x010100A704C2864F32D34AA287E6AA3A74BE1E</vt:lpwstr>
  </property>
</Properties>
</file>